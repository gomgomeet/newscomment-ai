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연수의 전체 목적을 제시합니다. 오늘은 도구를 새로 만드는 시간이 아니라, 바로 수업에 쓰는 Notion 수업 패키지를 이해하고 운영하는 시간임을 먼저 잡아 줍니다.</a:t>
            </a:r>
          </a:p>
          <a:p/>
          <a:p>
            <a:r>
              <a:t>[Sources]</a:t>
            </a:r>
          </a:p>
          <a:p>
            <a:r>
              <a:t>사용자 제공 연수 설계 대화와 Notion 교재 페이지 흐름을 바탕으로 구성.</a:t>
            </a:r>
          </a:p>
          <a:p>
            <a:r>
              <a:t>Notion 교재: https://judicious-ursinia-2c0.notion.site/NIE-3c3c5f01a4a481feadb1d550dbedc406</a:t>
            </a:r>
          </a:p>
          <a:p>
            <a:r>
              <a:t>수업 템플릿: https://app.notion.com/p/3c3c5f01a4a48081b6b6f85bef8bc863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도입부에서 목적의식을 분명히 잡습니다. '쉬운 적용'이 목표라면 완성된 도구가 더 쉽고, 교사가 자유롭게 수업과 평가를 설계하려면 목적의식이 먼저 필요하다는 메시지를 연결합니다.</a:t>
            </a:r>
          </a:p>
          <a:p/>
          <a:p>
            <a:r>
              <a:t>[Sources]</a:t>
            </a:r>
          </a:p>
          <a:p>
            <a:r>
              <a:t>사용자 제공 연수 설계 대화와 Notion 교재 페이지 흐름을 바탕으로 구성.</a:t>
            </a:r>
          </a:p>
          <a:p>
            <a:r>
              <a:t>Notion 교재: https://judicious-ursinia-2c0.notion.site/NIE-3c3c5f01a4a481feadb1d550dbedc406</a:t>
            </a:r>
          </a:p>
          <a:p>
            <a:r>
              <a:t>수업 템플릿: https://app.notion.com/p/3c3c5f01a4a48081b6b6f85bef8bc863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3시간을 세 덩어리로 보여 줍니다. 시간 배분은 현장 상황에 맞게 조정하되, 2차시 세팅에서 너무 오래 머물면 3차시 평가 실습이 밀리므로 진행자가 기준을 잡아야 합니다.</a:t>
            </a:r>
          </a:p>
          <a:p/>
          <a:p>
            <a:r>
              <a:t>[Sources]</a:t>
            </a:r>
          </a:p>
          <a:p>
            <a:r>
              <a:t>사용자 제공 연수 설계 대화와 Notion 교재 페이지 흐름을 바탕으로 구성.</a:t>
            </a:r>
          </a:p>
          <a:p>
            <a:r>
              <a:t>Notion 교재: https://judicious-ursinia-2c0.notion.site/NIE-3c3c5f01a4a481feadb1d550dbedc406</a:t>
            </a:r>
          </a:p>
          <a:p>
            <a:r>
              <a:t>수업 템플릿: https://app.notion.com/p/3c3c5f01a4a48081b6b6f85bef8bc863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NIE를 '기사 읽기 활동'에 머물게 하지 않고 형성평가로 연결합니다. 댓글은 짧아도 학생이 무엇을 이해했고 어떤 생각을 연결했는지 확인하는 증거가 됩니다.</a:t>
            </a:r>
          </a:p>
          <a:p/>
          <a:p>
            <a:r>
              <a:t>[Sources]</a:t>
            </a:r>
          </a:p>
          <a:p>
            <a:r>
              <a:t>사용자 제공 연수 설계 대화와 Notion 교재 페이지 흐름을 바탕으로 구성.</a:t>
            </a:r>
          </a:p>
          <a:p>
            <a:r>
              <a:t>Notion 교재: https://judicious-ursinia-2c0.notion.site/NIE-3c3c5f01a4a481feadb1d550dbedc406</a:t>
            </a:r>
          </a:p>
          <a:p>
            <a:r>
              <a:t>수업 템플릿: https://app.notion.com/p/3c3c5f01a4a48081b6b6f85bef8bc863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사례 1은 연수생이 NIE 수업의 흐름을 눈으로 보는 구간입니다. 댓글을 수집하는 데서 끝내지 않고, 학생 참여도와 이해 정도를 어떻게 읽을지 묻습니다.</a:t>
            </a:r>
          </a:p>
          <a:p/>
          <a:p>
            <a:r>
              <a:t>[Sources]</a:t>
            </a:r>
          </a:p>
          <a:p>
            <a:r>
              <a:t>사례 1: https://mighty-sled-cee.notion.site/26f503723d3280d4a93aeef5ded85b4e</a:t>
            </a:r>
          </a:p>
          <a:p>
            <a:r>
              <a:t>사용자 제공 연수 설계 대화와 Notion 교재 페이지 흐름을 바탕으로 구성.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성취기준 코드를 많이 보여 주기보다 수업 장면과 평가 증거를 연결합니다. 연수생은 댓글 하나가 어떤 배움을 보여 주는지 읽는 연습을 하게 됩니다.</a:t>
            </a:r>
          </a:p>
          <a:p/>
          <a:p>
            <a:r>
              <a:t>[Sources]</a:t>
            </a:r>
          </a:p>
          <a:p>
            <a:r>
              <a:t>사용자 제공 연수 설계 대화와 Notion 교재 페이지 흐름을 바탕으로 구성.</a:t>
            </a:r>
          </a:p>
          <a:p>
            <a:r>
              <a:t>Notion 교재: https://judicious-ursinia-2c0.notion.site/NIE-3c3c5f01a4a481feadb1d550dbedc406</a:t>
            </a:r>
          </a:p>
          <a:p>
            <a:r>
              <a:t>수업 템플릿: https://app.notion.com/p/3c3c5f01a4a48081b6b6f85bef8bc863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2차시는 참가자가 가장 많이 손을 움직이는 시간입니다. 모든 것을 만들게 하기보다 가입, 기사, 루브릭, 폼이라는 운영 단위를 차례로 확인하게 합니다.</a:t>
            </a:r>
          </a:p>
          <a:p/>
          <a:p>
            <a:r>
              <a:t>[Sources]</a:t>
            </a:r>
          </a:p>
          <a:p>
            <a:r>
              <a:t>사용자 제공 연수 설계 대화와 Notion 교재 페이지 흐름을 바탕으로 구성.</a:t>
            </a:r>
          </a:p>
          <a:p>
            <a:r>
              <a:t>Notion 교재: https://judicious-ursinia-2c0.notion.site/NIE-3c3c5f01a4a481feadb1d550dbedc406</a:t>
            </a:r>
          </a:p>
          <a:p>
            <a:r>
              <a:t>수업 템플릿: https://app.notion.com/p/3c3c5f01a4a48081b6b6f85bef8bc863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드롭다운 관계를 강조합니다. 학생과 기사 정보를 텍스트로 입력하면 오타가 나고 집계가 무너집니다. 관계 속성이 이 패키지의 핵심입니다.</a:t>
            </a:r>
          </a:p>
          <a:p/>
          <a:p>
            <a:r>
              <a:t>[Sources]</a:t>
            </a:r>
          </a:p>
          <a:p>
            <a:r>
              <a:t>사용자 제공 연수 설계 대화와 Notion 교재 페이지 흐름을 바탕으로 구성.</a:t>
            </a:r>
          </a:p>
          <a:p>
            <a:r>
              <a:t>Notion 교재: https://judicious-ursinia-2c0.notion.site/NIE-3c3c5f01a4a481feadb1d550dbedc406</a:t>
            </a:r>
          </a:p>
          <a:p>
            <a:r>
              <a:t>수업 템플릿: https://app.notion.com/p/3c3c5f01a4a48081b6b6f85bef8bc863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척도는 0~5로 통일합니다. 점수는 세 영역으로 나누되 총점은 수식으로 계산되게 합니다. 교사는 AI 점수를 참고하되 최종 판단자는 교사라는 메시지를 반복합니다.</a:t>
            </a:r>
          </a:p>
          <a:p/>
          <a:p>
            <a:r>
              <a:t>[Sources]</a:t>
            </a:r>
          </a:p>
          <a:p>
            <a:r>
              <a:t>사용자 제공 연수 설계 대화와 Notion 교재 페이지 흐름을 바탕으로 구성.</a:t>
            </a:r>
          </a:p>
          <a:p>
            <a:r>
              <a:t>Notion 교재: https://judicious-ursinia-2c0.notion.site/NIE-3c3c5f01a4a481feadb1d550dbedc406</a:t>
            </a:r>
          </a:p>
          <a:p>
            <a:r>
              <a:t>수업 템플릿: https://app.notion.com/p/3c3c5f01a4a48081b6b6f85bef8bc863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실제 운영 실수 방지용입니다. 같은 워크스페이스의 Notion 링크가 내부 app.notion.com 주소처럼 바뀌면 학생 접근이 막힐 수 있어, 폼은 링크보다 임베드로 안내합니다.</a:t>
            </a:r>
          </a:p>
          <a:p/>
          <a:p>
            <a:r>
              <a:t>[Sources]</a:t>
            </a:r>
          </a:p>
          <a:p>
            <a:r>
              <a:t>사용자 제공 연수 설계 대화와 Notion 교재 페이지 흐름을 바탕으로 구성.</a:t>
            </a:r>
          </a:p>
          <a:p>
            <a:r>
              <a:t>Notion 교재: https://judicious-ursinia-2c0.notion.site/NIE-3c3c5f01a4a481feadb1d550dbedc406</a:t>
            </a:r>
          </a:p>
          <a:p>
            <a:r>
              <a:t>수업 템플릿: https://app.notion.com/p/3c3c5f01a4a48081b6b6f85bef8bc863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3차시는 학생 제출 자료가 이미 모였다는 전제로 진행합니다. 미제출, 참여도, 댓글 내용, 글쓰기 평가가 서로 다른 질문임을 분리해서 보게 합니다.</a:t>
            </a:r>
          </a:p>
          <a:p/>
          <a:p>
            <a:r>
              <a:t>[Sources]</a:t>
            </a:r>
          </a:p>
          <a:p>
            <a:r>
              <a:t>사용자 제공 연수 설계 대화와 Notion 교재 페이지 흐름을 바탕으로 구성.</a:t>
            </a:r>
          </a:p>
          <a:p>
            <a:r>
              <a:t>Notion 교재: https://judicious-ursinia-2c0.notion.site/NIE-3c3c5f01a4a481feadb1d550dbedc406</a:t>
            </a:r>
          </a:p>
          <a:p>
            <a:r>
              <a:t>수업 템플릿: https://app.notion.com/p/3c3c5f01a4a48081b6b6f85bef8bc863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세특 실습은 개인정보와 학교 지침을 전제로 안내합니다. 실제 학생 데이터를 외부 AI에 넣는 것이 아니라, 익명화된 샘플로 초안 작성 흐름을 연습하게 합니다.</a:t>
            </a:r>
          </a:p>
          <a:p/>
          <a:p>
            <a:r>
              <a:t>[Sources]</a:t>
            </a:r>
          </a:p>
          <a:p>
            <a:r>
              <a:t>사용자 제공 연수 설계 대화와 Notion 교재 페이지 흐름을 바탕으로 구성.</a:t>
            </a:r>
          </a:p>
          <a:p>
            <a:r>
              <a:t>Notion 교재: https://judicious-ursinia-2c0.notion.site/NIE-3c3c5f01a4a481feadb1d550dbedc406</a:t>
            </a:r>
          </a:p>
          <a:p>
            <a:r>
              <a:t>수업 템플릿: https://app.notion.com/p/3c3c5f01a4a48081b6b6f85bef8bc863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마무리에서는 연수 후 바로 할 수 있는 행동을 남깁니다. Supabase와 Vercel을 다루는 B안은 이번 운영 연수에서 섞지 않고 별도 연수 자료로 분리한다는 결정을 재확인합니다.</a:t>
            </a:r>
          </a:p>
          <a:p/>
          <a:p>
            <a:r>
              <a:t>[Sources]</a:t>
            </a:r>
          </a:p>
          <a:p>
            <a:r>
              <a:t>사용자 제공 연수 설계 대화와 Notion 교재 페이지 흐름을 바탕으로 구성.</a:t>
            </a:r>
          </a:p>
          <a:p>
            <a:r>
              <a:t>Notion 교재: https://judicious-ursinia-2c0.notion.site/NIE-3c3c5f01a4a481feadb1d550dbedc406</a:t>
            </a:r>
          </a:p>
          <a:p>
            <a:r>
              <a:t>수업 템플릿: https://app.notion.com/p/3c3c5f01a4a48081b6b6f85bef8bc863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66750" y="895350"/>
            <a:ext cx="6667500" cy="12382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4800" b="1">
                <a:solidFill>
                  <a:srgbClr val="111827"/>
                </a:solidFill>
                <a:latin typeface="Malgun Gothic"/>
              </a:rPr>
              <a:t>NIE 댓글 형성평가</a:t>
            </a:r>
          </a:p>
          <a:p>
            <a:pPr algn="l"/>
            <a:r>
              <a:rPr sz="4800" b="1">
                <a:solidFill>
                  <a:srgbClr val="111827"/>
                </a:solidFill>
                <a:latin typeface="Malgun Gothic"/>
              </a:rPr>
              <a:t>운영 연수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2590800"/>
            <a:ext cx="7239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0F766E"/>
                </a:solidFill>
                <a:latin typeface="Malgun Gothic"/>
              </a:rPr>
              <a:t>신문기사 읽기에서 학생 맞춤형 평가 기록까지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29550" y="876300"/>
            <a:ext cx="3333750" cy="4476750"/>
          </a:xfrm>
          <a:prstGeom prst="roundRect">
            <a:avLst/>
          </a:prstGeom>
          <a:noFill/>
          <a:ln w="9525">
            <a:solidFill>
              <a:srgbClr val="BB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172450" y="1238250"/>
            <a:ext cx="2667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Malgun Gothic"/>
              </a:rPr>
              <a:t>3시간</a:t>
            </a:r>
          </a:p>
          <a:p>
            <a:pPr algn="ctr"/>
            <a:r>
              <a:rPr sz="3600" b="1">
                <a:solidFill>
                  <a:srgbClr val="111827"/>
                </a:solidFill>
                <a:latin typeface="Malgun Gothic"/>
              </a:rPr>
              <a:t>운영본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7200" y="2400300"/>
            <a:ext cx="2952750" cy="1809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334155"/>
                </a:solidFill>
                <a:latin typeface="Malgun Gothic"/>
              </a:rPr>
              <a:t>1차시  NIE와 사례</a:t>
            </a:r>
          </a:p>
          <a:p>
            <a:pPr algn="l"/>
            <a:r>
              <a:rPr sz="1800" b="1">
                <a:solidFill>
                  <a:srgbClr val="334155"/>
                </a:solidFill>
                <a:latin typeface="Malgun Gothic"/>
              </a:rPr>
              <a:t>2차시  Notion 세팅</a:t>
            </a:r>
          </a:p>
          <a:p>
            <a:pPr algn="l"/>
            <a:r>
              <a:rPr sz="1800" b="1">
                <a:solidFill>
                  <a:srgbClr val="334155"/>
                </a:solidFill>
                <a:latin typeface="Malgun Gothic"/>
              </a:rPr>
              <a:t>3차시  평가 DB와 세특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5867400"/>
            <a:ext cx="4953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600">
                <a:solidFill>
                  <a:srgbClr val="64748B"/>
                </a:solidFill>
                <a:latin typeface="Malgun Gothic"/>
              </a:rPr>
              <a:t>Notion + Auth 중심 A안 / Supabase·Vercel B안은 분리 기록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3048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</a:rPr>
              <a:t>연수 관점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" y="685800"/>
            <a:ext cx="1019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800" b="1">
                <a:solidFill>
                  <a:srgbClr val="111827"/>
                </a:solidFill>
                <a:latin typeface="Malgun Gothic"/>
              </a:rPr>
              <a:t>도구보다 먼저 정할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590550" y="1504950"/>
            <a:ext cx="11010900" cy="19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85800" y="1924050"/>
            <a:ext cx="99060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Malgun Gothic"/>
              </a:rPr>
              <a:t>생성형 AI와 에듀테크의 힘은 '무엇을 하려는가'가 선명할 때 커집니다.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900" y="2743200"/>
            <a:ext cx="3238500" cy="2476500"/>
          </a:xfrm>
          <a:prstGeom prst="roundRect">
            <a:avLst/>
          </a:prstGeom>
          <a:noFill/>
          <a:ln w="9525">
            <a:solidFill>
              <a:srgbClr val="BB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90600" y="3067050"/>
            <a:ext cx="2667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0F766E"/>
                </a:solidFill>
                <a:latin typeface="Malgun Gothic"/>
              </a:rP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638550"/>
            <a:ext cx="2571750" cy="1066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어떤 수업을 바꿀 것인가</a:t>
            </a:r>
          </a:p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어떤 평가를 남길 것인가</a:t>
            </a:r>
          </a:p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어떤 업무를 줄일 것인가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6750" y="2743200"/>
            <a:ext cx="3238500" cy="2476500"/>
          </a:xfrm>
          <a:prstGeom prst="roundRect">
            <a:avLst/>
          </a:prstGeom>
          <a:noFill/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743450" y="3067050"/>
            <a:ext cx="2667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D97706"/>
                </a:solidFill>
                <a:latin typeface="Malgun Gothic"/>
              </a:rPr>
              <a:t>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3450" y="3638550"/>
            <a:ext cx="2571750" cy="1066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시간과 에너지가 듭니다</a:t>
            </a:r>
          </a:p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토큰과 계정 관리가 필요합니다</a:t>
            </a:r>
          </a:p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완성보다 운영이 어렵습니다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43200"/>
            <a:ext cx="3238500" cy="2476500"/>
          </a:xfrm>
          <a:prstGeom prst="roundRect">
            <a:avLst/>
          </a:prstGeom>
          <a:noFill/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96300" y="3067050"/>
            <a:ext cx="2667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2563EB"/>
                </a:solidFill>
                <a:latin typeface="Malgun Gothic"/>
              </a:rPr>
              <a:t>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6300" y="3638550"/>
            <a:ext cx="2571750" cy="1066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처음에는 완성된 패키지</a:t>
            </a:r>
          </a:p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나중에 자기 수업에 맞게 수정</a:t>
            </a:r>
          </a:p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바이브 코딩은 별도 연수로 분리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0" y="634365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Malgun Gothic"/>
              </a:rPr>
              <a:t>NIE 댓글 형성평가 운영 연수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3048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</a:rPr>
              <a:t>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" y="685800"/>
            <a:ext cx="1019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800" b="1">
                <a:solidFill>
                  <a:srgbClr val="111827"/>
                </a:solidFill>
                <a:latin typeface="Malgun Gothic"/>
              </a:rPr>
              <a:t>3시간 운영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0550" y="1504950"/>
            <a:ext cx="11010900" cy="19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838200" y="2095500"/>
            <a:ext cx="1123950" cy="819150"/>
          </a:xfrm>
          <a:prstGeom prst="roundRect">
            <a:avLst/>
          </a:prstGeom>
          <a:noFill/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71550" y="2305050"/>
            <a:ext cx="857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algun Gothic"/>
              </a:rPr>
              <a:t>1차시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0750" y="2114550"/>
            <a:ext cx="7334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algun Gothic"/>
              </a:rPr>
              <a:t>NIE와 수업 패키지 이해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2495550"/>
            <a:ext cx="79057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목적의식, 한계, 성취기준, 사례 1·2를 보며 수업 방향을 잡습니다.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3333750"/>
            <a:ext cx="1123950" cy="819150"/>
          </a:xfrm>
          <a:prstGeom prst="roundRect">
            <a:avLst/>
          </a:prstGeom>
          <a:noFill/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71550" y="3543300"/>
            <a:ext cx="857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algun Gothic"/>
              </a:rPr>
              <a:t>2차시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52800"/>
            <a:ext cx="7334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algun Gothic"/>
              </a:rPr>
              <a:t>수업의 실제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0750" y="3733800"/>
            <a:ext cx="8382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학생 계정, 기사 가져오기, 루브릭 설정, Notion 폼과 DB 관리를 실습합니다.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200" y="4572000"/>
            <a:ext cx="1123950" cy="819150"/>
          </a:xfrm>
          <a:prstGeom prst="roundRect">
            <a:avLst/>
          </a:prstGeom>
          <a:noFill/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71550" y="4781550"/>
            <a:ext cx="857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algun Gothic"/>
              </a:rPr>
              <a:t>3차시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591050"/>
            <a:ext cx="7334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algun Gothic"/>
              </a:rPr>
              <a:t>평가 DB와 세특 프롬프트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0750" y="4972050"/>
            <a:ext cx="8382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미제출, 참여도, 글쓰기 평가를 확인하고 세특 초안 프롬프트를 만듭니다.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0" y="634365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Malgun Gothic"/>
              </a:rPr>
              <a:t>NIE 댓글 형성평가 운영 연수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3048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</a:rPr>
              <a:t>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" y="685800"/>
            <a:ext cx="1019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800" b="1">
                <a:solidFill>
                  <a:srgbClr val="111827"/>
                </a:solidFill>
                <a:latin typeface="Malgun Gothic"/>
              </a:rPr>
              <a:t>NIE를 형성평가로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0550" y="1504950"/>
            <a:ext cx="11010900" cy="19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42950" y="2038350"/>
            <a:ext cx="4953000" cy="2381250"/>
          </a:xfrm>
          <a:prstGeom prst="round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28700" y="2343150"/>
            <a:ext cx="43815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신문기사는</a:t>
            </a:r>
          </a:p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읽기 자료이면서</a:t>
            </a:r>
          </a:p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평가 증거입니다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3771900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900">
                <a:solidFill>
                  <a:srgbClr val="64748B"/>
                </a:solidFill>
                <a:latin typeface="Malgun Gothic"/>
              </a:rPr>
              <a:t>댓글은 학생 사고의 짧은 흔적입니다.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2114550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0F766E"/>
                </a:solidFill>
                <a:latin typeface="Malgun Gothic"/>
              </a:rPr>
              <a:t>학생이 남기는 증거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2838450"/>
            <a:ext cx="4095750" cy="1466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200">
                <a:solidFill>
                  <a:srgbClr val="334155"/>
                </a:solidFill>
                <a:latin typeface="Malgun Gothic"/>
              </a:rPr>
              <a:t>• 기사의 핵심을 이해했는가</a:t>
            </a:r>
          </a:p>
          <a:p>
            <a:pPr algn="l"/>
            <a:r>
              <a:rPr sz="2200">
                <a:solidFill>
                  <a:srgbClr val="334155"/>
                </a:solidFill>
                <a:latin typeface="Malgun Gothic"/>
              </a:rPr>
              <a:t>• 사실과 의견을 구분했는가</a:t>
            </a:r>
          </a:p>
          <a:p>
            <a:pPr algn="l"/>
            <a:r>
              <a:rPr sz="2200">
                <a:solidFill>
                  <a:srgbClr val="334155"/>
                </a:solidFill>
                <a:latin typeface="Malgun Gothic"/>
              </a:rPr>
              <a:t>• 자기 생각을 근거와 연결했는가</a:t>
            </a:r>
          </a:p>
          <a:p>
            <a:pPr algn="l"/>
            <a:r>
              <a:rPr sz="2200">
                <a:solidFill>
                  <a:srgbClr val="334155"/>
                </a:solidFill>
                <a:latin typeface="Malgun Gothic"/>
              </a:rPr>
              <a:t>• 예절 있는 표현으로 썼는가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4933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100" b="1">
                <a:solidFill>
                  <a:srgbClr val="111827"/>
                </a:solidFill>
                <a:latin typeface="Malgun Gothic"/>
              </a:rPr>
              <a:t>평가는 댓글을 읽으며 증거를 찾는 과정입니다.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0" y="634365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Malgun Gothic"/>
              </a:rPr>
              <a:t>NIE 댓글 형성평가 운영 연수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3048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</a:rPr>
              <a:t>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" y="685800"/>
            <a:ext cx="1019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800" b="1">
                <a:solidFill>
                  <a:srgbClr val="111827"/>
                </a:solidFill>
                <a:latin typeface="Malgun Gothic"/>
              </a:rPr>
              <a:t>사례 1: 민주주의 참여 기사</a:t>
            </a:r>
          </a:p>
        </p:txBody>
      </p:sp>
      <p:sp>
        <p:nvSpPr>
          <p:cNvPr id="4" name="Rectangle 3"/>
          <p:cNvSpPr/>
          <p:nvPr/>
        </p:nvSpPr>
        <p:spPr>
          <a:xfrm>
            <a:off x="590550" y="1504950"/>
            <a:ext cx="11010900" cy="19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23900" y="1981200"/>
            <a:ext cx="94297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11827"/>
                </a:solidFill>
                <a:latin typeface="Malgun Gothic"/>
              </a:rPr>
              <a:t>민주주의 참여도 기사를 읽고, 학생 댓글에서 생각의 방향을 찾습니다.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9150" y="2857500"/>
            <a:ext cx="4762500" cy="2095500"/>
          </a:xfrm>
          <a:prstGeom prst="roundRect">
            <a:avLst/>
          </a:prstGeom>
          <a:noFill/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23950" y="3162300"/>
            <a:ext cx="40005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2563EB"/>
                </a:solidFill>
                <a:latin typeface="Malgun Gothic"/>
              </a:rPr>
              <a:t>학생이 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3714750"/>
            <a:ext cx="40005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200">
                <a:solidFill>
                  <a:srgbClr val="334155"/>
                </a:solidFill>
                <a:latin typeface="Malgun Gothic"/>
              </a:rPr>
              <a:t>기사 읽기</a:t>
            </a:r>
          </a:p>
          <a:p>
            <a:pPr algn="l"/>
            <a:r>
              <a:rPr sz="2200">
                <a:solidFill>
                  <a:srgbClr val="334155"/>
                </a:solidFill>
                <a:latin typeface="Malgun Gothic"/>
              </a:rPr>
              <a:t>핵심 질문 확인</a:t>
            </a:r>
          </a:p>
          <a:p>
            <a:pPr algn="l"/>
            <a:r>
              <a:rPr sz="2200">
                <a:solidFill>
                  <a:srgbClr val="334155"/>
                </a:solidFill>
                <a:latin typeface="Malgun Gothic"/>
              </a:rPr>
              <a:t>내 생각을 댓글로 제출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10350" y="2857500"/>
            <a:ext cx="4762500" cy="2095500"/>
          </a:xfrm>
          <a:prstGeom prst="roundRect">
            <a:avLst/>
          </a:prstGeom>
          <a:noFill/>
          <a:ln w="9525">
            <a:solidFill>
              <a:srgbClr val="BB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915150" y="3162300"/>
            <a:ext cx="40005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0F766E"/>
                </a:solidFill>
                <a:latin typeface="Malgun Gothic"/>
              </a:rPr>
              <a:t>교사가 보는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5150" y="3714750"/>
            <a:ext cx="40005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200">
                <a:solidFill>
                  <a:srgbClr val="334155"/>
                </a:solidFill>
                <a:latin typeface="Malgun Gothic"/>
              </a:rPr>
              <a:t>댓글 수 확인</a:t>
            </a:r>
          </a:p>
          <a:p>
            <a:pPr algn="l"/>
            <a:r>
              <a:rPr sz="2200">
                <a:solidFill>
                  <a:srgbClr val="334155"/>
                </a:solidFill>
                <a:latin typeface="Malgun Gothic"/>
              </a:rPr>
              <a:t>근거 있는 표현 찾기</a:t>
            </a:r>
          </a:p>
          <a:p>
            <a:pPr algn="l"/>
            <a:r>
              <a:rPr sz="2200">
                <a:solidFill>
                  <a:srgbClr val="334155"/>
                </a:solidFill>
                <a:latin typeface="Malgun Gothic"/>
              </a:rPr>
              <a:t>다음 질문으로 이어가기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5619750"/>
            <a:ext cx="9620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100" b="1">
                <a:solidFill>
                  <a:srgbClr val="111827"/>
                </a:solidFill>
                <a:latin typeface="Malgun Gothic"/>
              </a:rPr>
              <a:t>좋은 댓글과 아쉬운 댓글을 나란히 보며 평가 기준을 함께 세웁니다.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0" y="634365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Malgun Gothic"/>
              </a:rPr>
              <a:t>NIE 댓글 형성평가 운영 연수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3048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</a:rPr>
              <a:t>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" y="685800"/>
            <a:ext cx="1019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800" b="1">
                <a:solidFill>
                  <a:srgbClr val="111827"/>
                </a:solidFill>
                <a:latin typeface="Malgun Gothic"/>
              </a:rPr>
              <a:t>성취기준은 댓글 속 증거로 번역하기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0550" y="1504950"/>
            <a:ext cx="11010900" cy="19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742950" y="2038350"/>
            <a:ext cx="10668000" cy="552450"/>
          </a:xfrm>
          <a:prstGeom prst="rect">
            <a:avLst/>
          </a:prstGeom>
          <a:noFill/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33450" y="2190750"/>
            <a:ext cx="2381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수업 장면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0" y="21907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관련 배움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7150" y="21907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댓글 속 증거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2950" y="2590800"/>
            <a:ext cx="10668000" cy="83820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33450" y="2800350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Malgun Gothic"/>
              </a:rPr>
              <a:t>기사 핵심 읽기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500" y="2781300"/>
            <a:ext cx="29527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800">
                <a:solidFill>
                  <a:srgbClr val="334155"/>
                </a:solidFill>
                <a:latin typeface="Malgun Gothic"/>
              </a:rPr>
              <a:t>정보를 정확히 파악하고 사실과 의견을 구분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81300"/>
            <a:ext cx="3238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800">
                <a:solidFill>
                  <a:srgbClr val="334155"/>
                </a:solidFill>
                <a:latin typeface="Malgun Gothic"/>
              </a:rPr>
              <a:t>기사의 핵심 내용을 자기 말로 언급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2950" y="3429000"/>
            <a:ext cx="10668000" cy="83820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33450" y="3638550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Malgun Gothic"/>
              </a:rPr>
              <a:t>사회 문제와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500" y="3619500"/>
            <a:ext cx="29527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800">
                <a:solidFill>
                  <a:srgbClr val="334155"/>
                </a:solidFill>
                <a:latin typeface="Malgun Gothic"/>
              </a:rPr>
              <a:t>기사 내용을 생활, 공동체, 사회 현상과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619500"/>
            <a:ext cx="33337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800">
                <a:solidFill>
                  <a:srgbClr val="334155"/>
                </a:solidFill>
                <a:latin typeface="Malgun Gothic"/>
              </a:rPr>
              <a:t>나의 경험이나 사회 사례로 이유를 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950" y="4267200"/>
            <a:ext cx="10668000" cy="83820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33450" y="4476750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Malgun Gothic"/>
              </a:rPr>
              <a:t>의견 표현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4457700"/>
            <a:ext cx="29527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800">
                <a:solidFill>
                  <a:srgbClr val="334155"/>
                </a:solidFill>
                <a:latin typeface="Malgun Gothic"/>
              </a:rPr>
              <a:t>근거 있는 주장과 책임 있는 표현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457700"/>
            <a:ext cx="33337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800">
                <a:solidFill>
                  <a:srgbClr val="334155"/>
                </a:solidFill>
                <a:latin typeface="Malgun Gothic"/>
              </a:rPr>
              <a:t>생각, 이유, 질문이나 대안을 함께 제시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0" y="634365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Malgun Gothic"/>
              </a:rPr>
              <a:t>NIE 댓글 형성평가 운영 연수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3048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</a:rPr>
              <a:t>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" y="685800"/>
            <a:ext cx="1019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800" b="1">
                <a:solidFill>
                  <a:srgbClr val="111827"/>
                </a:solidFill>
                <a:latin typeface="Malgun Gothic"/>
              </a:rPr>
              <a:t>수업 적용 세팅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0550" y="1504950"/>
            <a:ext cx="11010900" cy="19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23900" y="1943100"/>
            <a:ext cx="914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111827"/>
                </a:solidFill>
                <a:latin typeface="Malgun Gothic"/>
              </a:rPr>
              <a:t>수업 템플릿을 복제한 뒤, 네 가지를 실제 운영 가능한 상태로 맞춥니다.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9150" y="2819400"/>
            <a:ext cx="2381250" cy="1809750"/>
          </a:xfrm>
          <a:prstGeom prst="roundRect">
            <a:avLst/>
          </a:prstGeom>
          <a:noFill/>
          <a:ln w="9525">
            <a:solidFill>
              <a:srgbClr val="BB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66800" y="3067050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0F766E"/>
                </a:solidFill>
                <a:latin typeface="Malgun Gothic"/>
              </a:rPr>
              <a:t>1. 학생 계정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581400"/>
            <a:ext cx="180975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Notion 가입</a:t>
            </a:r>
          </a:p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계정 이름 변경</a:t>
            </a:r>
          </a:p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학생 ID 안내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1400" y="2819400"/>
            <a:ext cx="2381250" cy="1809750"/>
          </a:xfrm>
          <a:prstGeom prst="roundRect">
            <a:avLst/>
          </a:prstGeom>
          <a:noFill/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829050" y="3067050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2563EB"/>
                </a:solidFill>
                <a:latin typeface="Malgun Gothic"/>
              </a:rPr>
              <a:t>2. 기사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9050" y="3581400"/>
            <a:ext cx="180975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웹 클리퍼</a:t>
            </a:r>
          </a:p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AI 기사 탐색</a:t>
            </a:r>
          </a:p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출처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3650" y="2819400"/>
            <a:ext cx="2381250" cy="1809750"/>
          </a:xfrm>
          <a:prstGeom prst="roundRect">
            <a:avLst/>
          </a:prstGeom>
          <a:noFill/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591300" y="3067050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D97706"/>
                </a:solidFill>
                <a:latin typeface="Malgun Gothic"/>
              </a:rPr>
              <a:t>3. 루브릭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3581400"/>
            <a:ext cx="180975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0~5 척도</a:t>
            </a:r>
          </a:p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총점 15</a:t>
            </a:r>
          </a:p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교사 기준 반영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5900" y="2819400"/>
            <a:ext cx="2381250" cy="1809750"/>
          </a:xfrm>
          <a:prstGeom prst="round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353550" y="3067050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475569"/>
                </a:solidFill>
                <a:latin typeface="Malgun Gothic"/>
              </a:rPr>
              <a:t>4. 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3550" y="3581400"/>
            <a:ext cx="180975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학생 선택</a:t>
            </a:r>
          </a:p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기사 선택</a:t>
            </a:r>
          </a:p>
          <a:p>
            <a:pPr algn="l"/>
            <a:r>
              <a:rPr sz="1900">
                <a:solidFill>
                  <a:srgbClr val="334155"/>
                </a:solidFill>
                <a:latin typeface="Malgun Gothic"/>
              </a:rPr>
              <a:t>댓글 제출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0" y="634365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Malgun Gothic"/>
              </a:rPr>
              <a:t>NIE 댓글 형성평가 운영 연수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3048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</a:rPr>
              <a:t>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" y="685800"/>
            <a:ext cx="1019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800" b="1">
                <a:solidFill>
                  <a:srgbClr val="111827"/>
                </a:solidFill>
                <a:latin typeface="Malgun Gothic"/>
              </a:rPr>
              <a:t>Notion 템플릿 운영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0550" y="1504950"/>
            <a:ext cx="11010900" cy="19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4495800" y="2628900"/>
            <a:ext cx="3143250" cy="1143000"/>
          </a:xfrm>
          <a:prstGeom prst="roundRect">
            <a:avLst/>
          </a:prstGeom>
          <a:noFill/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781550" y="297180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800" b="1">
                <a:solidFill>
                  <a:srgbClr val="0F766E"/>
                </a:solidFill>
                <a:latin typeface="Malgun Gothic"/>
              </a:rPr>
              <a:t>학생 댓글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9650" y="342900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800">
                <a:solidFill>
                  <a:srgbClr val="334155"/>
                </a:solidFill>
                <a:latin typeface="Malgun Gothic"/>
              </a:rPr>
              <a:t>평가가 모이는 중심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628900"/>
            <a:ext cx="2571750" cy="1143000"/>
          </a:xfrm>
          <a:prstGeom prst="round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66800" y="2952750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400" b="1">
                <a:solidFill>
                  <a:srgbClr val="111827"/>
                </a:solidFill>
                <a:latin typeface="Malgun Gothic"/>
              </a:rPr>
              <a:t>학생 명단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40995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700">
                <a:solidFill>
                  <a:srgbClr val="64748B"/>
                </a:solidFill>
                <a:latin typeface="Malgun Gothic"/>
              </a:rPr>
              <a:t>제출 여부와 참여도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350" y="3028950"/>
            <a:ext cx="66675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3600" b="1">
                <a:solidFill>
                  <a:srgbClr val="0F766E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24900" y="2628900"/>
            <a:ext cx="2571750" cy="1143000"/>
          </a:xfrm>
          <a:prstGeom prst="round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953500" y="2952750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400" b="1">
                <a:solidFill>
                  <a:srgbClr val="111827"/>
                </a:solidFill>
                <a:latin typeface="Malgun Gothic"/>
              </a:rPr>
              <a:t>뉴스 기사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0" y="340995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700">
                <a:solidFill>
                  <a:srgbClr val="64748B"/>
                </a:solidFill>
                <a:latin typeface="Malgun Gothic"/>
              </a:rPr>
              <a:t>기사별 댓글 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0" y="3028950"/>
            <a:ext cx="66675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3600" b="1">
                <a:solidFill>
                  <a:srgbClr val="0F766E"/>
                </a:solidFill>
                <a:latin typeface="Malgun Gothic"/>
              </a:rPr>
              <a:t>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5800" y="4629150"/>
            <a:ext cx="3143250" cy="914400"/>
          </a:xfrm>
          <a:prstGeom prst="roundRect">
            <a:avLst/>
          </a:prstGeom>
          <a:noFill/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781550" y="4838700"/>
            <a:ext cx="2571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300" b="1">
                <a:solidFill>
                  <a:srgbClr val="D97706"/>
                </a:solidFill>
                <a:latin typeface="Malgun Gothic"/>
              </a:rPr>
              <a:t>루브릭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9650" y="5219700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700">
                <a:solidFill>
                  <a:srgbClr val="64748B"/>
                </a:solidFill>
                <a:latin typeface="Malgun Gothic"/>
              </a:rPr>
              <a:t>교사 평가 기준을 고정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9750" y="3943350"/>
            <a:ext cx="8572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3400" b="1">
                <a:solidFill>
                  <a:srgbClr val="D97706"/>
                </a:solidFill>
                <a:latin typeface="Malgun Gothic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" y="58102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900" b="1">
                <a:solidFill>
                  <a:srgbClr val="111827"/>
                </a:solidFill>
                <a:latin typeface="Malgun Gothic"/>
              </a:rPr>
              <a:t>관계 드롭다운으로 연결해야 미제출, 기사별 분석, 학생별 참여 현황이 살아납니다.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0" y="634365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Malgun Gothic"/>
              </a:rPr>
              <a:t>NIE 댓글 형성평가 운영 연수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3048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</a:rPr>
              <a:t>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" y="685800"/>
            <a:ext cx="1019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800" b="1">
                <a:solidFill>
                  <a:srgbClr val="111827"/>
                </a:solidFill>
                <a:latin typeface="Malgun Gothic"/>
              </a:rPr>
              <a:t>0~5 척도, 총점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0550" y="1504950"/>
            <a:ext cx="11010900" cy="19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23900" y="1943100"/>
            <a:ext cx="89535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111827"/>
                </a:solidFill>
                <a:latin typeface="Malgun Gothic"/>
              </a:rPr>
              <a:t>모든 평가는 세 영역을 0~5점으로 보고, 총점은 15점으로 통일합니다.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2743200"/>
            <a:ext cx="3143250" cy="2000250"/>
          </a:xfrm>
          <a:prstGeom prst="roundRect">
            <a:avLst/>
          </a:prstGeom>
          <a:noFill/>
          <a:ln w="9525">
            <a:solidFill>
              <a:srgbClr val="BB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23950" y="302895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0F766E"/>
                </a:solidFill>
                <a:latin typeface="Malgun Gothic"/>
              </a:rPr>
              <a:t>기사 이해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3581400"/>
            <a:ext cx="25717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핵심 사실을 파악하고</a:t>
            </a:r>
          </a:p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기사 내용을 자기 말로</a:t>
            </a:r>
          </a:p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정확히 언급하는가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4850" y="2743200"/>
            <a:ext cx="3143250" cy="2000250"/>
          </a:xfrm>
          <a:prstGeom prst="roundRect">
            <a:avLst/>
          </a:prstGeom>
          <a:noFill/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762500" y="302895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2563EB"/>
                </a:solidFill>
                <a:latin typeface="Malgun Gothic"/>
              </a:rPr>
              <a:t>생각 연결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0" y="3581400"/>
            <a:ext cx="25717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기사와 생활, 사회, 경험을</a:t>
            </a:r>
          </a:p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의미 있게 연결하는가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3400" y="2743200"/>
            <a:ext cx="3143250" cy="2000250"/>
          </a:xfrm>
          <a:prstGeom prst="roundRect">
            <a:avLst/>
          </a:prstGeom>
          <a:noFill/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01050" y="302895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D97706"/>
                </a:solidFill>
                <a:latin typeface="Malgun Gothic"/>
              </a:rPr>
              <a:t>생각 표현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1050" y="3581400"/>
            <a:ext cx="25717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근거, 예절, 질문이나</a:t>
            </a:r>
          </a:p>
          <a:p>
            <a:pPr algn="l"/>
            <a:r>
              <a:rPr sz="2000">
                <a:solidFill>
                  <a:srgbClr val="334155"/>
                </a:solidFill>
                <a:latin typeface="Malgun Gothic"/>
              </a:rPr>
              <a:t>대안이 드러나는가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5429250"/>
            <a:ext cx="93345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300" b="1">
                <a:solidFill>
                  <a:srgbClr val="111827"/>
                </a:solidFill>
                <a:latin typeface="Malgun Gothic"/>
              </a:rPr>
              <a:t>AI 점수는 초안이고, 교사 점수가 최종 기록입니다.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0" y="634365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Malgun Gothic"/>
              </a:rPr>
              <a:t>NIE 댓글 형성평가 운영 연수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3048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</a:rPr>
              <a:t>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" y="685800"/>
            <a:ext cx="1019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800" b="1">
                <a:solidFill>
                  <a:srgbClr val="111827"/>
                </a:solidFill>
                <a:latin typeface="Malgun Gothic"/>
              </a:rPr>
              <a:t>폼 배포는 상단 임베드로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590550" y="1504950"/>
            <a:ext cx="11010900" cy="19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23900" y="1943100"/>
            <a:ext cx="914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111827"/>
                </a:solidFill>
                <a:latin typeface="Malgun Gothic"/>
              </a:rPr>
              <a:t>학생은 기사 페이지 안에서 읽고, 같은 페이지 상단 폼에 댓글을 남깁니다.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900" y="2819400"/>
            <a:ext cx="2000250" cy="1143000"/>
          </a:xfrm>
          <a:prstGeom prst="roundRect">
            <a:avLst/>
          </a:prstGeom>
          <a:noFill/>
          <a:ln w="9525">
            <a:solidFill>
              <a:srgbClr val="BB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71550" y="3067050"/>
            <a:ext cx="15049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300" b="1">
                <a:solidFill>
                  <a:srgbClr val="0F766E"/>
                </a:solidFill>
                <a:latin typeface="Malgun Gothic"/>
              </a:rPr>
              <a:t>기사 페이지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52425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700">
                <a:solidFill>
                  <a:srgbClr val="64748B"/>
                </a:solidFill>
                <a:latin typeface="Malgun Gothic"/>
              </a:rPr>
              <a:t>상단 폼 임베드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5600" y="3124200"/>
            <a:ext cx="5143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3400" b="1">
                <a:solidFill>
                  <a:srgbClr val="0F766E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1400" y="2819400"/>
            <a:ext cx="2000250" cy="1143000"/>
          </a:xfrm>
          <a:prstGeom prst="roundRect">
            <a:avLst/>
          </a:prstGeom>
          <a:noFill/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829050" y="3067050"/>
            <a:ext cx="15049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300" b="1">
                <a:solidFill>
                  <a:srgbClr val="2563EB"/>
                </a:solidFill>
                <a:latin typeface="Malgun Gothic"/>
              </a:rPr>
              <a:t>학생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9050" y="352425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700">
                <a:solidFill>
                  <a:srgbClr val="64748B"/>
                </a:solidFill>
                <a:latin typeface="Malgun Gothic"/>
              </a:rPr>
              <a:t>관계 드롭다운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3100" y="3124200"/>
            <a:ext cx="5143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3400" b="1">
                <a:solidFill>
                  <a:srgbClr val="0F766E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8900" y="2819400"/>
            <a:ext cx="2000250" cy="1143000"/>
          </a:xfrm>
          <a:prstGeom prst="roundRect">
            <a:avLst/>
          </a:prstGeom>
          <a:noFill/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686550" y="3067050"/>
            <a:ext cx="15049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300" b="1">
                <a:solidFill>
                  <a:srgbClr val="D97706"/>
                </a:solidFill>
                <a:latin typeface="Malgun Gothic"/>
              </a:rPr>
              <a:t>기사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6550" y="352425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700">
                <a:solidFill>
                  <a:srgbClr val="64748B"/>
                </a:solidFill>
                <a:latin typeface="Malgun Gothic"/>
              </a:rPr>
              <a:t>관계 드롭다운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0600" y="3124200"/>
            <a:ext cx="5143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3400" b="1">
                <a:solidFill>
                  <a:srgbClr val="0F766E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6400" y="2819400"/>
            <a:ext cx="2000250" cy="1143000"/>
          </a:xfrm>
          <a:prstGeom prst="round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544050" y="3067050"/>
            <a:ext cx="15049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300" b="1">
                <a:solidFill>
                  <a:srgbClr val="475569"/>
                </a:solidFill>
                <a:latin typeface="Malgun Gothic"/>
              </a:rPr>
              <a:t>댓글 제출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352425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700">
                <a:solidFill>
                  <a:srgbClr val="64748B"/>
                </a:solidFill>
                <a:latin typeface="Malgun Gothic"/>
              </a:rPr>
              <a:t>DB에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" y="4895850"/>
            <a:ext cx="9525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100" b="1">
                <a:solidFill>
                  <a:srgbClr val="111827"/>
                </a:solidFill>
                <a:latin typeface="Malgun Gothic"/>
              </a:rPr>
              <a:t>공개 폼 링크는 Notion이 내부 링크로 바꿀 수 있으므로, 기사 페이지에는 링크보다 임베드를 씁니다.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0" y="634365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Malgun Gothic"/>
              </a:rPr>
              <a:t>NIE 댓글 형성평가 운영 연수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3048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</a:rPr>
              <a:t>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" y="685800"/>
            <a:ext cx="1019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800" b="1">
                <a:solidFill>
                  <a:srgbClr val="111827"/>
                </a:solidFill>
                <a:latin typeface="Malgun Gothic"/>
              </a:rPr>
              <a:t>평가 DB 다시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0550" y="1504950"/>
            <a:ext cx="11010900" cy="19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23900" y="1943100"/>
            <a:ext cx="89535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111827"/>
                </a:solidFill>
                <a:latin typeface="Malgun Gothic"/>
              </a:rPr>
              <a:t>수집된 댓글을 '제출 확인'과 '평가 해석' 두 방향으로 다시 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2705100"/>
            <a:ext cx="4762500" cy="819150"/>
          </a:xfrm>
          <a:prstGeom prst="round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62050" y="295275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111827"/>
                </a:solidFill>
                <a:latin typeface="Malgun Gothic"/>
              </a:rPr>
              <a:t>1. 미제출 학생 찾기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331470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700">
                <a:solidFill>
                  <a:srgbClr val="64748B"/>
                </a:solidFill>
                <a:latin typeface="Malgun Gothic"/>
              </a:rPr>
              <a:t>학생 명단 DB의 제출 여부 필터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3200" y="2705100"/>
            <a:ext cx="4762500" cy="819150"/>
          </a:xfrm>
          <a:prstGeom prst="round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838950" y="295275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111827"/>
                </a:solidFill>
                <a:latin typeface="Malgun Gothic"/>
              </a:rPr>
              <a:t>2. 페이지별 댓글 수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8950" y="331470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700">
                <a:solidFill>
                  <a:srgbClr val="64748B"/>
                </a:solidFill>
                <a:latin typeface="Malgun Gothic"/>
              </a:rPr>
              <a:t>기사별 반응 정도와 토론 확장 지점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300" y="4038600"/>
            <a:ext cx="4762500" cy="819150"/>
          </a:xfrm>
          <a:prstGeom prst="round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162050" y="428625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111827"/>
                </a:solidFill>
                <a:latin typeface="Malgun Gothic"/>
              </a:rPr>
              <a:t>3. 댓글 내용 체크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464820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700">
                <a:solidFill>
                  <a:srgbClr val="64748B"/>
                </a:solidFill>
                <a:latin typeface="Malgun Gothic"/>
              </a:rPr>
              <a:t>이해, 연결, 표현의 증거 찾기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3200" y="4038600"/>
            <a:ext cx="4762500" cy="819150"/>
          </a:xfrm>
          <a:prstGeom prst="round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838950" y="428625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111827"/>
                </a:solidFill>
                <a:latin typeface="Malgun Gothic"/>
              </a:rPr>
              <a:t>4. 글쓰기 평가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8950" y="464820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700">
                <a:solidFill>
                  <a:srgbClr val="64748B"/>
                </a:solidFill>
                <a:latin typeface="Malgun Gothic"/>
              </a:rPr>
              <a:t>교사 의견을 반영해 최종 점수와 피드백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0" y="634365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Malgun Gothic"/>
              </a:rPr>
              <a:t>NIE 댓글 형성평가 운영 연수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3048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</a:rPr>
              <a:t>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" y="685800"/>
            <a:ext cx="1019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800" b="1">
                <a:solidFill>
                  <a:srgbClr val="111827"/>
                </a:solidFill>
                <a:latin typeface="Malgun Gothic"/>
              </a:rPr>
              <a:t>세특 자동화 프롬프트 실습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590550" y="1504950"/>
            <a:ext cx="11010900" cy="19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23900" y="1943100"/>
            <a:ext cx="914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111827"/>
                </a:solidFill>
                <a:latin typeface="Malgun Gothic"/>
              </a:rPr>
              <a:t>AI는 세특을 대신 쓰는 도구가 아니라, 교사가 고쳐 쓸 초안을 만드는 도구입니다.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743200"/>
            <a:ext cx="2381250" cy="1143000"/>
          </a:xfrm>
          <a:prstGeom prst="roundRect">
            <a:avLst/>
          </a:prstGeom>
          <a:noFill/>
          <a:ln w="9525">
            <a:solidFill>
              <a:srgbClr val="BB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85850" y="3028950"/>
            <a:ext cx="18859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300" b="1">
                <a:solidFill>
                  <a:srgbClr val="0F766E"/>
                </a:solidFill>
                <a:latin typeface="Malgun Gothic"/>
              </a:rPr>
              <a:t>수집 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50" y="3486150"/>
            <a:ext cx="18859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700">
                <a:solidFill>
                  <a:srgbClr val="64748B"/>
                </a:solidFill>
                <a:latin typeface="Malgun Gothic"/>
              </a:rPr>
              <a:t>댓글, 점수, 피드백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3750" y="31051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3000" b="1">
                <a:solidFill>
                  <a:srgbClr val="0F766E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5250" y="2743200"/>
            <a:ext cx="2381250" cy="1143000"/>
          </a:xfrm>
          <a:prstGeom prst="roundRect">
            <a:avLst/>
          </a:prstGeom>
          <a:noFill/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152900" y="3028950"/>
            <a:ext cx="18859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300" b="1">
                <a:solidFill>
                  <a:srgbClr val="2563EB"/>
                </a:solidFill>
                <a:latin typeface="Malgun Gothic"/>
              </a:rPr>
              <a:t>교사 관찰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2900" y="3486150"/>
            <a:ext cx="18859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700">
                <a:solidFill>
                  <a:srgbClr val="64748B"/>
                </a:solidFill>
                <a:latin typeface="Malgun Gothic"/>
              </a:rPr>
              <a:t>수업 맥락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051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3000" b="1">
                <a:solidFill>
                  <a:srgbClr val="0F766E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72300" y="2743200"/>
            <a:ext cx="2381250" cy="1143000"/>
          </a:xfrm>
          <a:prstGeom prst="roundRect">
            <a:avLst/>
          </a:prstGeom>
          <a:noFill/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219950" y="3028950"/>
            <a:ext cx="18859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300" b="1">
                <a:solidFill>
                  <a:srgbClr val="D97706"/>
                </a:solidFill>
                <a:latin typeface="Malgun Gothic"/>
              </a:rPr>
              <a:t>AI 초안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950" y="3486150"/>
            <a:ext cx="18859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700">
                <a:solidFill>
                  <a:srgbClr val="64748B"/>
                </a:solidFill>
                <a:latin typeface="Malgun Gothic"/>
              </a:rPr>
              <a:t>관찰 가능한 문장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7850" y="31051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3000" b="1">
                <a:solidFill>
                  <a:srgbClr val="0F766E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39350" y="2743200"/>
            <a:ext cx="1524000" cy="1143000"/>
          </a:xfrm>
          <a:prstGeom prst="round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925050" y="302895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Malgun Gothic"/>
              </a:rPr>
              <a:t>교사 수정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5050" y="3486150"/>
            <a:ext cx="16002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1500">
                <a:solidFill>
                  <a:srgbClr val="64748B"/>
                </a:solidFill>
                <a:latin typeface="Malgun Gothic"/>
              </a:rPr>
              <a:t>최종 기록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6800" y="4762500"/>
            <a:ext cx="9620250" cy="704850"/>
          </a:xfrm>
          <a:prstGeom prst="round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1333500" y="4933950"/>
            <a:ext cx="90487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Malgun Gothic"/>
              </a:rPr>
              <a:t>프롬프트: 학생 댓글과 교사 평가를 바탕으로, 과장 없이 관찰 가능한 세특 초안을 작성해 줘.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0" y="634365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Malgun Gothic"/>
              </a:rPr>
              <a:t>NIE 댓글 형성평가 운영 연수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3048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algun Gothic"/>
              </a:rPr>
              <a:t>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" y="685800"/>
            <a:ext cx="1019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3800" b="1">
                <a:solidFill>
                  <a:srgbClr val="111827"/>
                </a:solidFill>
                <a:latin typeface="Malgun Gothic"/>
              </a:rPr>
              <a:t>운영 체크리스트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90550" y="1504950"/>
            <a:ext cx="11010900" cy="19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800100" y="2247900"/>
            <a:ext cx="3238500" cy="2857500"/>
          </a:xfrm>
          <a:prstGeom prst="roundRect">
            <a:avLst/>
          </a:prstGeom>
          <a:noFill/>
          <a:ln w="9525">
            <a:solidFill>
              <a:srgbClr val="BB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66800" y="257175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600" b="1">
                <a:solidFill>
                  <a:srgbClr val="0F766E"/>
                </a:solidFill>
                <a:latin typeface="Malgun Gothic"/>
              </a:rPr>
              <a:t>연수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143250"/>
            <a:ext cx="2667000" cy="1200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600">
                <a:solidFill>
                  <a:srgbClr val="334155"/>
                </a:solidFill>
                <a:latin typeface="Malgun Gothic"/>
              </a:rPr>
              <a:t>• Notion 계정 사전 생성</a:t>
            </a:r>
          </a:p>
          <a:p>
            <a:pPr algn="l"/>
            <a:r>
              <a:rPr sz="1600">
                <a:solidFill>
                  <a:srgbClr val="334155"/>
                </a:solidFill>
                <a:latin typeface="Malgun Gothic"/>
              </a:rPr>
              <a:t>• 템플릿 복제 링크 확인</a:t>
            </a:r>
          </a:p>
          <a:p>
            <a:pPr algn="l"/>
            <a:r>
              <a:rPr sz="1600">
                <a:solidFill>
                  <a:srgbClr val="334155"/>
                </a:solidFill>
                <a:latin typeface="Malgun Gothic"/>
              </a:rPr>
              <a:t>• 폼 질문 3개 테스트</a:t>
            </a:r>
          </a:p>
          <a:p>
            <a:pPr algn="l"/>
            <a:r>
              <a:rPr sz="1600">
                <a:solidFill>
                  <a:srgbClr val="334155"/>
                </a:solidFill>
                <a:latin typeface="Malgun Gothic"/>
              </a:rPr>
              <a:t>• 샘플 댓글 유지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6750" y="2247900"/>
            <a:ext cx="3238500" cy="2857500"/>
          </a:xfrm>
          <a:prstGeom prst="roundRect">
            <a:avLst/>
          </a:prstGeom>
          <a:noFill/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743450" y="257175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Malgun Gothic"/>
              </a:rPr>
              <a:t>연수 당일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3450" y="3143250"/>
            <a:ext cx="2667000" cy="1200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600">
                <a:solidFill>
                  <a:srgbClr val="334155"/>
                </a:solidFill>
                <a:latin typeface="Malgun Gothic"/>
              </a:rPr>
              <a:t>• A안: Notion + Auth 중심</a:t>
            </a:r>
          </a:p>
          <a:p>
            <a:pPr algn="l"/>
            <a:r>
              <a:rPr sz="1600">
                <a:solidFill>
                  <a:srgbClr val="334155"/>
                </a:solidFill>
                <a:latin typeface="Malgun Gothic"/>
              </a:rPr>
              <a:t>• 사례 1로 평가 증거 찾기</a:t>
            </a:r>
          </a:p>
          <a:p>
            <a:pPr algn="l"/>
            <a:r>
              <a:rPr sz="1600">
                <a:solidFill>
                  <a:srgbClr val="334155"/>
                </a:solidFill>
                <a:latin typeface="Malgun Gothic"/>
              </a:rPr>
              <a:t>• 2~3건만 직접 채점</a:t>
            </a:r>
          </a:p>
          <a:p>
            <a:pPr algn="l"/>
            <a:r>
              <a:rPr sz="1600">
                <a:solidFill>
                  <a:srgbClr val="334155"/>
                </a:solidFill>
                <a:latin typeface="Malgun Gothic"/>
              </a:rPr>
              <a:t>• 질문은 운영 흐름에 묶기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3400" y="2247900"/>
            <a:ext cx="3238500" cy="2857500"/>
          </a:xfrm>
          <a:prstGeom prst="roundRect">
            <a:avLst/>
          </a:prstGeom>
          <a:noFill/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420100" y="257175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2600" b="1">
                <a:solidFill>
                  <a:srgbClr val="D97706"/>
                </a:solidFill>
                <a:latin typeface="Malgun Gothic"/>
              </a:rPr>
              <a:t>연수 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0100" y="3143250"/>
            <a:ext cx="2667000" cy="1200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sz="1600">
                <a:solidFill>
                  <a:srgbClr val="334155"/>
                </a:solidFill>
                <a:latin typeface="Malgun Gothic"/>
              </a:rPr>
              <a:t>• 내 반 학생 명단으로 교체</a:t>
            </a:r>
          </a:p>
          <a:p>
            <a:pPr algn="l"/>
            <a:r>
              <a:rPr sz="1600">
                <a:solidFill>
                  <a:srgbClr val="334155"/>
                </a:solidFill>
                <a:latin typeface="Malgun Gothic"/>
              </a:rPr>
              <a:t>• 기사 1건부터 적용</a:t>
            </a:r>
          </a:p>
          <a:p>
            <a:pPr algn="l"/>
            <a:r>
              <a:rPr sz="1600">
                <a:solidFill>
                  <a:srgbClr val="334155"/>
                </a:solidFill>
                <a:latin typeface="Malgun Gothic"/>
              </a:rPr>
              <a:t>• 루브릭은 수업 목표에 맞게 수정</a:t>
            </a:r>
          </a:p>
          <a:p>
            <a:pPr algn="l"/>
            <a:r>
              <a:rPr sz="1600">
                <a:solidFill>
                  <a:srgbClr val="334155"/>
                </a:solidFill>
                <a:latin typeface="Malgun Gothic"/>
              </a:rPr>
              <a:t>• B안은 별도 연수에서 진행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5657850"/>
            <a:ext cx="9334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Malgun Gothic"/>
              </a:rPr>
              <a:t>오늘의 결론: 목적이 선명하면 도구는 수업과 평가를 연결하는 길이 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0" y="634365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Malgun Gothic"/>
              </a:rPr>
              <a:t>NIE 댓글 형성평가 운영 연수 |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NIE 댓글 형성평가 운영 연수</dc:title>
  <dc:subject/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