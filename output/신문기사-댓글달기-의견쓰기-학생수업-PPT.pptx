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연수 배포용 학생 수업 PPT입니다. 활동 ①(댓글달기)은 네티켓 교육과 함께 노션 페이지에 직접 댓글을 남기는 활동, 활동 ②(의견쓰기)는 노션 폼으로 기사를 선택해 의견을 제출하는 활동입니다. 수업 상황에 맞게 파트별로 나눠 써도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교사 팁: 활동 ①은 형성평가(이해·참여 확인), 활동 ②는 수행평가로 이어집니다. 활동 ②의 제출물은 '학생 의견쓰기' DB에 자동 수집됩니다.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파트 1 시작. 댓글달기를 인터넷 에티켓(네티켓) 교육과 연계합니다. 소요 15~20분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교사 팁: 두 댓글을 소리 내어 읽어 주고, 각각 읽은 사람의 기분이 어떨지 발문하세요. '나쁜 예'를 읽을 때 특정 학생을 연상시키지 않도록 주의합니다.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교사 팁: '직접 만나서는 하지 않을 말은 인터넷에서도 하지 않는다'는 원칙을 함께 정리해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교사 팁: 다섯 가지 약속을 학급 규칙판에 게시하거나, 댓글 활동 전마다 구호처럼 함께 읽으면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교사 팁: 악플·허위사실 유포는 어른의 세계에서는 법적 책임(모욕죄·명예훼손)까지 이어질 수 있음을 학년 수준에 맞게 언급할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교사 팁: 이 체크리스트는 평가 루브릭(기사 이해·생각 연결·생각 표현)과 연결됩니다. 댓글 활동 전 항상 화면에 띄워 두면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정답: '나'. '가'는 사람 공격(약속 1·3 위반), '다'는 도배이고 까닭이 없습니다. 정리 후 실제 노션 페이지 댓글 활동으로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파트 2 시작. 의견쓰기 4단계 로드맵을 먼저 보여 주고 시작합니다. 소요 20~25분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교사 팁: 육하원칙 여섯 칸을 공책에 그려 기사 내용을 정리하게 하면 2단계(의견 정하기)가 훨씬 쉬워집니다.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교사 팁: 손들기나 자리 이동으로 입장을 먼저 표현하게 한 뒤, '왜?'를 묻는 흐름이 효과적입니다. 정답이 있는 활동이 아님을 강조해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교사 팁: 문장 틀을 그대로 따라 쓰는 것부터 시작해, 익숙해지면 자기 말로 바꾸게 합니다. 까닭 세 종류 중 한 가지 이상을 꼭 넣도록 안내하세요.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교사 팁: 예시 글을 함께 읽으며 ①~④ 구조를 색깔로 구분해 보여 주세요. 네 문장이면 충분하다는 것을 강조해 부담을 줄여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교사 팁: 제출되면 '학생 의견쓰기' DB에 자동 수집되고 학생 명단의 제출 수가 집계됩니다. 학생 번호는 반드시 목록에서 '선택'해야 집계가 맞습니다. 시범 제출을 한 번 보여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교사 팁: 세 영역은 평가 루브릭(각 0~5점)과 같습니다. 마무리로 다짐 문장을 다 함께 읽고, 다음 시간에는 친구의 의견에 답글로 생각을 넓히는 활동을 예고할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5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937760"/>
            <a:ext cx="3291840" cy="3291840"/>
          </a:xfrm>
          <a:prstGeom prst="ellipse">
            <a:avLst/>
          </a:prstGeom>
          <a:solidFill>
            <a:srgbClr val="028090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BD8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노션 신문기사 수업 패키지 · 학생용 수업 자료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3716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신문기사 읽고 생각 나누기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239572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EF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댓글달기와 의견쓰기, 두 가지 활동으로 배워요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337560"/>
            <a:ext cx="512064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42f3a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07008" y="3657600"/>
            <a:ext cx="777240" cy="777240"/>
          </a:xfrm>
          <a:prstGeom prst="ellipse">
            <a:avLst/>
          </a:prstGeom>
          <a:solidFill>
            <a:srgbClr val="E3F4F2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9090" y="3859682"/>
            <a:ext cx="373075" cy="37307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194560" y="363931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 ①  댓글달기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2194560" y="4133088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노션 페이지에 직접 내 의견을 남겨요.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네티켓과 함께!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09360" y="3337560"/>
            <a:ext cx="512064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42f3a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693408" y="3657600"/>
            <a:ext cx="777240" cy="777240"/>
          </a:xfrm>
          <a:prstGeom prst="ellipse">
            <a:avLst/>
          </a:prstGeom>
          <a:solidFill>
            <a:srgbClr val="E3F4F2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5490" y="3859682"/>
            <a:ext cx="373075" cy="37307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680960" y="363931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 ②  의견쓰기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7680960" y="4133088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노션 폼에서 기사를 골라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의견을 까닭까지 써서 제출해요.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우리가 하는 두 가지 활동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5120640" cy="4206240"/>
          </a:xfrm>
          <a:prstGeom prst="roundRect">
            <a:avLst>
              <a:gd name="adj" fmla="val 3043"/>
            </a:avLst>
          </a:prstGeom>
          <a:solidFill>
            <a:srgbClr val="E3F4F2"/>
          </a:solidFill>
          <a:ln/>
        </p:spPr>
      </p:sp>
      <p:sp>
        <p:nvSpPr>
          <p:cNvPr id="4" name="Shape 2"/>
          <p:cNvSpPr/>
          <p:nvPr/>
        </p:nvSpPr>
        <p:spPr>
          <a:xfrm>
            <a:off x="1188720" y="178308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8915" y="1973275"/>
            <a:ext cx="351130" cy="3511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103120" y="185623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 ①  댓글달기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1234440" y="278892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무엇을?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331720" y="27889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기사를 읽고 노션 페이지에 직접 댓글로 내 생각을 남겨요.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234440" y="37490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어떻게?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331720" y="37490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짧아도 좋아요. 존중하는 말로, 기사와 관련된 이야기로!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234440" y="470916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핵심은?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331720" y="470916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네티켓 — 얼굴이 안 보여도 예절을 지켜요.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309360" y="1417320"/>
            <a:ext cx="5120640" cy="4206240"/>
          </a:xfrm>
          <a:prstGeom prst="roundRect">
            <a:avLst>
              <a:gd name="adj" fmla="val 3043"/>
            </a:avLst>
          </a:prstGeom>
          <a:solidFill>
            <a:srgbClr val="E6F3EC"/>
          </a:solidFill>
          <a:ln/>
        </p:spPr>
      </p:sp>
      <p:sp>
        <p:nvSpPr>
          <p:cNvPr id="14" name="Shape 11"/>
          <p:cNvSpPr/>
          <p:nvPr/>
        </p:nvSpPr>
        <p:spPr>
          <a:xfrm>
            <a:off x="6675120" y="178308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5315" y="1973275"/>
            <a:ext cx="351130" cy="35113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589520" y="185623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 ②  의견쓰기</a:t>
            </a:r>
            <a:endParaRPr lang="en-US" sz="2100" dirty="0"/>
          </a:p>
        </p:txBody>
      </p:sp>
      <p:sp>
        <p:nvSpPr>
          <p:cNvPr id="17" name="Text 13"/>
          <p:cNvSpPr/>
          <p:nvPr/>
        </p:nvSpPr>
        <p:spPr>
          <a:xfrm>
            <a:off x="6720840" y="278892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무엇을?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7818120" y="27889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노션 폼에서 읽은 기사를 고르고 내 의견을 제출해요.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6720840" y="37490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어떻게?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7818120" y="37490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의견과 함께 ‘왜냐하면’ 까닭까지 써요.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6720840" y="470916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핵심은?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7818120" y="470916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까닭 — 이유가 있는 의견이 힘이 세요.</a:t>
            </a:r>
            <a:endParaRPr lang="en-US" sz="1350" dirty="0"/>
          </a:p>
        </p:txBody>
      </p:sp>
      <p:sp>
        <p:nvSpPr>
          <p:cNvPr id="23" name="Text 19"/>
          <p:cNvSpPr/>
          <p:nvPr/>
        </p:nvSpPr>
        <p:spPr>
          <a:xfrm>
            <a:off x="822960" y="5897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활동 모두 ‘존중하는 말’과 ‘까닭 있는 생각’이 가장 중요해요.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5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4206240"/>
            <a:ext cx="3840480" cy="384048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" y="13716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0198" y="1633118"/>
            <a:ext cx="482803" cy="48280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2651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BD8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 ①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868680" y="306324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댓글달기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68680" y="41148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EF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댓글도 대화예요. 인터넷 세상의 예절, 네티켓과 함께 시작해요.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댓글 하나의 힘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기사에 달린 두 댓글, 무엇이 다를까요?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10515600" cy="777240"/>
          </a:xfrm>
          <a:prstGeom prst="roundRect">
            <a:avLst>
              <a:gd name="adj" fmla="val 11765"/>
            </a:avLst>
          </a:prstGeom>
          <a:solidFill>
            <a:srgbClr val="F1F4F5"/>
          </a:solidFill>
          <a:ln/>
        </p:spPr>
      </p:sp>
      <p:sp>
        <p:nvSpPr>
          <p:cNvPr id="5" name="Shape 3"/>
          <p:cNvSpPr/>
          <p:nvPr/>
        </p:nvSpPr>
        <p:spPr>
          <a:xfrm>
            <a:off x="1024128" y="1819656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7265" y="1952793"/>
            <a:ext cx="245791" cy="24579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47088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[기사]  학교 앞 어린이 교통사고, 작년보다 늘었다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22960" y="2743200"/>
            <a:ext cx="5120640" cy="3063240"/>
          </a:xfrm>
          <a:prstGeom prst="roundRect">
            <a:avLst>
              <a:gd name="adj" fmla="val 4179"/>
            </a:avLst>
          </a:prstGeom>
          <a:solidFill>
            <a:srgbClr val="E6F3EC"/>
          </a:solidFill>
          <a:ln/>
        </p:spPr>
      </p:sp>
      <p:sp>
        <p:nvSpPr>
          <p:cNvPr id="9" name="Shape 6"/>
          <p:cNvSpPr/>
          <p:nvPr/>
        </p:nvSpPr>
        <p:spPr>
          <a:xfrm>
            <a:off x="1143000" y="30175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646" y="316016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28800" y="310896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이런 댓글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1188720" y="3675888"/>
            <a:ext cx="4434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“기사를 읽고 우리 학교 앞 횡단보도가 떠올랐어요. 나는 신호등이 더 필요하다고 생각해요. 왜냐하면 등굣길에 차가 많이 다니기 때문이에요.”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188720" y="52578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내용 + 내 생각 + 까닭 + 존중하는 말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309360" y="2743200"/>
            <a:ext cx="5120640" cy="3063240"/>
          </a:xfrm>
          <a:prstGeom prst="roundRect">
            <a:avLst>
              <a:gd name="adj" fmla="val 4179"/>
            </a:avLst>
          </a:prstGeom>
          <a:solidFill>
            <a:srgbClr val="FDE7E8"/>
          </a:solidFill>
          <a:ln/>
        </p:spPr>
      </p:sp>
      <p:sp>
        <p:nvSpPr>
          <p:cNvPr id="15" name="Shape 11"/>
          <p:cNvSpPr/>
          <p:nvPr/>
        </p:nvSpPr>
        <p:spPr>
          <a:xfrm>
            <a:off x="6629400" y="30175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046" y="316016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315200" y="310896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이런 댓글은?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675120" y="3675888"/>
            <a:ext cx="4434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“이게 기사냐 ㅋㅋ 우리 동네는 안 그런데? 쓴 사람 이상하네”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675120" y="52578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961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사람을 공격해요 · 까닭이 없어요 · 기분을 상하게 해요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822960" y="60350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여러분의 댓글은 누군가에게 힘이 될 수도, 상처가 될 수도 있어요.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네티켓이 뭐예요?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325880"/>
            <a:ext cx="10515600" cy="1234440"/>
          </a:xfrm>
          <a:prstGeom prst="roundRect">
            <a:avLst>
              <a:gd name="adj" fmla="val 8889"/>
            </a:avLst>
          </a:prstGeom>
          <a:solidFill>
            <a:srgbClr val="E3F4F2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167335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네티켓</a:t>
            </a:r>
            <a:pPr indent="0" marL="0">
              <a:buNone/>
            </a:pPr>
            <a:r>
              <a:rPr lang="en-US" sz="180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네트워크(인터넷) + 에티켓(예절).  인터넷에서 글을 읽고 쓸 때 지키는 예절이에요.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834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필요할까요?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68680" y="3429000"/>
            <a:ext cx="658368" cy="658368"/>
          </a:xfrm>
          <a:prstGeom prst="ellipse">
            <a:avLst/>
          </a:prstGeom>
          <a:solidFill>
            <a:srgbClr val="E3F4F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856" y="3600176"/>
            <a:ext cx="316017" cy="31601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342900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너머에는 사람이 있어요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783080" y="379476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얼굴이 보이지 않아도, 내 글을 읽는 건 감정이 있는 진짜 사람이에요.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68680" y="4389120"/>
            <a:ext cx="658368" cy="658368"/>
          </a:xfrm>
          <a:prstGeom prst="ellipse">
            <a:avLst/>
          </a:prstGeom>
          <a:solidFill>
            <a:srgbClr val="E3F4F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856" y="4560296"/>
            <a:ext cx="316017" cy="31601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783080" y="438912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글은 오래 남아요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783080" y="475488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올린 댓글은 지워도 캡처나 기록으로 남을 수 있어요.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68680" y="5349240"/>
            <a:ext cx="658368" cy="658368"/>
          </a:xfrm>
          <a:prstGeom prst="ellipse">
            <a:avLst/>
          </a:prstGeom>
          <a:solidFill>
            <a:srgbClr val="E3F4F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56" y="5520416"/>
            <a:ext cx="316017" cy="316017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783080" y="53492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퍼지면 되돌리기 어려워요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783080" y="571500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말과 소문은 순식간에 퍼지고, 주워 담기 어려워요.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댓글 네티켓, 다섯 가지 약속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68680" y="1380744"/>
            <a:ext cx="658368" cy="65836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8074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783080" y="13441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의견에는 의견으로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783080" y="1755648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생각이 달라도 사람을 공격하지 않아요. “나는 다르게 생각해. 왜냐하면…”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68680" y="2404872"/>
            <a:ext cx="658368" cy="65836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40487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783080" y="236829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확인한 사실만 말해요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83080" y="2779776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모르는 이야기나 소문은 옮기지 않아요.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68680" y="3429000"/>
            <a:ext cx="658368" cy="65836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4290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783080" y="3392424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존중하는 말을 써요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783080" y="380390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놀리는 말, 비꼬는 말 대신 읽는 사람의 기분을 생각해요.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4453128"/>
            <a:ext cx="658368" cy="65836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4531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783080" y="4416552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개인정보는 비밀이에요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783080" y="4828032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나와 친구의 이름·학교·연락처·사진을 함부로 쓰지 않아요.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68680" y="5477256"/>
            <a:ext cx="658368" cy="65836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547725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783080" y="54406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올리기 전에 한 번 더 읽어요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783080" y="585216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소리 내어 읽어 보고, 기분 나쁠 말이 없는지 확인한 뒤 올려요.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이런 댓글은 잠깐, 멈춰요!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63040"/>
            <a:ext cx="5120640" cy="2011680"/>
          </a:xfrm>
          <a:prstGeom prst="roundRect">
            <a:avLst>
              <a:gd name="adj" fmla="val 6364"/>
            </a:avLst>
          </a:prstGeom>
          <a:solidFill>
            <a:srgbClr val="FDE7E8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0" y="1755648"/>
            <a:ext cx="621792" cy="62179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4666" y="1917314"/>
            <a:ext cx="298460" cy="2984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20240" y="18288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961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비난·놀림 (악플)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1188720" y="2423160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겉모습이나 말투를 비웃는 댓글은 마음을 다치게 해요.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309360" y="1463040"/>
            <a:ext cx="5120640" cy="2011680"/>
          </a:xfrm>
          <a:prstGeom prst="roundRect">
            <a:avLst>
              <a:gd name="adj" fmla="val 6364"/>
            </a:avLst>
          </a:prstGeom>
          <a:solidFill>
            <a:srgbClr val="FDE7E8"/>
          </a:solidFill>
          <a:ln/>
        </p:spPr>
      </p:sp>
      <p:sp>
        <p:nvSpPr>
          <p:cNvPr id="9" name="Shape 6"/>
          <p:cNvSpPr/>
          <p:nvPr/>
        </p:nvSpPr>
        <p:spPr>
          <a:xfrm>
            <a:off x="6629400" y="1755648"/>
            <a:ext cx="621792" cy="62179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1066" y="1917314"/>
            <a:ext cx="298460" cy="2984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06640" y="18288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961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거짓·소문 퍼뜨리기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6675120" y="2423160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확인하지 않은 이야기를 사실처럼 쓰면 안 돼요.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822960" y="3749040"/>
            <a:ext cx="5120640" cy="2011680"/>
          </a:xfrm>
          <a:prstGeom prst="roundRect">
            <a:avLst>
              <a:gd name="adj" fmla="val 6364"/>
            </a:avLst>
          </a:prstGeom>
          <a:solidFill>
            <a:srgbClr val="FDE7E8"/>
          </a:solidFill>
          <a:ln/>
        </p:spPr>
      </p:sp>
      <p:sp>
        <p:nvSpPr>
          <p:cNvPr id="14" name="Shape 10"/>
          <p:cNvSpPr/>
          <p:nvPr/>
        </p:nvSpPr>
        <p:spPr>
          <a:xfrm>
            <a:off x="1143000" y="4041648"/>
            <a:ext cx="621792" cy="62179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666" y="4203314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920240" y="41148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961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말 도배하기</a:t>
            </a:r>
            <a:endParaRPr lang="en-US" sz="1650" dirty="0"/>
          </a:p>
        </p:txBody>
      </p:sp>
      <p:sp>
        <p:nvSpPr>
          <p:cNvPr id="17" name="Text 12"/>
          <p:cNvSpPr/>
          <p:nvPr/>
        </p:nvSpPr>
        <p:spPr>
          <a:xfrm>
            <a:off x="1188720" y="4709160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똑같은 댓글을 반복해서 달면 다른 사람의 대화를 방해해요.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6309360" y="3749040"/>
            <a:ext cx="5120640" cy="2011680"/>
          </a:xfrm>
          <a:prstGeom prst="roundRect">
            <a:avLst>
              <a:gd name="adj" fmla="val 6364"/>
            </a:avLst>
          </a:prstGeom>
          <a:solidFill>
            <a:srgbClr val="FDE7E8"/>
          </a:solidFill>
          <a:ln/>
        </p:spPr>
      </p:sp>
      <p:sp>
        <p:nvSpPr>
          <p:cNvPr id="19" name="Shape 14"/>
          <p:cNvSpPr/>
          <p:nvPr/>
        </p:nvSpPr>
        <p:spPr>
          <a:xfrm>
            <a:off x="6629400" y="4041648"/>
            <a:ext cx="621792" cy="62179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1066" y="4203314"/>
            <a:ext cx="298460" cy="2984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06640" y="41148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961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남의 글·사진 함부로 쓰기</a:t>
            </a:r>
            <a:endParaRPr lang="en-US" sz="1650" dirty="0"/>
          </a:p>
        </p:txBody>
      </p:sp>
      <p:sp>
        <p:nvSpPr>
          <p:cNvPr id="22" name="Text 16"/>
          <p:cNvSpPr/>
          <p:nvPr/>
        </p:nvSpPr>
        <p:spPr>
          <a:xfrm>
            <a:off x="6675120" y="4709160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사람의 글과 사진에는 주인이 있어요(저작권·초상권).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댓글을 쓰다가 화가 나면?  잠깐 멈추고, 숨 한 번 쉬고, 내일의 나라면 뭐라고 쓸지 생각해요.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올리기 전에!  좋은 댓글 자기점검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63040"/>
            <a:ext cx="7223760" cy="731520"/>
          </a:xfrm>
          <a:prstGeom prst="roundRect">
            <a:avLst>
              <a:gd name="adj" fmla="val 12500"/>
            </a:avLst>
          </a:prstGeom>
          <a:solidFill>
            <a:srgbClr val="E3F4F2"/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" y="1591056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467" y="1714683"/>
            <a:ext cx="228234" cy="22823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61848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내용과 관련된 말을 썼나요?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822960" y="2359152"/>
            <a:ext cx="7223760" cy="731520"/>
          </a:xfrm>
          <a:prstGeom prst="roundRect">
            <a:avLst>
              <a:gd name="adj" fmla="val 12500"/>
            </a:avLst>
          </a:prstGeom>
          <a:solidFill>
            <a:srgbClr val="F6FAF9"/>
          </a:solidFill>
          <a:ln/>
        </p:spPr>
      </p:sp>
      <p:sp>
        <p:nvSpPr>
          <p:cNvPr id="8" name="Shape 5"/>
          <p:cNvSpPr/>
          <p:nvPr/>
        </p:nvSpPr>
        <p:spPr>
          <a:xfrm>
            <a:off x="1005840" y="2487168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467" y="2610795"/>
            <a:ext cx="228234" cy="22823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91640" y="251460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생각과 까닭이 들어 있나요?</a:t>
            </a:r>
            <a:endParaRPr lang="en-US" sz="1550" dirty="0"/>
          </a:p>
        </p:txBody>
      </p:sp>
      <p:sp>
        <p:nvSpPr>
          <p:cNvPr id="11" name="Shape 7"/>
          <p:cNvSpPr/>
          <p:nvPr/>
        </p:nvSpPr>
        <p:spPr>
          <a:xfrm>
            <a:off x="822960" y="3255264"/>
            <a:ext cx="7223760" cy="731520"/>
          </a:xfrm>
          <a:prstGeom prst="roundRect">
            <a:avLst>
              <a:gd name="adj" fmla="val 12500"/>
            </a:avLst>
          </a:prstGeom>
          <a:solidFill>
            <a:srgbClr val="E3F4F2"/>
          </a:solidFill>
          <a:ln/>
        </p:spPr>
      </p:sp>
      <p:sp>
        <p:nvSpPr>
          <p:cNvPr id="12" name="Shape 8"/>
          <p:cNvSpPr/>
          <p:nvPr/>
        </p:nvSpPr>
        <p:spPr>
          <a:xfrm>
            <a:off x="1005840" y="3383280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467" y="3506907"/>
            <a:ext cx="228234" cy="22823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91640" y="3410712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친구의 생각을 넓힐 질문이나 제안이 있나요?</a:t>
            </a:r>
            <a:endParaRPr lang="en-US" sz="1550" dirty="0"/>
          </a:p>
        </p:txBody>
      </p:sp>
      <p:sp>
        <p:nvSpPr>
          <p:cNvPr id="15" name="Shape 10"/>
          <p:cNvSpPr/>
          <p:nvPr/>
        </p:nvSpPr>
        <p:spPr>
          <a:xfrm>
            <a:off x="822960" y="4151376"/>
            <a:ext cx="7223760" cy="731520"/>
          </a:xfrm>
          <a:prstGeom prst="roundRect">
            <a:avLst>
              <a:gd name="adj" fmla="val 12500"/>
            </a:avLst>
          </a:prstGeom>
          <a:solidFill>
            <a:srgbClr val="F6FAF9"/>
          </a:solidFill>
          <a:ln/>
        </p:spPr>
      </p:sp>
      <p:sp>
        <p:nvSpPr>
          <p:cNvPr id="16" name="Shape 11"/>
          <p:cNvSpPr/>
          <p:nvPr/>
        </p:nvSpPr>
        <p:spPr>
          <a:xfrm>
            <a:off x="1005840" y="4279392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9467" y="4403019"/>
            <a:ext cx="228234" cy="22823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91640" y="4306824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존중하는 표현을 사용했나요?</a:t>
            </a:r>
            <a:endParaRPr lang="en-US" sz="1550" dirty="0"/>
          </a:p>
        </p:txBody>
      </p:sp>
      <p:sp>
        <p:nvSpPr>
          <p:cNvPr id="19" name="Shape 13"/>
          <p:cNvSpPr/>
          <p:nvPr/>
        </p:nvSpPr>
        <p:spPr>
          <a:xfrm>
            <a:off x="822960" y="5047488"/>
            <a:ext cx="7223760" cy="731520"/>
          </a:xfrm>
          <a:prstGeom prst="roundRect">
            <a:avLst>
              <a:gd name="adj" fmla="val 12500"/>
            </a:avLst>
          </a:prstGeom>
          <a:solidFill>
            <a:srgbClr val="E3F4F2"/>
          </a:solidFill>
          <a:ln/>
        </p:spPr>
      </p:sp>
      <p:sp>
        <p:nvSpPr>
          <p:cNvPr id="20" name="Shape 14"/>
          <p:cNvSpPr/>
          <p:nvPr/>
        </p:nvSpPr>
        <p:spPr>
          <a:xfrm>
            <a:off x="1005840" y="5175504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9467" y="5299131"/>
            <a:ext cx="228234" cy="22823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91640" y="5202936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이해하기 쉽게 다시 읽어 보았나요?</a:t>
            </a:r>
            <a:endParaRPr lang="en-US" sz="1550" dirty="0"/>
          </a:p>
        </p:txBody>
      </p:sp>
      <p:sp>
        <p:nvSpPr>
          <p:cNvPr id="23" name="Shape 16"/>
          <p:cNvSpPr/>
          <p:nvPr/>
        </p:nvSpPr>
        <p:spPr>
          <a:xfrm>
            <a:off x="8321040" y="1463040"/>
            <a:ext cx="3017520" cy="4297680"/>
          </a:xfrm>
          <a:prstGeom prst="roundRect">
            <a:avLst>
              <a:gd name="adj" fmla="val 4242"/>
            </a:avLst>
          </a:prstGeom>
          <a:solidFill>
            <a:srgbClr val="065A6E"/>
          </a:solidFill>
          <a:ln/>
        </p:spPr>
      </p:sp>
      <p:sp>
        <p:nvSpPr>
          <p:cNvPr id="24" name="Shape 17"/>
          <p:cNvSpPr/>
          <p:nvPr/>
        </p:nvSpPr>
        <p:spPr>
          <a:xfrm>
            <a:off x="9464040" y="187452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4235" y="2064715"/>
            <a:ext cx="351130" cy="35113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8503920" y="288036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개 모두</a:t>
            </a:r>
            <a:endParaRPr lang="en-US" sz="1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체크되면</a:t>
            </a:r>
            <a:endParaRPr lang="en-US" sz="1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올려도 좋아요!</a:t>
            </a:r>
            <a:endParaRPr lang="en-US" sz="1700" dirty="0"/>
          </a:p>
        </p:txBody>
      </p:sp>
      <p:sp>
        <p:nvSpPr>
          <p:cNvPr id="27" name="Text 19"/>
          <p:cNvSpPr/>
          <p:nvPr/>
        </p:nvSpPr>
        <p:spPr>
          <a:xfrm>
            <a:off x="8503920" y="45720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E8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빠졌다면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E8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뒤에 올려요.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연습해 봐요 — 네티켓을 지킨 댓글은?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1051560"/>
          </a:xfrm>
          <a:prstGeom prst="roundRect">
            <a:avLst>
              <a:gd name="adj" fmla="val 10435"/>
            </a:avLst>
          </a:prstGeom>
          <a:solidFill>
            <a:srgbClr val="F1F4F5"/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" y="15544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6774" y="1697126"/>
            <a:ext cx="263347" cy="2633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1517904"/>
            <a:ext cx="9235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[기사]  일회용 플라스틱 사용, 다시 늘고 있다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737360" y="192024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우리나라의 일회용 플라스틱 사용량이 다시 늘고 있다는 조사 결과가 나왔어요.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22960" y="2743200"/>
            <a:ext cx="3291840" cy="2560320"/>
          </a:xfrm>
          <a:prstGeom prst="roundRect">
            <a:avLst>
              <a:gd name="adj" fmla="val 5000"/>
            </a:avLst>
          </a:prstGeom>
          <a:solidFill>
            <a:srgbClr val="F6F8F9"/>
          </a:solidFill>
          <a:ln w="12700">
            <a:solidFill>
              <a:srgbClr val="DDE5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97280" y="3017520"/>
            <a:ext cx="566928" cy="566928"/>
          </a:xfrm>
          <a:prstGeom prst="ellipse">
            <a:avLst/>
          </a:prstGeom>
          <a:solidFill>
            <a:srgbClr val="F9C846"/>
          </a:solidFill>
          <a:ln/>
        </p:spPr>
      </p:sp>
      <p:sp>
        <p:nvSpPr>
          <p:cNvPr id="10" name="Text 7"/>
          <p:cNvSpPr/>
          <p:nvPr/>
        </p:nvSpPr>
        <p:spPr>
          <a:xfrm>
            <a:off x="109728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115568" y="3767328"/>
            <a:ext cx="27066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“플라스틱 쓰는 사람들 다 이상한 거 아냐? 생각이 없네.”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434840" y="2743200"/>
            <a:ext cx="3291840" cy="2560320"/>
          </a:xfrm>
          <a:prstGeom prst="roundRect">
            <a:avLst>
              <a:gd name="adj" fmla="val 5000"/>
            </a:avLst>
          </a:prstGeom>
          <a:solidFill>
            <a:srgbClr val="F6F8F9"/>
          </a:solidFill>
          <a:ln w="12700">
            <a:solidFill>
              <a:srgbClr val="DDE5E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709160" y="3017520"/>
            <a:ext cx="566928" cy="566928"/>
          </a:xfrm>
          <a:prstGeom prst="ellipse">
            <a:avLst/>
          </a:prstGeom>
          <a:solidFill>
            <a:srgbClr val="F9C846"/>
          </a:solidFill>
          <a:ln/>
        </p:spPr>
      </p:sp>
      <p:sp>
        <p:nvSpPr>
          <p:cNvPr id="14" name="Text 11"/>
          <p:cNvSpPr/>
          <p:nvPr/>
        </p:nvSpPr>
        <p:spPr>
          <a:xfrm>
            <a:off x="470916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727448" y="3767328"/>
            <a:ext cx="27066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“나는 학교 매점에서 종이컵 대신 개인 컵을 쓰면 좋겠어요. 왜냐하면 우리가 매일 쓰는 컵부터 줄일 수 있기 때문이에요.”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046720" y="2743200"/>
            <a:ext cx="3291840" cy="2560320"/>
          </a:xfrm>
          <a:prstGeom prst="roundRect">
            <a:avLst>
              <a:gd name="adj" fmla="val 5000"/>
            </a:avLst>
          </a:prstGeom>
          <a:solidFill>
            <a:srgbClr val="F6F8F9"/>
          </a:solidFill>
          <a:ln w="12700">
            <a:solidFill>
              <a:srgbClr val="DDE5E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321040" y="3017520"/>
            <a:ext cx="566928" cy="566928"/>
          </a:xfrm>
          <a:prstGeom prst="ellipse">
            <a:avLst/>
          </a:prstGeom>
          <a:solidFill>
            <a:srgbClr val="F9C846"/>
          </a:solidFill>
          <a:ln/>
        </p:spPr>
      </p:sp>
      <p:sp>
        <p:nvSpPr>
          <p:cNvPr id="18" name="Text 15"/>
          <p:cNvSpPr/>
          <p:nvPr/>
        </p:nvSpPr>
        <p:spPr>
          <a:xfrm>
            <a:off x="832104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339328" y="3767328"/>
            <a:ext cx="27066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“맞아요 맞아요 맞아요 맞아요 맞아요”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짝과 이야기해 봐요:  어떤 댓글이 다섯 가지 약속을 지켰나요? 나머지는 무엇이 문제일까요?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22960" y="61264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노션 페이지를 열고, 오늘 기사에 직접 댓글을 달아 봐요!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5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554480"/>
            <a:ext cx="4023360" cy="4023360"/>
          </a:xfrm>
          <a:prstGeom prst="ellipse">
            <a:avLst/>
          </a:prstGeom>
          <a:solidFill>
            <a:srgbClr val="2C8A5B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" y="1234440"/>
            <a:ext cx="1005840" cy="1005840"/>
          </a:xfrm>
          <a:prstGeom prst="ellipse">
            <a:avLst/>
          </a:prstGeom>
          <a:solidFill>
            <a:srgbClr val="2C8A5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0198" y="1495958"/>
            <a:ext cx="482803" cy="48280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24871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9DF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 ②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868680" y="28803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신문기사 읽고 내 의견 쓰기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68680" y="388620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EF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읽고 → 생각하고 → 까닭까지 쓰고 → 노션 폼으로 제출해요.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68680" y="4800600"/>
            <a:ext cx="2468880" cy="685800"/>
          </a:xfrm>
          <a:prstGeom prst="roundRect">
            <a:avLst>
              <a:gd name="adj" fmla="val 46667"/>
            </a:avLst>
          </a:prstGeom>
          <a:solidFill>
            <a:srgbClr val="0E7487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48006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꼼꼼히 읽기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3566160" y="4800600"/>
            <a:ext cx="2468880" cy="685800"/>
          </a:xfrm>
          <a:prstGeom prst="roundRect">
            <a:avLst>
              <a:gd name="adj" fmla="val 46667"/>
            </a:avLst>
          </a:prstGeom>
          <a:solidFill>
            <a:srgbClr val="0E7487"/>
          </a:solidFill>
          <a:ln/>
        </p:spPr>
      </p:sp>
      <p:sp>
        <p:nvSpPr>
          <p:cNvPr id="11" name="Text 8"/>
          <p:cNvSpPr/>
          <p:nvPr/>
        </p:nvSpPr>
        <p:spPr>
          <a:xfrm>
            <a:off x="3566160" y="48006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내 생각 정하기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263640" y="4800600"/>
            <a:ext cx="2468880" cy="685800"/>
          </a:xfrm>
          <a:prstGeom prst="roundRect">
            <a:avLst>
              <a:gd name="adj" fmla="val 46667"/>
            </a:avLst>
          </a:prstGeom>
          <a:solidFill>
            <a:srgbClr val="0E7487"/>
          </a:solidFill>
          <a:ln/>
        </p:spPr>
      </p:sp>
      <p:sp>
        <p:nvSpPr>
          <p:cNvPr id="13" name="Text 10"/>
          <p:cNvSpPr/>
          <p:nvPr/>
        </p:nvSpPr>
        <p:spPr>
          <a:xfrm>
            <a:off x="6263640" y="48006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까닭까지 쓰기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8961120" y="4800600"/>
            <a:ext cx="2468880" cy="685800"/>
          </a:xfrm>
          <a:prstGeom prst="roundRect">
            <a:avLst>
              <a:gd name="adj" fmla="val 46667"/>
            </a:avLst>
          </a:prstGeom>
          <a:solidFill>
            <a:srgbClr val="0E7487"/>
          </a:solidFill>
          <a:ln/>
        </p:spPr>
      </p:sp>
      <p:sp>
        <p:nvSpPr>
          <p:cNvPr id="15" name="Text 12"/>
          <p:cNvSpPr/>
          <p:nvPr/>
        </p:nvSpPr>
        <p:spPr>
          <a:xfrm>
            <a:off x="8961120" y="48006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폼으로 제출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· 기사를 꼼꼼히 읽어요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육하원칙으로 확인해요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783080" cy="731520"/>
          </a:xfrm>
          <a:prstGeom prst="roundRect">
            <a:avLst>
              <a:gd name="adj" fmla="val 15000"/>
            </a:avLst>
          </a:prstGeom>
          <a:solidFill>
            <a:srgbClr val="E6F3E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88920" y="1920240"/>
            <a:ext cx="1783080" cy="731520"/>
          </a:xfrm>
          <a:prstGeom prst="roundRect">
            <a:avLst>
              <a:gd name="adj" fmla="val 15000"/>
            </a:avLst>
          </a:prstGeom>
          <a:solidFill>
            <a:srgbClr val="E6F3EC"/>
          </a:solidFill>
          <a:ln/>
        </p:spPr>
      </p:sp>
      <p:sp>
        <p:nvSpPr>
          <p:cNvPr id="7" name="Text 5"/>
          <p:cNvSpPr/>
          <p:nvPr/>
        </p:nvSpPr>
        <p:spPr>
          <a:xfrm>
            <a:off x="2788920" y="192024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754880" y="1920240"/>
            <a:ext cx="1783080" cy="731520"/>
          </a:xfrm>
          <a:prstGeom prst="roundRect">
            <a:avLst>
              <a:gd name="adj" fmla="val 15000"/>
            </a:avLst>
          </a:prstGeom>
          <a:solidFill>
            <a:srgbClr val="E6F3EC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92024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어디서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2834640"/>
            <a:ext cx="1783080" cy="731520"/>
          </a:xfrm>
          <a:prstGeom prst="roundRect">
            <a:avLst>
              <a:gd name="adj" fmla="val 15000"/>
            </a:avLst>
          </a:prstGeom>
          <a:solidFill>
            <a:srgbClr val="E6F3E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83464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788920" y="2834640"/>
            <a:ext cx="1783080" cy="731520"/>
          </a:xfrm>
          <a:prstGeom prst="roundRect">
            <a:avLst>
              <a:gd name="adj" fmla="val 15000"/>
            </a:avLst>
          </a:prstGeom>
          <a:solidFill>
            <a:srgbClr val="E6F3EC"/>
          </a:solidFill>
          <a:ln/>
        </p:spPr>
      </p:sp>
      <p:sp>
        <p:nvSpPr>
          <p:cNvPr id="13" name="Text 11"/>
          <p:cNvSpPr/>
          <p:nvPr/>
        </p:nvSpPr>
        <p:spPr>
          <a:xfrm>
            <a:off x="2788920" y="283464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754880" y="2834640"/>
            <a:ext cx="1783080" cy="731520"/>
          </a:xfrm>
          <a:prstGeom prst="roundRect">
            <a:avLst>
              <a:gd name="adj" fmla="val 15000"/>
            </a:avLst>
          </a:prstGeom>
          <a:solidFill>
            <a:srgbClr val="E6F3EC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283464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읽으면 좋아요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96112" y="4617720"/>
            <a:ext cx="146304" cy="146304"/>
          </a:xfrm>
          <a:prstGeom prst="ellipse">
            <a:avLst/>
          </a:prstGeom>
          <a:solidFill>
            <a:srgbClr val="2C8A5B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5262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제목과 사진을 먼저 보고 내용을 짐작해 봐요.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896112" y="5148072"/>
            <a:ext cx="146304" cy="146304"/>
          </a:xfrm>
          <a:prstGeom prst="ellipse">
            <a:avLst/>
          </a:prstGeom>
          <a:solidFill>
            <a:srgbClr val="2C8A5B"/>
          </a:solidFill>
          <a:ln/>
        </p:spPr>
      </p:sp>
      <p:sp>
        <p:nvSpPr>
          <p:cNvPr id="20" name="Text 18"/>
          <p:cNvSpPr/>
          <p:nvPr/>
        </p:nvSpPr>
        <p:spPr>
          <a:xfrm>
            <a:off x="1234440" y="5056632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중요한 문장에 밑줄을 그어요.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896112" y="5678424"/>
            <a:ext cx="146304" cy="146304"/>
          </a:xfrm>
          <a:prstGeom prst="ellipse">
            <a:avLst/>
          </a:prstGeom>
          <a:solidFill>
            <a:srgbClr val="2C8A5B"/>
          </a:solidFill>
          <a:ln/>
        </p:spPr>
      </p:sp>
      <p:sp>
        <p:nvSpPr>
          <p:cNvPr id="22" name="Text 20"/>
          <p:cNvSpPr/>
          <p:nvPr/>
        </p:nvSpPr>
        <p:spPr>
          <a:xfrm>
            <a:off x="1234440" y="5586984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모르는 낱말은 표시하고 뜻을 찾아봐요.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896112" y="6208776"/>
            <a:ext cx="146304" cy="146304"/>
          </a:xfrm>
          <a:prstGeom prst="ellipse">
            <a:avLst/>
          </a:prstGeom>
          <a:solidFill>
            <a:srgbClr val="2C8A5B"/>
          </a:solidFill>
          <a:ln/>
        </p:spPr>
      </p:sp>
      <p:sp>
        <p:nvSpPr>
          <p:cNvPr id="24" name="Text 22"/>
          <p:cNvSpPr/>
          <p:nvPr/>
        </p:nvSpPr>
        <p:spPr>
          <a:xfrm>
            <a:off x="1234440" y="6117336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숫자와 사실은 한 번 더 천천히 읽어요.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7635240" y="1371600"/>
            <a:ext cx="3703320" cy="4937760"/>
          </a:xfrm>
          <a:prstGeom prst="roundRect">
            <a:avLst>
              <a:gd name="adj" fmla="val 3457"/>
            </a:avLst>
          </a:prstGeom>
          <a:solidFill>
            <a:srgbClr val="F1F4F5"/>
          </a:solidFill>
          <a:ln/>
        </p:spPr>
      </p:sp>
      <p:sp>
        <p:nvSpPr>
          <p:cNvPr id="26" name="Shape 24"/>
          <p:cNvSpPr/>
          <p:nvPr/>
        </p:nvSpPr>
        <p:spPr>
          <a:xfrm>
            <a:off x="9052560" y="178308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66530" y="1997050"/>
            <a:ext cx="395021" cy="395021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7818120" y="28346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미션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7818120" y="333756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기사에서</a:t>
            </a:r>
            <a:endParaRPr lang="en-US" sz="15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핵심 문장 1개</a:t>
            </a:r>
            <a:endParaRPr lang="en-US" sz="15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새로 안 낱말 1개</a:t>
            </a:r>
            <a:endParaRPr lang="en-US" sz="15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궁금한 점 1개</a:t>
            </a:r>
            <a:endParaRPr lang="en-US" sz="15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찾아 봐요!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· 글쓴이의 생각과 내 생각을 비교해요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1097280"/>
          </a:xfrm>
          <a:prstGeom prst="roundRect">
            <a:avLst>
              <a:gd name="adj" fmla="val 10000"/>
            </a:avLst>
          </a:prstGeom>
          <a:solidFill>
            <a:srgbClr val="E6F3EC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169164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C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찾기:  </a:t>
            </a:r>
            <a:pPr indent="0" marL="0">
              <a:buNone/>
            </a:pPr>
            <a:r>
              <a:rPr lang="en-US" sz="165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기사(글쓴이)는 무엇을 말하고 싶은 걸까?  한 문장으로 말해 봐요.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그다음, 내 생각은 어느 쪽인가요?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33756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F6FAF9"/>
          </a:solidFill>
          <a:ln w="12700">
            <a:solidFill>
              <a:srgbClr val="D5E6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39696" y="3611880"/>
            <a:ext cx="658368" cy="658368"/>
          </a:xfrm>
          <a:prstGeom prst="ellipse">
            <a:avLst/>
          </a:prstGeom>
          <a:solidFill>
            <a:srgbClr val="E6F3E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0872" y="3783056"/>
            <a:ext cx="316017" cy="31601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43891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찬성해요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1078992" y="4828032"/>
            <a:ext cx="2779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“나도 그렇게 생각해요.”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부분에 동의하는지 찾아요.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434840" y="333756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F6FAF9"/>
          </a:solidFill>
          <a:ln w="12700">
            <a:solidFill>
              <a:srgbClr val="D5E6E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751576" y="3611880"/>
            <a:ext cx="658368" cy="658368"/>
          </a:xfrm>
          <a:prstGeom prst="ellipse">
            <a:avLst/>
          </a:prstGeom>
          <a:solidFill>
            <a:srgbClr val="E6F3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2752" y="3783056"/>
            <a:ext cx="316017" cy="31601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17720" y="43891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반대해요</a:t>
            </a:r>
            <a:endParaRPr lang="en-US" sz="1650" dirty="0"/>
          </a:p>
        </p:txBody>
      </p:sp>
      <p:sp>
        <p:nvSpPr>
          <p:cNvPr id="15" name="Text 11"/>
          <p:cNvSpPr/>
          <p:nvPr/>
        </p:nvSpPr>
        <p:spPr>
          <a:xfrm>
            <a:off x="4690872" y="4828032"/>
            <a:ext cx="2779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“나는 다르게 생각해요.”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부분이 다른지 찾아요.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333756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F6FAF9"/>
          </a:solidFill>
          <a:ln w="12700">
            <a:solidFill>
              <a:srgbClr val="D5E6E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363456" y="3611880"/>
            <a:ext cx="658368" cy="658368"/>
          </a:xfrm>
          <a:prstGeom prst="ellipse">
            <a:avLst/>
          </a:prstGeom>
          <a:solidFill>
            <a:srgbClr val="E6F3E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4632" y="3783056"/>
            <a:ext cx="316017" cy="31601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29600" y="43891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생각이 있어요</a:t>
            </a:r>
            <a:endParaRPr lang="en-US" sz="1650" dirty="0"/>
          </a:p>
        </p:txBody>
      </p:sp>
      <p:sp>
        <p:nvSpPr>
          <p:cNvPr id="20" name="Text 15"/>
          <p:cNvSpPr/>
          <p:nvPr/>
        </p:nvSpPr>
        <p:spPr>
          <a:xfrm>
            <a:off x="8302752" y="4828032"/>
            <a:ext cx="2779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“이런 방법은 어때요?”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질문이나 다른 해결책을 떠올려요.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쪽이든 괜찮아요. 중요한 것은 ‘왜 그렇게 생각하는가’예요.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· 까닭까지 써야 진짜 의견!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10515600" cy="1371600"/>
          </a:xfrm>
          <a:prstGeom prst="roundRect">
            <a:avLst>
              <a:gd name="adj" fmla="val 9333"/>
            </a:avLst>
          </a:prstGeom>
          <a:solidFill>
            <a:srgbClr val="065A6E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0" y="182880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나는 </a:t>
            </a:r>
            <a:pPr algn="ctr" indent="0" marL="0">
              <a:buNone/>
            </a:pPr>
            <a:r>
              <a:rPr lang="en-US" sz="1900" b="1" dirty="0">
                <a:solidFill>
                  <a:srgbClr val="F9C8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____________</a:t>
            </a:r>
            <a:pPr algn="ctr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라고 생각합니다.  왜냐하면 </a:t>
            </a:r>
            <a:pPr algn="ctr" indent="0" marL="0">
              <a:buNone/>
            </a:pPr>
            <a:r>
              <a:rPr lang="en-US" sz="1900" b="1" dirty="0">
                <a:solidFill>
                  <a:srgbClr val="F9C8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____________</a:t>
            </a:r>
            <a:pPr algn="ctr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이기 때문입니다.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까닭은 어디에서 찾을까요?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794760"/>
            <a:ext cx="3291840" cy="2468880"/>
          </a:xfrm>
          <a:prstGeom prst="roundRect">
            <a:avLst>
              <a:gd name="adj" fmla="val 5185"/>
            </a:avLst>
          </a:prstGeom>
          <a:solidFill>
            <a:srgbClr val="E6F3EC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404164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9926" y="4184294"/>
            <a:ext cx="263347" cy="26334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83080" y="411480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속 사실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115568" y="4754880"/>
            <a:ext cx="27066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기사에 나온 숫자, 사례, 전문가의 말을 까닭으로 써요.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15568" y="5577840"/>
            <a:ext cx="2706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C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“기사에서 사고가 30% 늘었다고 했기 때문에”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34840" y="3794760"/>
            <a:ext cx="3291840" cy="2468880"/>
          </a:xfrm>
          <a:prstGeom prst="roundRect">
            <a:avLst>
              <a:gd name="adj" fmla="val 5185"/>
            </a:avLst>
          </a:prstGeom>
          <a:solidFill>
            <a:srgbClr val="E6F3EC"/>
          </a:solidFill>
          <a:ln/>
        </p:spPr>
      </p:sp>
      <p:sp>
        <p:nvSpPr>
          <p:cNvPr id="13" name="Shape 10"/>
          <p:cNvSpPr/>
          <p:nvPr/>
        </p:nvSpPr>
        <p:spPr>
          <a:xfrm>
            <a:off x="4709160" y="404164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1806" y="4184294"/>
            <a:ext cx="263347" cy="26334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394960" y="411480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나의 경험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4727448" y="4754880"/>
            <a:ext cx="27066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직접 보고 겪은 일을 까닭으로 써요.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4727448" y="5577840"/>
            <a:ext cx="2706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C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“나도 등굣길에 위험했던 적이 있기 때문에”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8046720" y="3794760"/>
            <a:ext cx="3291840" cy="2468880"/>
          </a:xfrm>
          <a:prstGeom prst="roundRect">
            <a:avLst>
              <a:gd name="adj" fmla="val 5185"/>
            </a:avLst>
          </a:prstGeom>
          <a:solidFill>
            <a:srgbClr val="E6F3EC"/>
          </a:solidFill>
          <a:ln/>
        </p:spPr>
      </p:sp>
      <p:sp>
        <p:nvSpPr>
          <p:cNvPr id="19" name="Shape 15"/>
          <p:cNvSpPr/>
          <p:nvPr/>
        </p:nvSpPr>
        <p:spPr>
          <a:xfrm>
            <a:off x="8321040" y="404164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3686" y="4184294"/>
            <a:ext cx="263347" cy="263347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006840" y="411480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내용·다른 자료</a:t>
            </a:r>
            <a:endParaRPr lang="en-US" sz="1550" dirty="0"/>
          </a:p>
        </p:txBody>
      </p:sp>
      <p:sp>
        <p:nvSpPr>
          <p:cNvPr id="22" name="Text 17"/>
          <p:cNvSpPr/>
          <p:nvPr/>
        </p:nvSpPr>
        <p:spPr>
          <a:xfrm>
            <a:off x="8339328" y="4754880"/>
            <a:ext cx="27066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시간에 배운 것, 책에서 읽은 것을 까닭으로 써요.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339328" y="5577840"/>
            <a:ext cx="2706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C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“사회 시간에 안전 규칙을 배웠는데…”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의견 글, 이렇게 완성해요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68680" y="1508760"/>
            <a:ext cx="603504" cy="603504"/>
          </a:xfrm>
          <a:prstGeom prst="ellipse">
            <a:avLst/>
          </a:prstGeom>
          <a:solidFill>
            <a:srgbClr val="2C8A5B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5087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691640" y="14630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내용 한 줄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691640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무엇에 대한 기사인지 짧게 써요.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1161288" y="2148840"/>
            <a:ext cx="0" cy="502920"/>
          </a:xfrm>
          <a:prstGeom prst="line">
            <a:avLst/>
          </a:prstGeom>
          <a:noFill/>
          <a:ln w="25400">
            <a:solidFill>
              <a:srgbClr val="BFD8D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868680" y="2697480"/>
            <a:ext cx="603504" cy="603504"/>
          </a:xfrm>
          <a:prstGeom prst="ellipse">
            <a:avLst/>
          </a:prstGeom>
          <a:solidFill>
            <a:srgbClr val="2C8A5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6974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91640" y="2651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나의 의견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691640" y="30632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“나는 …라고 생각합니다.”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161288" y="3337560"/>
            <a:ext cx="0" cy="502920"/>
          </a:xfrm>
          <a:prstGeom prst="line">
            <a:avLst/>
          </a:prstGeom>
          <a:noFill/>
          <a:ln w="25400">
            <a:solidFill>
              <a:srgbClr val="BFD8D0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868680" y="3886200"/>
            <a:ext cx="603504" cy="603504"/>
          </a:xfrm>
          <a:prstGeom prst="ellipse">
            <a:avLst/>
          </a:prstGeom>
          <a:solidFill>
            <a:srgbClr val="2C8A5B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8862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91640" y="38404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까닭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691640" y="42519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“왜냐하면 …이기 때문입니다.”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1161288" y="4526280"/>
            <a:ext cx="0" cy="502920"/>
          </a:xfrm>
          <a:prstGeom prst="line">
            <a:avLst/>
          </a:prstGeom>
          <a:noFill/>
          <a:ln w="25400">
            <a:solidFill>
              <a:srgbClr val="BFD8D0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868680" y="5074920"/>
            <a:ext cx="603504" cy="603504"/>
          </a:xfrm>
          <a:prstGeom prst="ellipse">
            <a:avLst/>
          </a:prstGeom>
          <a:solidFill>
            <a:srgbClr val="2C8A5B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0749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691640" y="50292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제안이나 질문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91640" y="54406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“…하면 어떨까요?” 로 마무리해요.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309360" y="1463040"/>
            <a:ext cx="5029200" cy="4754880"/>
          </a:xfrm>
          <a:prstGeom prst="roundRect">
            <a:avLst>
              <a:gd name="adj" fmla="val 2692"/>
            </a:avLst>
          </a:prstGeom>
          <a:solidFill>
            <a:srgbClr val="F6FAF9"/>
          </a:solidFill>
          <a:ln w="12700">
            <a:solidFill>
              <a:srgbClr val="D5E6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29400" y="178308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글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629400" y="2286000"/>
            <a:ext cx="43891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2C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 앞 어린이 교통사고가 늘었다는 기사를 읽었습니다.
</a:t>
            </a:r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2C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나는 학교 앞에 신호등과 안전 표지판이 더 필요하다고 생각합니다.
</a:t>
            </a:r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2C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</a:t>
            </a:r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왜냐하면 기사에서 사고가 작년보다 늘었다고 했고, 나도 등굣길에 차가 빨리 달려서 놀란 적이 있기 때문입니다.
</a:t>
            </a:r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2C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</a:t>
            </a:r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반부터 등굣길 안전 지도를 만들어 보면 어떨까요?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 · 노션 폼으로 제출해요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2468880" cy="2834640"/>
          </a:xfrm>
          <a:prstGeom prst="roundRect">
            <a:avLst>
              <a:gd name="adj" fmla="val 5185"/>
            </a:avLst>
          </a:prstGeom>
          <a:solidFill>
            <a:srgbClr val="E3F4F2"/>
          </a:solidFill>
          <a:ln/>
        </p:spPr>
      </p:sp>
      <p:sp>
        <p:nvSpPr>
          <p:cNvPr id="4" name="Shape 2"/>
          <p:cNvSpPr/>
          <p:nvPr/>
        </p:nvSpPr>
        <p:spPr>
          <a:xfrm>
            <a:off x="1691640" y="178308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7205" y="1958645"/>
            <a:ext cx="380390" cy="3803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2697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폼 열기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042416" y="3154680"/>
            <a:ext cx="20299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페이지에 있는 ‘의견쓰기’ 폼을 열어요.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218688" y="27432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520440" y="1554480"/>
            <a:ext cx="2468880" cy="2834640"/>
          </a:xfrm>
          <a:prstGeom prst="roundRect">
            <a:avLst>
              <a:gd name="adj" fmla="val 5185"/>
            </a:avLst>
          </a:prstGeom>
          <a:solidFill>
            <a:srgbClr val="E3F4F2"/>
          </a:solidFill>
          <a:ln/>
        </p:spPr>
      </p:sp>
      <p:sp>
        <p:nvSpPr>
          <p:cNvPr id="10" name="Shape 7"/>
          <p:cNvSpPr/>
          <p:nvPr/>
        </p:nvSpPr>
        <p:spPr>
          <a:xfrm>
            <a:off x="4389120" y="178308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4685" y="1958645"/>
            <a:ext cx="380390" cy="38039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03320" y="2697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내 번호 선택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3739896" y="3154680"/>
            <a:ext cx="20299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목록에서 내 학생 번호를 ‘선택’해요. 직접 쓰지 않아요!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5916168" y="27432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6217920" y="1554480"/>
            <a:ext cx="2468880" cy="2834640"/>
          </a:xfrm>
          <a:prstGeom prst="roundRect">
            <a:avLst>
              <a:gd name="adj" fmla="val 5185"/>
            </a:avLst>
          </a:prstGeom>
          <a:solidFill>
            <a:srgbClr val="E3F4F2"/>
          </a:solidFill>
          <a:ln/>
        </p:spPr>
      </p:sp>
      <p:sp>
        <p:nvSpPr>
          <p:cNvPr id="16" name="Shape 12"/>
          <p:cNvSpPr/>
          <p:nvPr/>
        </p:nvSpPr>
        <p:spPr>
          <a:xfrm>
            <a:off x="7086600" y="178308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2165" y="1958645"/>
            <a:ext cx="380390" cy="38039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00800" y="2697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기사 선택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6437376" y="3154680"/>
            <a:ext cx="20299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읽은 기사를 목록에서 골라요.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8613648" y="27432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E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6"/>
          <p:cNvSpPr/>
          <p:nvPr/>
        </p:nvSpPr>
        <p:spPr>
          <a:xfrm>
            <a:off x="8915400" y="1554480"/>
            <a:ext cx="2468880" cy="2834640"/>
          </a:xfrm>
          <a:prstGeom prst="roundRect">
            <a:avLst>
              <a:gd name="adj" fmla="val 5185"/>
            </a:avLst>
          </a:prstGeom>
          <a:solidFill>
            <a:srgbClr val="E3F4F2"/>
          </a:solidFill>
          <a:ln/>
        </p:spPr>
      </p:sp>
      <p:sp>
        <p:nvSpPr>
          <p:cNvPr id="22" name="Shape 17"/>
          <p:cNvSpPr/>
          <p:nvPr/>
        </p:nvSpPr>
        <p:spPr>
          <a:xfrm>
            <a:off x="9784080" y="178308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9645" y="1958645"/>
            <a:ext cx="380390" cy="38039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098280" y="2697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6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의견 쓰고 제출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9134856" y="3154680"/>
            <a:ext cx="20299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완성한 의견 글을 붙여 넣고 제출 버튼을 눌러요.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822960" y="475488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FFF6DE"/>
          </a:solidFill>
          <a:ln/>
        </p:spPr>
      </p:sp>
      <p:sp>
        <p:nvSpPr>
          <p:cNvPr id="27" name="Shape 21"/>
          <p:cNvSpPr/>
          <p:nvPr/>
        </p:nvSpPr>
        <p:spPr>
          <a:xfrm>
            <a:off x="1051560" y="502920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8961" y="5176601"/>
            <a:ext cx="272125" cy="272125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828800" y="4956048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A61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전에 꼭 확인!</a:t>
            </a:r>
            <a:endParaRPr lang="en-US" sz="1550" dirty="0"/>
          </a:p>
        </p:txBody>
      </p:sp>
      <p:sp>
        <p:nvSpPr>
          <p:cNvPr id="30" name="Text 23"/>
          <p:cNvSpPr/>
          <p:nvPr/>
        </p:nvSpPr>
        <p:spPr>
          <a:xfrm>
            <a:off x="1828800" y="539496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자기점검 다섯 가지를 통과했나요?   ② 내 번호와 기사를 바르게 골랐나요?  (잘못 고르면 제출해도 ‘미제출’로 보여요)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5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선생님은 이렇게 읽어요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D8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점수보다 여러분의 ‘생각’을 봐요.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0E7487"/>
          </a:solidFill>
          <a:ln/>
        </p:spPr>
      </p:sp>
      <p:sp>
        <p:nvSpPr>
          <p:cNvPr id="5" name="Shape 3"/>
          <p:cNvSpPr/>
          <p:nvPr/>
        </p:nvSpPr>
        <p:spPr>
          <a:xfrm>
            <a:off x="2139696" y="2286000"/>
            <a:ext cx="658368" cy="65836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0872" y="2457176"/>
            <a:ext cx="316017" cy="3160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3063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이해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097280" y="35204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7EF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기사의 핵심 내용을 내 말로 말했나요?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34840" y="201168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0E7487"/>
          </a:solidFill>
          <a:ln/>
        </p:spPr>
      </p:sp>
      <p:sp>
        <p:nvSpPr>
          <p:cNvPr id="10" name="Shape 7"/>
          <p:cNvSpPr/>
          <p:nvPr/>
        </p:nvSpPr>
        <p:spPr>
          <a:xfrm>
            <a:off x="5751576" y="2286000"/>
            <a:ext cx="658368" cy="65836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2752" y="2457176"/>
            <a:ext cx="316017" cy="31601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7720" y="3063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생각 연결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709160" y="35204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7EF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기사와 내 경험·생각을 까닭으로 연결했나요?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201168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0E7487"/>
          </a:solidFill>
          <a:ln/>
        </p:spPr>
      </p:sp>
      <p:sp>
        <p:nvSpPr>
          <p:cNvPr id="15" name="Shape 11"/>
          <p:cNvSpPr/>
          <p:nvPr/>
        </p:nvSpPr>
        <p:spPr>
          <a:xfrm>
            <a:off x="9363456" y="2286000"/>
            <a:ext cx="658368" cy="65836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4632" y="2457176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29600" y="3063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생각 표현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321040" y="35204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7EF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존중하는 말로, 알기 쉽게 표현했나요?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822960" y="4846320"/>
            <a:ext cx="10515600" cy="1234440"/>
          </a:xfrm>
          <a:prstGeom prst="roundRect">
            <a:avLst>
              <a:gd name="adj" fmla="val 10370"/>
            </a:avLst>
          </a:prstGeom>
          <a:solidFill>
            <a:srgbClr val="F9C846"/>
          </a:solidFill>
          <a:ln/>
        </p:spPr>
      </p:sp>
      <p:sp>
        <p:nvSpPr>
          <p:cNvPr id="20" name="Text 15"/>
          <p:cNvSpPr/>
          <p:nvPr/>
        </p:nvSpPr>
        <p:spPr>
          <a:xfrm>
            <a:off x="1097280" y="519379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634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다짐:  “나는 존중하는 말로, 까닭 있는 의견을 씁니다.”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2026-08-22T00:48:22Z</dcterms:created>
  <dcterms:modified xsi:type="dcterms:W3CDTF">2026-08-22T00:48:22Z</dcterms:modified>
</cp:coreProperties>
</file>