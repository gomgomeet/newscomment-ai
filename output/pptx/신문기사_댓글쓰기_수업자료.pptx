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bcbda59ad4b9e" /><Relationship Type="http://schemas.openxmlformats.org/officeDocument/2006/relationships/extended-properties" Target="/docProps/app.xml" Id="R142f0452eb3f413e" /><Relationship Type="http://schemas.openxmlformats.org/officeDocument/2006/relationships/officeDocument" Target="/ppt/presentation.xml" Id="R0cbeededcd8b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13c4c412814b28"/>
  </p:sldMasterIdLst>
  <p:notesMasterIdLst>
    <p:notesMasterId xmlns:r="http://schemas.openxmlformats.org/officeDocument/2006/relationships" r:id="R65df8ac5338c4ebf"/>
  </p:notesMasterIdLst>
  <p:sldIdLst>
    <p:sldId xmlns:r="http://schemas.openxmlformats.org/officeDocument/2006/relationships" id="256" r:id="Rca8fdee5d1744340"/>
    <p:sldId xmlns:r="http://schemas.openxmlformats.org/officeDocument/2006/relationships" id="257" r:id="Re7b99a28aad64369"/>
    <p:sldId xmlns:r="http://schemas.openxmlformats.org/officeDocument/2006/relationships" id="258" r:id="R3ad48c20b7cb4c5b"/>
    <p:sldId xmlns:r="http://schemas.openxmlformats.org/officeDocument/2006/relationships" id="259" r:id="R15b196ba0349416f"/>
    <p:sldId xmlns:r="http://schemas.openxmlformats.org/officeDocument/2006/relationships" id="260" r:id="R05eff03b1e624c0e"/>
    <p:sldId xmlns:r="http://schemas.openxmlformats.org/officeDocument/2006/relationships" id="261" r:id="Re8b62471b4c44dbb"/>
    <p:sldId xmlns:r="http://schemas.openxmlformats.org/officeDocument/2006/relationships" id="262" r:id="R1c9270f7219c4e61"/>
    <p:sldId xmlns:r="http://schemas.openxmlformats.org/officeDocument/2006/relationships" id="263" r:id="R02860f8c4c7c48da"/>
    <p:sldId xmlns:r="http://schemas.openxmlformats.org/officeDocument/2006/relationships" id="264" r:id="R54c2720304f84445"/>
    <p:sldId xmlns:r="http://schemas.openxmlformats.org/officeDocument/2006/relationships" id="265" r:id="R30bdb2419aeb4082"/>
    <p:sldId xmlns:r="http://schemas.openxmlformats.org/officeDocument/2006/relationships" id="266" r:id="R5bd6d6dfa2af43b7"/>
    <p:sldId xmlns:r="http://schemas.openxmlformats.org/officeDocument/2006/relationships" id="267" r:id="R952b269c0fc24a4d"/>
    <p:sldId xmlns:r="http://schemas.openxmlformats.org/officeDocument/2006/relationships" id="268" r:id="R68785a426ddb49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f70621b505407e" /><Relationship Type="http://schemas.openxmlformats.org/officeDocument/2006/relationships/slideMaster" Target="/ppt/slideMasters/slideMaster1.xml" Id="R2b13c4c412814b28" /><Relationship Type="http://schemas.openxmlformats.org/officeDocument/2006/relationships/notesMaster" Target="/ppt/notesMasters/notesMaster1.xml" Id="R65df8ac5338c4ebf" /><Relationship Type="http://schemas.openxmlformats.org/officeDocument/2006/relationships/presProps" Target="/ppt/presProps.xml" Id="Rd6ee4a2f8208495e" /><Relationship Type="http://schemas.openxmlformats.org/officeDocument/2006/relationships/tableStyles" Target="/ppt/tableStyles.xml" Id="Rb4b5a37c4fe14c5b" /><Relationship Type="http://schemas.openxmlformats.org/officeDocument/2006/relationships/slide" Target="/ppt/slides/slide1.xml" Id="Rca8fdee5d1744340" /><Relationship Type="http://schemas.openxmlformats.org/officeDocument/2006/relationships/slide" Target="/ppt/slides/slide2.xml" Id="Re7b99a28aad64369" /><Relationship Type="http://schemas.openxmlformats.org/officeDocument/2006/relationships/slide" Target="/ppt/slides/slide3.xml" Id="R3ad48c20b7cb4c5b" /><Relationship Type="http://schemas.openxmlformats.org/officeDocument/2006/relationships/slide" Target="/ppt/slides/slide4.xml" Id="R15b196ba0349416f" /><Relationship Type="http://schemas.openxmlformats.org/officeDocument/2006/relationships/slide" Target="/ppt/slides/slide5.xml" Id="R05eff03b1e624c0e" /><Relationship Type="http://schemas.openxmlformats.org/officeDocument/2006/relationships/slide" Target="/ppt/slides/slide6.xml" Id="Re8b62471b4c44dbb" /><Relationship Type="http://schemas.openxmlformats.org/officeDocument/2006/relationships/slide" Target="/ppt/slides/slide7.xml" Id="R1c9270f7219c4e61" /><Relationship Type="http://schemas.openxmlformats.org/officeDocument/2006/relationships/slide" Target="/ppt/slides/slide8.xml" Id="R02860f8c4c7c48da" /><Relationship Type="http://schemas.openxmlformats.org/officeDocument/2006/relationships/slide" Target="/ppt/slides/slide9.xml" Id="R54c2720304f84445" /><Relationship Type="http://schemas.openxmlformats.org/officeDocument/2006/relationships/slide" Target="/ppt/slides/slide10.xml" Id="R30bdb2419aeb4082" /><Relationship Type="http://schemas.openxmlformats.org/officeDocument/2006/relationships/slide" Target="/ppt/slides/slide11.xml" Id="R5bd6d6dfa2af43b7" /><Relationship Type="http://schemas.openxmlformats.org/officeDocument/2006/relationships/slide" Target="/ppt/slides/slide12.xml" Id="R952b269c0fc24a4d" /><Relationship Type="http://schemas.openxmlformats.org/officeDocument/2006/relationships/slide" Target="/ppt/slides/slide13.xml" Id="R68785a426ddb49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2d27958623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8a4eeee7a642c2" /><Relationship Type="http://schemas.openxmlformats.org/officeDocument/2006/relationships/notesMaster" Target="/ppt/notesMasters/notesMaster1.xml" Id="R265221c8f439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60f5066394dc4" /><Relationship Type="http://schemas.openxmlformats.org/officeDocument/2006/relationships/notesMaster" Target="/ppt/notesMasters/notesMaster1.xml" Id="Rca7ef7e582c8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6e4257b1914d4d" /><Relationship Type="http://schemas.openxmlformats.org/officeDocument/2006/relationships/notesMaster" Target="/ppt/notesMasters/notesMaster1.xml" Id="Re5a68200ee134e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f1736955d49b0" /><Relationship Type="http://schemas.openxmlformats.org/officeDocument/2006/relationships/notesMaster" Target="/ppt/notesMasters/notesMaster1.xml" Id="R3c132e30fbe24f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e4363819d4711" /><Relationship Type="http://schemas.openxmlformats.org/officeDocument/2006/relationships/notesMaster" Target="/ppt/notesMasters/notesMaster1.xml" Id="Rf14067f7810d4c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da0d9aac8147e9" /><Relationship Type="http://schemas.openxmlformats.org/officeDocument/2006/relationships/notesMaster" Target="/ppt/notesMasters/notesMaster1.xml" Id="R451f67d5fe5342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6f23c73b5e46b6" /><Relationship Type="http://schemas.openxmlformats.org/officeDocument/2006/relationships/notesMaster" Target="/ppt/notesMasters/notesMaster1.xml" Id="R60930619349847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bde68a1d30442f" /><Relationship Type="http://schemas.openxmlformats.org/officeDocument/2006/relationships/notesMaster" Target="/ppt/notesMasters/notesMaster1.xml" Id="Ra00dd2bc245f42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410e108526438f" /><Relationship Type="http://schemas.openxmlformats.org/officeDocument/2006/relationships/notesMaster" Target="/ppt/notesMasters/notesMaster1.xml" Id="R6ad276ccbcbf40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7b41ceac37444f" /><Relationship Type="http://schemas.openxmlformats.org/officeDocument/2006/relationships/notesMaster" Target="/ppt/notesMasters/notesMaster1.xml" Id="Rbb23e9909bc44e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52f7d9b9f74cef" /><Relationship Type="http://schemas.openxmlformats.org/officeDocument/2006/relationships/notesMaster" Target="/ppt/notesMasters/notesMaster1.xml" Id="R15e99cc81d344d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0cb93ee0ee4650" /><Relationship Type="http://schemas.openxmlformats.org/officeDocument/2006/relationships/notesMaster" Target="/ppt/notesMasters/notesMaster1.xml" Id="R2d123606e35347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ad1f03c44d4b32" /><Relationship Type="http://schemas.openxmlformats.org/officeDocument/2006/relationships/notesMaster" Target="/ppt/notesMasters/notesMaster1.xml" Id="R813c88f0fcbd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수업의 목표를 제시합니다. 댓글은 온라인 반응이면서 동시에 짧은 주장 글이라는 점을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활동의 큰 흐름을 안내합니다. 평가도 이 세 가지 흐름에서 나온다는 점을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댓글의 내용 조건과 태도 조건을 구분합니다. 온라인 글쓰기 윤리와 연결해 설명할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기사 읽기에서 길을 잃지 않도록 세 질문을 제시합니다. 짧은 기사에도 같은 질문을 적용하게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실제 댓글을 시작할 수 있도록 문장 틀을 제공합니다. 학년 수준에 맞게 문장 수를 줄이거나 늘릴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예시를 비교하며 학생에게 어떤 점이 나아졌는지 말하게 합니다. 실제 수업 기사에 맞춰 예시를 바꿔도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앞서 자동 생성한 평가 리브릭의 핵심 요소를 학생용 언어로 바꾼 슬라이드입니다.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스스로 점검한 뒤 제출하도록 합니다. 종이 활동지나 온라인 제출 전 체크리스트로 옮겨도 좋습니다.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활동과 짝 피드백을 포함한 수업 흐름입니다. 시간이 짧으면 읽기-쓰기-점검의 3단계로 줄일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슬라이드입니다. 학생들이 댓글을 책임 있는 시민적 표현으로 이해하도록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연수생에게 Notion 활용 목적을 먼저 안내합니다. 도구 사용법 자체보다 수업 흐름을 구조화하는 데 초점을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연수생이 직접 Notion Form 또는 데이터베이스 입력 양식을 만들 때 넣을 수 있는 필드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 설계는 필드 이름, 속성 유형, 수업에서의 활용 목적을 함께 생각하게 합니다. 연수생이 자기 수업에 맞게 속성을 줄이거나 바꾸도록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2022 개정 국어과 교육과정: 신문기사·매체 자료 읽기, 사실과 의견 구분, 근거 있는 주장 쓰기 관련 성취기준 반영.</a:t>
            </a:r>
          </a:p>
          <a:p xmlns:a="http://schemas.openxmlformats.org/drawingml/2006/main">
            <a:r>
              <a:t>2022 개정 사회과 교육과정: 미디어 비판적 분석, 사회문제 탐구, 시민적 관점 관련 성취기준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62d8521534f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c5ac719a984a14" /><Relationship Type="http://schemas.openxmlformats.org/officeDocument/2006/relationships/slideLayout" Target="/ppt/slideLayouts/slideLayout1.xml" Id="R46ee3efd3f3e45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e3efd3f3e45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4e7e2d23d4d47" /><Relationship Type="http://schemas.openxmlformats.org/officeDocument/2006/relationships/notesSlide" Target="/ppt/notesSlides/notesSlide1.xml" Id="Rc30a7ae0d50341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22c809fab4b5a" /><Relationship Type="http://schemas.openxmlformats.org/officeDocument/2006/relationships/notesSlide" Target="/ppt/notesSlides/notesSlide2.xml" Id="Rd153ce13a07f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9a7d5ba9c46e0" /><Relationship Type="http://schemas.openxmlformats.org/officeDocument/2006/relationships/notesSlide" Target="/ppt/notesSlides/notesSlide3.xml" Id="Re8edc067edab4a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33c375d8345c6" /><Relationship Type="http://schemas.openxmlformats.org/officeDocument/2006/relationships/notesSlide" Target="/ppt/notesSlides/notesSlide4.xml" Id="R490a75ff0e51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baa466a01455a" /><Relationship Type="http://schemas.openxmlformats.org/officeDocument/2006/relationships/notesSlide" Target="/ppt/notesSlides/notesSlide5.xml" Id="R0bccf4fff94441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a21a2a601452f" /><Relationship Type="http://schemas.openxmlformats.org/officeDocument/2006/relationships/notesSlide" Target="/ppt/notesSlides/notesSlide6.xml" Id="Rffef297048f545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0777bf6a84e8d" /><Relationship Type="http://schemas.openxmlformats.org/officeDocument/2006/relationships/notesSlide" Target="/ppt/notesSlides/notesSlide7.xml" Id="R27113fcc212841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c73eabcb54da5" /><Relationship Type="http://schemas.openxmlformats.org/officeDocument/2006/relationships/notesSlide" Target="/ppt/notesSlides/notesSlide8.xml" Id="R236c9fd4eb8241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336c6fedd43b5" /><Relationship Type="http://schemas.openxmlformats.org/officeDocument/2006/relationships/notesSlide" Target="/ppt/notesSlides/notesSlide9.xml" Id="R6e56b8e4039142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258143d544b63" /><Relationship Type="http://schemas.openxmlformats.org/officeDocument/2006/relationships/notesSlide" Target="/ppt/notesSlides/notesSlide10.xml" Id="R95b36b27287141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a4799a98e4261" /><Relationship Type="http://schemas.openxmlformats.org/officeDocument/2006/relationships/notesSlide" Target="/ppt/notesSlides/notesSlide11.xml" Id="R79a3436584e34d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0c24b32fa4334" /><Relationship Type="http://schemas.openxmlformats.org/officeDocument/2006/relationships/notesSlide" Target="/ppt/notesSlides/notesSlide12.xml" Id="Ra1a75303153e4a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633450ae44a29" /><Relationship Type="http://schemas.openxmlformats.org/officeDocument/2006/relationships/notesSlide" Target="/ppt/notesSlides/notesSlide13.xml" Id="Ra66e8c5e67e641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BE214-5CEF-411B-BCD9-797E5D61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신문기사에</a:t>
            </a:r>
          </a:p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내 의견을 댓글로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9D504-E457-467A-8A3D-58B25A8F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읽고 · 판단하고 · 근거 있게 표현하기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DA1EE-00B9-4919-A37C-47AD4E4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35814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BDC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57B8D-657D-4A86-AD0A-A556D383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좋은 댓글은</a:t>
            </a:r>
          </a:p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짧은 감상이 아니라</a:t>
            </a:r>
          </a:p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생각이 보이는 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A5EC3-0C78-455E-BF6B-19D507D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96273"/>
                </a:solidFill>
                <a:latin typeface="Arial"/>
                <a:ea typeface="Arial"/>
                <a:cs typeface="Arial"/>
              </a:rPr>
              <a:t>수업 활동 안내</a:t>
            </a:r>
          </a:p>
        </p:txBody>
      </p:sp>
    </p:spTree>
    <p:extLst>
      <p:ext uri="{BB962C8B-B14F-4D97-AF65-F5344CB8AC3E}">
        <p14:creationId xmlns:p14="http://schemas.microsoft.com/office/powerpoint/2010/main" val="1083269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DB26C-9468-4941-962A-04E54314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학습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87EC8-F187-4C8C-9BBD-AD134781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오늘은 세 가지를 연습합니다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79808-6487-47E2-9732-3668483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5C4C-DCB9-4DA3-9222-33307FA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C601-27AE-4B12-A801-A19B44F7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기사의 핵심을 파악하기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24BF2-73EC-4A78-86CC-A98BCFF7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무슨 일이 있었고, 왜 중요한지 정리합니다.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8C714-0BD6-456D-804B-4D431BA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F9F80-027E-4554-B3EA-CB7B54F2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0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내 생각을 분명히 세우기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D8E34-4403-4963-97A8-B0BF18A2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찬성·반대보다 먼저 이유를 생각합니다.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E4B82-8C99-46DD-842B-7C8D8A10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68B32-EBAF-4716-8C69-06BBA26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 있는 댓글 쓰기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A9B58-5E38-4FD2-8DDD-FB52A9B2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기사 내용과 자료를 바탕으로 짧고 정확하게 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A5922-BF15-4C9A-8114-1F3A543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2</a:t>
            </a:r>
          </a:p>
        </p:txBody>
      </p:sp>
    </p:spTree>
    <p:extLst>
      <p:ext uri="{BB962C8B-B14F-4D97-AF65-F5344CB8AC3E}">
        <p14:creationId xmlns:p14="http://schemas.microsoft.com/office/powerpoint/2010/main" val="3549540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EA7CE-A5E7-45A2-AE27-5EB0D395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좋은 댓글의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47273-6A38-4FBF-9C9F-B630B202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좋은 댓글에는 생각의 근거가 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51D1A-190B-46E0-8343-68C17E62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2B959-4559-433A-9181-6E234AB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AE6BF-B67F-4F3B-9632-9EB7F4B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기사 내용을 정확히 이해한다</a:t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사실과 의견을 구분한다</a:t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내 입장을 한 문장으로 밝힌다</a:t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왜 그렇게 생각하는지 근거를 든다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4153C-B6B6-48F0-AE42-99C4CC9D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태도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4345F-2CD5-4E2D-B67C-990D576A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비난이나 조롱 대신 존중하는 표현을 쓴다</a:t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확인하지 않은 정보를 퍼뜨리지 않는다</a:t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다른 관점도 생각해 본다</a:t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- 사회에 어떤 영향을 주는지 살핀다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C7A6A-3FFF-4D7E-B35E-AE09B362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댓글은 빠르게 쓰는 글이지만, 책임은 빠르게 사라지지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4E475-9173-4953-9B94-E1F95AB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3</a:t>
            </a:r>
          </a:p>
        </p:txBody>
      </p:sp>
    </p:spTree>
    <p:extLst>
      <p:ext uri="{BB962C8B-B14F-4D97-AF65-F5344CB8AC3E}">
        <p14:creationId xmlns:p14="http://schemas.microsoft.com/office/powerpoint/2010/main" val="12483861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422CC-9D18-4B80-BC92-56EFDDB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읽기 전략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E3B8E-5F88-49CB-ADFA-A52CF3F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읽기는 세 가지 질문으로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DB7B4-1FBF-4506-8B6D-E041127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DE265-52B6-43C5-AAF6-20314C4D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9D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A42F8-97E2-4EC0-8FFF-104DE542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4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무슨 일이 있었나?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6B2BA-7104-4D3A-883A-9B4CF2A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핵심 사실, 등장 인물, 배경을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F2DDC-85B7-4CDF-891C-6F4E6E9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9D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B3D7F-D75B-4455-B674-53F4EC7C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8125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4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기사의 쟁점은 무엇인가?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F8D7A-437F-4617-9C02-0D5E870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2900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사람들의 의견이 갈리는 지점을 찾습니다.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03F4D-C56E-4BD1-B14D-24769CDE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9D1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51AD-022C-4D14-B66C-98C152A7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4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어떤 근거가 제시되었나?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136A5-0F03-4AD8-947B-66D32C30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통계, 사례, 전문가 의견, 당사자 말을 구분합니다.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CE333-C6BB-4CA6-ABDB-D7D0F021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4</a:t>
            </a:r>
          </a:p>
        </p:txBody>
      </p:sp>
    </p:spTree>
    <p:extLst>
      <p:ext uri="{BB962C8B-B14F-4D97-AF65-F5344CB8AC3E}">
        <p14:creationId xmlns:p14="http://schemas.microsoft.com/office/powerpoint/2010/main" val="7320030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61891-A19C-477B-B0C3-501D7B4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쓰기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19F81-A721-44AD-ABED-FDC025B0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의견 댓글은 네 문장으로 시작할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4714D-9BD7-49A4-A778-59987A55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82C56-BEBF-4469-B674-CBE948DF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1. 기사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63909-DD09-4FAC-BBB0-209BB6FB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이 기사는 ...에 대해 다루고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5CCB-BC64-497C-A952-834C1FD6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2. 내 입장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81907-8D51-4DEF-AD87-64A6632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나는 ...라고 생각한다.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6FD0A-8F52-4F6C-A400-3A6E8B3D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3. 이유와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E01BF-7E71-4434-B5A3-38A9E71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왜냐하면 기사에서 ...라고 했고, ... 때문이다.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487F2-F981-474E-8E3F-7F92749C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4. 마무리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1D230-C3FC-441E-9B30-DCD4FB50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따라서 우리는 ...을 생각해 보아야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B2403-FEB6-4227-B45E-68361BA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처음부터 완벽한 글보다, 구조가 보이는 글을 목표로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409B3-3EED-4637-BA7B-AAE69654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5</a:t>
            </a:r>
          </a:p>
        </p:txBody>
      </p:sp>
    </p:spTree>
    <p:extLst>
      <p:ext uri="{BB962C8B-B14F-4D97-AF65-F5344CB8AC3E}">
        <p14:creationId xmlns:p14="http://schemas.microsoft.com/office/powerpoint/2010/main" val="18115645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8811E-57E7-490E-8D26-156A4664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예시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63C58-C2DF-4218-803D-70E4FFA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이런 댓글은 어떻게 달라 보이나요?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CA258-5CA1-45C8-A55D-1BB059FC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8EED1-E5A2-46EF-BDE1-5A603E2F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3C8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136EC-8A61-4171-9C06-EC0870A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BDC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46CFF-D37B-45D9-8C94-D2547AEA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고쳐야 할 댓글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814E8-6196-4DA9-9F60-3CC21930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이건 말도 안 된다. 그냥 다 잘못했다. 이런 일은 없어져야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B5509-2337-4FE6-92A4-DBB75D41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문제: 이유와 근거가 보이지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BBABA-D389-47DD-9059-B1B0469A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좋아진 댓글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D5A3C-7AE6-48B3-8ECF-FCBD0072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나는 이번 정책을 더 신중히 검토해야 한다고 생각한다. 기사에서 비용 부담과 이용자 불편이 함께 나타났기 때문이다.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D260A-1A49-465E-918D-6E5BBDDF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강점: 입장, 이유, 기사 근거가 연결됩니다.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8C8E4-1B62-4BE2-B8B2-04F26622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6</a:t>
            </a:r>
          </a:p>
        </p:txBody>
      </p:sp>
    </p:spTree>
    <p:extLst>
      <p:ext uri="{BB962C8B-B14F-4D97-AF65-F5344CB8AC3E}">
        <p14:creationId xmlns:p14="http://schemas.microsoft.com/office/powerpoint/2010/main" val="12861494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626D1-D8BD-422E-A6F2-A11F4400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평가 요소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7E11E-D8FC-4272-8F36-411E5A8C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평가는 여섯 가지를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E69F9-1219-40DF-80DB-2E94707A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9DA40-7D92-450C-9B40-F0FA4FC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 이해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D013E-C220-46C6-9404-B9C8D9FC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핵심 내용과 쟁점을 정확히 파악했는가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A0A4D-396B-4538-87CC-A36468A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신뢰성 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3757-C95E-4D01-A6BF-72818AF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출처, 근거, 공정성을 살펴보았는가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F767C-88CD-4CE9-A730-03BCA53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주장 명확성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88E97-0A90-4271-A689-CF405EC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자신의 입장이 분명하게 드러나는가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B8895-2F32-4CD1-BDE5-A283856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근거 타당성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5FF01-FF20-4142-A37E-519DA87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주장을 뒷받침하는 이유와 근거가 적절한가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6CD04-1D0F-4F11-85FE-6BB0240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조직과 표현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5E231-5848-43FB-BA3E-596407E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문단 흐름과 문장이 읽기 쉬운가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38371-46D7-4F18-8307-D9110C25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005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시민적 태도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FD301-52DA-4F6D-B920-761664BB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005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존중, 책임, 해결 지향이 드러나는가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FF978-211C-44B1-AEEB-5B0726E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높은 점수는 긴 글이 아니라, 생각의 연결이 분명한 글에서 나옵니다.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EC778-8645-42F4-9F70-71FA60BA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7</a:t>
            </a:r>
          </a:p>
        </p:txBody>
      </p:sp>
    </p:spTree>
    <p:extLst>
      <p:ext uri="{BB962C8B-B14F-4D97-AF65-F5344CB8AC3E}">
        <p14:creationId xmlns:p14="http://schemas.microsoft.com/office/powerpoint/2010/main" val="857085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636FF-FF02-4BC9-A803-D43C55C1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자기 점검표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B75C5-B677-435F-BB5D-F772B51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제출 전에는 이 질문을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D2BC9-FE49-4AA5-97DA-EC6D8C6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6D325-817D-4237-8402-02923755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BCF85-76C7-4FD5-89FA-DFDBA495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기사의 핵심 내용을 내 말로 썼나요?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253A1-1979-478F-88FC-E35D6853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C7C10-992A-4ADD-ACB1-AB820FD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827"/>
                </a:solidFill>
                <a:latin typeface="Arial"/>
                <a:ea typeface="Arial"/>
                <a:cs typeface="Arial"/>
              </a:rPr>
              <a:t>내 입장이 한 문장으로 분명한가요?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74A5D-2E81-418B-86CD-2CF1EFE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10FA2-8A8C-4215-A2D1-2325C6FA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속 근거를 하나 이상 활용했나요?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932AA-310E-43F5-A575-773349F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028A1-147B-4DDD-B71A-936D2409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827"/>
                </a:solidFill>
                <a:latin typeface="Arial"/>
                <a:ea typeface="Arial"/>
                <a:cs typeface="Arial"/>
              </a:rPr>
              <a:t>확인하지 않은 내용을 사실처럼 쓰지 않았나요?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DE36D-69F7-482B-8590-7A50BBE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F9B4B-D34D-4D15-8CC4-FA05614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827"/>
                </a:solidFill>
                <a:latin typeface="Arial"/>
                <a:ea typeface="Arial"/>
                <a:cs typeface="Arial"/>
              </a:rPr>
              <a:t>다른 사람을 비난하는 표현은 없나요?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C2FB6-91C5-4AFA-873C-A87AAD0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88AAD-DFE1-4429-9753-0825B25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827"/>
                </a:solidFill>
                <a:latin typeface="Arial"/>
                <a:ea typeface="Arial"/>
                <a:cs typeface="Arial"/>
              </a:rPr>
              <a:t>마지막 문장이 내 생각을 잘 마무리하나요?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A2A22-B2CB-4702-B74D-63FA561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8</a:t>
            </a:r>
          </a:p>
        </p:txBody>
      </p:sp>
    </p:spTree>
    <p:extLst>
      <p:ext uri="{BB962C8B-B14F-4D97-AF65-F5344CB8AC3E}">
        <p14:creationId xmlns:p14="http://schemas.microsoft.com/office/powerpoint/2010/main" val="18159759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884DE-C783-4234-AA65-46A6DCB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수업 활동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0E720-2529-4C47-926A-7853370F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활동은 이렇게 진행합니다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EBDD3-2A82-4D28-999F-8A78C24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EFD91-84F7-454F-9616-6352489B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1B44E-65CD-444D-840C-91D90087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681C0-E80D-445B-8DC8-98F9ABD9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458EE-0CBD-4B38-858B-E48AF3F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기사를 읽고 핵심 문장에 밑줄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943E6-7209-43FC-B1C2-87DA5F2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8E983-F716-4200-9B51-7AD3948E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4C5CC-D673-43F7-AE23-39C0A664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59048-D075-48F0-90B9-94F10E5F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사실·의견·근거를 표로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FCA3-7127-4940-B191-5342F2D2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D8B12-F972-4104-BBCC-3A497FE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B2A7-AF88-474C-A887-44BB55D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쓰기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106D4-C834-448E-9D5C-79DDA1DC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네 문장 구조로 댓글 초안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6BA29-CB8C-48F1-B3AD-D395337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41E30-0710-44F0-ABC8-9E504C06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7B7E1-A38D-4428-8809-46B6C37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고치기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36254-494D-4CAA-8D43-8AF0C995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273"/>
                </a:solidFill>
                <a:latin typeface="Arial"/>
                <a:ea typeface="Arial"/>
                <a:cs typeface="Arial"/>
              </a:rPr>
              <a:t>짝과 점검표로 피드백 후 수정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A4687-E728-405C-8C05-8C1BA971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피드백은 틀린 점 찾기가 아니라, 더 잘 전달되게 돕는 과정입니다.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5ECD1-0A3A-4D47-91D4-F84BB335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9</a:t>
            </a:r>
          </a:p>
        </p:txBody>
      </p:sp>
    </p:spTree>
    <p:extLst>
      <p:ext uri="{BB962C8B-B14F-4D97-AF65-F5344CB8AC3E}">
        <p14:creationId xmlns:p14="http://schemas.microsoft.com/office/powerpoint/2010/main" val="4405331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685FA-84FC-4277-BDE8-0A43E739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댓글을 쓰기 전,</a:t>
            </a:r>
          </a:p>
          <a:p xmlns:a="http://schemas.openxmlformats.org/drawingml/2006/main">
            <a:pPr>
              <a:defRPr sz="4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한 번 더 묻기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F4C62-DC0C-468B-8F83-CB2C2465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내가 쓴 말은 기사 내용을 정확히 바탕으로 했는가?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D5AEE-1649-4BFC-83F6-7C506BB6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주장에는 이유와 근거가 있는가?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7436-D9EA-4531-9842-52FE5FB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다른 사람이 읽어도 존중받는다고 느낄 표현인가?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E439F-113F-4580-8ECE-CBB074D1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좋은 댓글은 내 생각을 세상과 연결하는 작은 글입니다.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10720-4D20-4810-AF91-1FF98457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10</a:t>
            </a:r>
          </a:p>
        </p:txBody>
      </p:sp>
    </p:spTree>
    <p:extLst>
      <p:ext uri="{BB962C8B-B14F-4D97-AF65-F5344CB8AC3E}">
        <p14:creationId xmlns:p14="http://schemas.microsoft.com/office/powerpoint/2010/main" val="10931741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1874F-8281-4709-8630-E8DD25E5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연수생 확장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ECD17-08E0-44F1-B538-4423F8A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Notion으로 댓글 수업을 수집·공유할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5768E-5F98-449C-9B61-268C5E23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6FD58-1564-47E5-A6E0-CD9DB50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수업에서 Notion은 결과물을 모으는 곳이 아니라, 읽기-쓰기-피드백 과정을 보이게 하는 공간입니다.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BA3AF-5234-45F3-BB16-EA7F56BF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페이지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3DACD-3993-4D03-94D0-CB8F545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수업 목표, 기사 링크, 작성 방법, 예시 댓글을 한 화면에 안내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E32D6-9B39-4CBC-841B-37622B5F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21F3B-BAEA-40F1-8B5C-9A793F3F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학생 댓글, 선택한 기사, 자기 점검 결과를 같은 양식으로 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26DB2-3BE6-44CA-BB86-8039264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E0A8E-E016-4036-8920-DAB358F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학생 글, 평가 요소, 피드백, 수정 이력을 한곳에서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296BF-A910-493E-8897-E21FC7A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11</a:t>
            </a:r>
          </a:p>
        </p:txBody>
      </p:sp>
    </p:spTree>
    <p:extLst>
      <p:ext uri="{BB962C8B-B14F-4D97-AF65-F5344CB8AC3E}">
        <p14:creationId xmlns:p14="http://schemas.microsoft.com/office/powerpoint/2010/main" val="4349710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E4AF0-FC18-4D69-9324-79D67E6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폼 제작하기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CB9DA-9E67-45F4-9E46-9842960A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Notion 폼은 제출 내용을 분명하게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43A65-F4E3-4A1F-A8F4-E2EADEC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43940-EB4B-4DB2-AF34-5A96C3BA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학생 이름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2BF6B-801E-44D6-BC2C-D9BB63AF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764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텍스트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232A3-16CA-4BBD-B469-73AB74C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읽은 기사 제목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AAC14-148D-407D-B6A8-B3EEDF2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텍스트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85431-4F87-4EB3-9165-F03515D3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31AAC-907E-4D56-8577-03472A2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C11EE-2CF4-4074-91A0-036D12A9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내 주장 한 문장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E3A60-54C4-43E7-8800-44FF98B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196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텍스트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0939F-438C-4599-AD77-8FDFBA9B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근거로 사용한 기사 내용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FF092-D567-43AD-9037-99CF0E8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764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긴 텍스트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FB2BC-293A-4D28-A536-3CB14FE3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최종 댓글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4699-5051-43D4-BE16-66B142C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긴 텍스트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271E0-E66E-4451-890A-68D89CB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자기 점검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BF0BE-1FFC-479C-AEF6-E15CB6C1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체크박스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27997-54FD-4186-8163-9B3F534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폼 문항은 평가 기준과 연결되어야 합니다. 그래야 제출물이 곧 피드백 자료가 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AADFA-1267-4698-B43E-8267B7A7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12</a:t>
            </a:r>
          </a:p>
        </p:txBody>
      </p:sp>
    </p:spTree>
    <p:extLst>
      <p:ext uri="{BB962C8B-B14F-4D97-AF65-F5344CB8AC3E}">
        <p14:creationId xmlns:p14="http://schemas.microsoft.com/office/powerpoint/2010/main" val="20737490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59950-CC9B-4B8D-BE9B-BD314422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Notion DB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D1280-912F-4ADC-A38B-C53567F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DB는 평가와 피드백을 다시 볼 수 있게 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1D673-B2DE-455A-8B8D-7F427592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C"/>
          </a:solidFill>
          <a:ln xmlns:a="http://schemas.openxmlformats.org/drawingml/2006/main" w="0">
            <a:solidFill>
              <a:srgbClr val="C9D1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9C9C2-BD79-425C-AF0E-7A2EBA4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속성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CF852-E67A-45CE-9597-7CF654C5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유형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0180F-F6F0-480E-8E65-F271440C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활용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7F93E-8236-4D2F-B894-281A9EE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학생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38312-2570-4B18-A03C-E0D204C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3C8C6-1027-4BDE-AE9E-9D062760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작성자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D29A7-8AC9-4F1E-85E3-CB330ED4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기사 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1517C-B27D-438E-B263-77AAC56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38FC2-9448-4639-9FAB-E84A0573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쟁점별 모아 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8FFF6-F70A-415B-B9F8-B71A8247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댓글 초안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BF814-F275-40C2-86C4-4AC6C00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6386C-EE39-45B4-B9B0-5CC5A0F1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처음 생각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D056B-709C-4D68-8B3E-C864B6D4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최종 댓글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C5DF4-CFF1-498B-9126-17438CA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28162-F42C-4230-928B-F5AF0C43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수정 후 결과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5DE1E-E8A6-4E45-9666-D1BA56C9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평가 요소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5F2F0-1B71-45B9-B019-23341444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Multi-select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FC625-D11A-4703-B750-103B519C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기준과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A2B9F-376C-488E-AFBC-21D5C546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교사 피드백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5DDF3-D399-4001-BA1E-BE0981D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D380E-14C0-4075-9588-D09F321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개별 피드백 기록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D6284-21BA-403A-B62E-DC7FA5EB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수정 상태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16CC8-6FC5-40B3-92E2-70B0D75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273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5B3A6-4475-456B-8A26-82AC4223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초안·수정 중·완료 관리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B8E5A-B648-443B-91C2-7CA36D08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보기 예시: 기사 주제별 보기 · 미제출 학생 보기 · 수정 완료 댓글 보기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54250-1459-4803-B828-7E47C4F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273"/>
                </a:solidFill>
                <a:latin typeface="Arial"/>
                <a:ea typeface="Arial"/>
                <a:cs typeface="Arial"/>
              </a:rPr>
              <a:t>신문기사 댓글 쓰기 | 13</a:t>
            </a:r>
          </a:p>
        </p:txBody>
      </p:sp>
    </p:spTree>
    <p:extLst>
      <p:ext uri="{BB962C8B-B14F-4D97-AF65-F5344CB8AC3E}">
        <p14:creationId xmlns:p14="http://schemas.microsoft.com/office/powerpoint/2010/main" val="640472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2026-08-20T22:23:14.1770000Z</dcterms:created>
  <dcterms:modified xsi:type="dcterms:W3CDTF">2026-08-20T22:23:14.1770000Z</dcterms:modified>
</coreProperties>
</file>