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pagetur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67"/>
    <p:sldId id="269" r:id="rId14"/>
    <p:sldId id="270" r:id="rId68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69"/>
    <p:sldId id="297" r:id="rId70"/>
    <p:sldId id="298" r:id="rId71"/>
    <p:sldId id="299" r:id="rId40"/>
    <p:sldId id="300" r:id="rId41"/>
    <p:sldId id="301" r:id="rId42"/>
    <p:sldId id="302" r:id="rId43"/>
    <p:sldId id="324" r:id="rId75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72"/>
    <p:sldId id="311" r:id="rId73"/>
    <p:sldId id="312" r:id="rId51"/>
    <p:sldId id="313" r:id="rId52"/>
    <p:sldId id="314" r:id="rId53"/>
    <p:sldId id="315" r:id="rId54"/>
    <p:sldId id="316" r:id="rId55"/>
    <p:sldId id="317" r:id="rId74"/>
    <p:sldId id="318" r:id="rId56"/>
    <p:sldId id="319" r:id="rId57"/>
    <p:sldId id="320" r:id="rId58"/>
    <p:sldId id="321" r:id="rId59"/>
    <p:sldId id="322" r:id="rId60"/>
    <p:sldId id="323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5.xml"/><Relationship Id="rId41" Type="http://schemas.openxmlformats.org/officeDocument/2006/relationships/slide" Target="slides/slide46.xml"/><Relationship Id="rId42" Type="http://schemas.openxmlformats.org/officeDocument/2006/relationships/slide" Target="slides/slide47.xml"/><Relationship Id="rId43" Type="http://schemas.openxmlformats.org/officeDocument/2006/relationships/slide" Target="slides/slide48.xml"/><Relationship Id="rId44" Type="http://schemas.openxmlformats.org/officeDocument/2006/relationships/slide" Target="slides/slide49.xml"/><Relationship Id="rId45" Type="http://schemas.openxmlformats.org/officeDocument/2006/relationships/slide" Target="slides/slide50.xml"/><Relationship Id="rId46" Type="http://schemas.openxmlformats.org/officeDocument/2006/relationships/slide" Target="slides/slide51.xml"/><Relationship Id="rId47" Type="http://schemas.openxmlformats.org/officeDocument/2006/relationships/slide" Target="slides/slide52.xml"/><Relationship Id="rId48" Type="http://schemas.openxmlformats.org/officeDocument/2006/relationships/slide" Target="slides/slide53.xml"/><Relationship Id="rId49" Type="http://schemas.openxmlformats.org/officeDocument/2006/relationships/slide" Target="slides/slide54.xml"/><Relationship Id="rId50" Type="http://schemas.openxmlformats.org/officeDocument/2006/relationships/slide" Target="slides/slide55.xml"/><Relationship Id="rId51" Type="http://schemas.openxmlformats.org/officeDocument/2006/relationships/slide" Target="slides/slide58.xml"/><Relationship Id="rId52" Type="http://schemas.openxmlformats.org/officeDocument/2006/relationships/slide" Target="slides/slide59.xml"/><Relationship Id="rId53" Type="http://schemas.openxmlformats.org/officeDocument/2006/relationships/slide" Target="slides/slide60.xml"/><Relationship Id="rId54" Type="http://schemas.openxmlformats.org/officeDocument/2006/relationships/slide" Target="slides/slide61.xml"/><Relationship Id="rId55" Type="http://schemas.openxmlformats.org/officeDocument/2006/relationships/slide" Target="slides/slide62.xml"/><Relationship Id="rId56" Type="http://schemas.openxmlformats.org/officeDocument/2006/relationships/slide" Target="slides/slide64.xml"/><Relationship Id="rId57" Type="http://schemas.openxmlformats.org/officeDocument/2006/relationships/slide" Target="slides/slide65.xml"/><Relationship Id="rId58" Type="http://schemas.openxmlformats.org/officeDocument/2006/relationships/slide" Target="slides/slide66.xml"/><Relationship Id="rId59" Type="http://schemas.openxmlformats.org/officeDocument/2006/relationships/slide" Target="slides/slide67.xml"/><Relationship Id="rId60" Type="http://schemas.openxmlformats.org/officeDocument/2006/relationships/slide" Target="slides/slide68.xml"/><Relationship Id="rId61" Type="http://schemas.openxmlformats.org/officeDocument/2006/relationships/slide" Target="slides/slide69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openxmlformats.org/officeDocument/2006/relationships/slide" Target="slides/slide13.xml"/><Relationship Id="rId68" Type="http://schemas.openxmlformats.org/officeDocument/2006/relationships/slide" Target="slides/slide15.xml"/><Relationship Id="rId69" Type="http://schemas.openxmlformats.org/officeDocument/2006/relationships/slide" Target="slides/slide41.xml"/><Relationship Id="rId70" Type="http://schemas.openxmlformats.org/officeDocument/2006/relationships/slide" Target="slides/slide42.xml"/><Relationship Id="rId71" Type="http://schemas.openxmlformats.org/officeDocument/2006/relationships/slide" Target="slides/slide44.xml"/><Relationship Id="rId72" Type="http://schemas.openxmlformats.org/officeDocument/2006/relationships/slide" Target="slides/slide56.xml"/><Relationship Id="rId73" Type="http://schemas.openxmlformats.org/officeDocument/2006/relationships/slide" Target="slides/slide57.xml"/><Relationship Id="rId74" Type="http://schemas.openxmlformats.org/officeDocument/2006/relationships/slide" Target="slides/slide63.xml"/><Relationship Id="rId75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2.png"/><Relationship Id="rId4" Type="http://schemas.openxmlformats.org/officeDocument/2006/relationships/image" Target="../media/image-26-2.png"/><Relationship Id="rId5" Type="http://schemas.openxmlformats.org/officeDocument/2006/relationships/image" Target="../media/image-2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7-1.png"/><Relationship Id="rId2" Type="http://schemas.openxmlformats.org/officeDocument/2006/relationships/image" Target="../media/image-27-1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3-1.png"/><Relationship Id="rId2" Type="http://schemas.openxmlformats.org/officeDocument/2006/relationships/image" Target="../media/image-33-1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5-1.png"/><Relationship Id="rId2" Type="http://schemas.openxmlformats.org/officeDocument/2006/relationships/image" Target="../media/image-35-1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6-1.png"/><Relationship Id="rId2" Type="http://schemas.openxmlformats.org/officeDocument/2006/relationships/image" Target="../media/image-36-1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4-1.png"/><Relationship Id="rId2" Type="http://schemas.openxmlformats.org/officeDocument/2006/relationships/image" Target="../media/image-44-1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4-1.png"/><Relationship Id="rId2" Type="http://schemas.openxmlformats.org/officeDocument/2006/relationships/image" Target="../media/image-44-1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5-1.png"/><Relationship Id="rId2" Type="http://schemas.openxmlformats.org/officeDocument/2006/relationships/image" Target="../media/image-45-1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9-1.png"/><Relationship Id="rId2" Type="http://schemas.openxmlformats.org/officeDocument/2006/relationships/image" Target="../media/image-49-1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9-1.png"/><Relationship Id="rId2" Type="http://schemas.openxmlformats.org/officeDocument/2006/relationships/image" Target="../media/image-49-1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9-1.png"/><Relationship Id="rId2" Type="http://schemas.openxmlformats.org/officeDocument/2006/relationships/image" Target="../media/image-49-1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1-1.png"/><Relationship Id="rId2" Type="http://schemas.openxmlformats.org/officeDocument/2006/relationships/image" Target="../media/image-51-1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60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2-1.png"/><Relationship Id="rId2" Type="http://schemas.openxmlformats.org/officeDocument/2006/relationships/image" Target="../media/image-52-1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61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3-1.png"/><Relationship Id="rId2" Type="http://schemas.openxmlformats.org/officeDocument/2006/relationships/image" Target="../media/image-53-1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/Relationships>
</file>

<file path=ppt/slides/_rels/slide62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4-1.png"/><Relationship Id="rId2" Type="http://schemas.openxmlformats.org/officeDocument/2006/relationships/image" Target="../media/image-54-1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63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45-1.png"/><Relationship Id="rId2" Type="http://schemas.openxmlformats.org/officeDocument/2006/relationships/image" Target="../media/image-45-1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5-1.png"/><Relationship Id="rId2" Type="http://schemas.openxmlformats.org/officeDocument/2006/relationships/image" Target="../media/image-55-1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65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66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67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8-1.png"/><Relationship Id="rId2" Type="http://schemas.openxmlformats.org/officeDocument/2006/relationships/image" Target="../media/image-58-1.png"/><Relationship Id="rId3" Type="http://schemas.openxmlformats.org/officeDocument/2006/relationships/image" Target="../media/image-5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68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59-1.png"/><Relationship Id="rId2" Type="http://schemas.openxmlformats.org/officeDocument/2006/relationships/image" Target="../media/image-59-1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/Relationships>
</file>

<file path=ppt/slides/_rels/slide69.xml.rels><?xml version='1.0' encoding='UTF-8' standalone='yes'?>
<Relationships xmlns="http://schemas.openxmlformats.org/package/2006/relationships"><Relationship Id="rIdSnd" Type="http://schemas.openxmlformats.org/officeDocument/2006/relationships/audio" Target="../media/pageturn.wav"/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5A4038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926080"/>
            <a:ext cx="2743200" cy="2743200"/>
          </a:xfrm>
          <a:prstGeom prst="ellipse">
            <a:avLst/>
          </a:prstGeom>
          <a:solidFill>
            <a:srgbClr val="4A342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 교육 역량체계 기반  교원 연수 자료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노션을 활용한 NIE 조사학습을 위한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참여형 수업 설계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7249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참여형 민주주의 수업 실천과 평가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01568"/>
            <a:ext cx="5989320" cy="1280160"/>
          </a:xfrm>
          <a:prstGeom prst="roundRect">
            <a:avLst>
              <a:gd name="adj" fmla="val 6429"/>
            </a:avLst>
          </a:prstGeom>
          <a:solidFill>
            <a:srgbClr val="4A342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529584"/>
            <a:ext cx="5532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3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초등학교 4학년 사회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단원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3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4-2학기 1단원 민주주의와 자치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3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[4사08-02] 지역에서 이루어지는 민주주의 사례를 통해 주민 자치와 주민 참여의 중요성을 파악하고, 지역사회의 문제 해결에 참여하는 태도를 기른다.</a:t>
            </a:r>
            <a:endParaRPr lang="en-US" sz="1050" dirty="0"/>
          </a:p>
        </p:txBody>
      </p:sp>
      <p:pic>
        <p:nvPicPr>
          <p:cNvPr id="9" name="Image 0" descr="/home/claude/_scratch_build/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3090672"/>
            <a:ext cx="1143000" cy="10698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23760" y="4206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곰곰이쌤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  <p:sndAc>
          <p:stSnd>
            <p:snd r:embed="rIdSnd" name="pageturn.wav"/>
          </p:stSnd>
        </p:sndAc>
      </p:transition>
    </mc:Choice>
    <mc:Fallback>
      <p:transition spd="med">
        <p:cover dir="l"/>
        <p:sndAc>
          <p:stSnd>
            <p:snd r:embed="rIdSnd" name="pageturn.wav"/>
          </p:stSnd>
        </p:sndAc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7" grpId="0"/>
      <p:bldP spid="8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안내 · 구성과 준비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개요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초등 교사 (사회·민주시민교육 관심)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구성: 3차시 — 개념·이론 → 설계 실습 → 적용·평가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노션 기반 참여형 NIE 수업을 직접 설계·운영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&amp; 진행 방식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노트북/태블릿, 에듀넷·노션 계정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각자 노션 수업 페이지 제작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우리 반에서 바로 쓸 수업 공간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보호 수칙 함께 확인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및 목표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4892040" cy="3611880"/>
          </a:xfrm>
          <a:prstGeom prst="roundRect">
            <a:avLst>
              <a:gd name="adj" fmla="val 278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325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목표 (인지적·행동적·정의적)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" y="1810512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" y="1920240"/>
            <a:ext cx="914400" cy="658368"/>
          </a:xfrm>
          <a:prstGeom prst="rect">
            <a:avLst>
              <a:gd name="adj" fmla="val 8333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10512" y="1865376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민주주의의 의미와 주민 참여의 중요성, NIE·노션 활용의 교육적 의미를 이해할 수 있다.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" y="2798064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6384" y="2907792"/>
            <a:ext cx="914400" cy="658368"/>
          </a:xfrm>
          <a:prstGeom prst="rect">
            <a:avLst>
              <a:gd name="adj" fmla="val 8333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행동적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810512" y="285292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탐색·댓글·자기평가를 연결한 참여형 수업을 성취기준에 맞게 설계할 수 있다.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" y="3785616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6384" y="3895344"/>
            <a:ext cx="914400" cy="658368"/>
          </a:xfrm>
          <a:prstGeom prst="rect">
            <a:avLst>
              <a:gd name="adj" fmla="val 8333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정의적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10512" y="3840480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도구를 활용한 참여형 수업 혁신에 긍정적 인식과 실천 의지를 기른다.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504688" y="1170432"/>
            <a:ext cx="3182112" cy="1691640"/>
          </a:xfrm>
          <a:prstGeom prst="roundRect">
            <a:avLst>
              <a:gd name="adj" fmla="val 5946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87568" y="130759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_scratch_build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724" y="1412748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17920" y="1307592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대상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724144" y="1828800"/>
            <a:ext cx="2761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교사 · 사회과/민주시민교육 관심 교사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기반 참여형 수업 실천 희망 교사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수준: 평이 (모든 교사 참여 가능)</a:t>
            </a:r>
            <a:endParaRPr lang="en-US" sz="1060" dirty="0"/>
          </a:p>
        </p:txBody>
      </p:sp>
      <p:sp>
        <p:nvSpPr>
          <p:cNvPr id="21" name="Shape 17"/>
          <p:cNvSpPr/>
          <p:nvPr/>
        </p:nvSpPr>
        <p:spPr>
          <a:xfrm>
            <a:off x="5504688" y="2999232"/>
            <a:ext cx="3182112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687568" y="313639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/home/claude/_scratch_build/icons/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3241548"/>
            <a:ext cx="210312" cy="2103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3136392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AI·디지털 기능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724144" y="3657600"/>
            <a:ext cx="2761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페이지·데이터베이스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NIE 기사 자료 · 피드 보기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상호작용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설문/폼 기반 자기평가 수집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8" grpId="0"/>
      <p:bldP spid="10" grpId="0"/>
      <p:bldP spid="12" grpId="0"/>
      <p:bldP spid="11" grpId="0"/>
      <p:bldP spid="13" grpId="0"/>
      <p:bldP spid="15" grpId="0"/>
      <p:bldP spid="14" grpId="0"/>
      <p:bldP spid="16" grpId="0"/>
      <p:bldP spid="17" grpId="0"/>
      <p:bldP spid="19" grpId="0"/>
      <p:bldP spid="20" grpId="0"/>
      <p:bldP spid="21" grpId="0"/>
      <p:bldP spid="22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구성 (목차)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743200" cy="3474720"/>
          </a:xfrm>
          <a:prstGeom prst="roundRect">
            <a:avLst>
              <a:gd name="adj" fmla="val 3667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481328"/>
            <a:ext cx="658368" cy="65836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7" name="Image 1" descr="/home/claude/_scratch_build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64592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51790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481328" y="18105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이해와 수업 사례 안내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13232" y="2395728"/>
            <a:ext cx="226771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 의미·실천 태도 성찰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주민/학생 참여 사례 기사 탐색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기반 NIE 조사학습 흐름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운영 결과물·반응 안내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429000" y="1234440"/>
            <a:ext cx="2743200" cy="3474720"/>
          </a:xfrm>
          <a:prstGeom prst="roundRect">
            <a:avLst>
              <a:gd name="adj" fmla="val 3667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85032" y="1481328"/>
            <a:ext cx="658368" cy="65836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13" name="Image 2" descr="/home/claude/_scratch_build/icons/lap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164592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53128" y="151790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453128" y="18105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도구 설계 및 실습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685032" y="2395728"/>
            <a:ext cx="226771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페이지·데이터베이스 만들기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자료 탑재·피드 보기 구성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참여 기능 설계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자기평가·소감 수집 폼 구성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0" y="1234440"/>
            <a:ext cx="2743200" cy="3474720"/>
          </a:xfrm>
          <a:prstGeom prst="roundRect">
            <a:avLst>
              <a:gd name="adj" fmla="val 3667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656832" y="1481328"/>
            <a:ext cx="658368" cy="65836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19" name="Image 3" descr="/home/claude/_scratch_build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164592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24928" y="151790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424928" y="18105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적용, 분석 및 평가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656832" y="2395728"/>
            <a:ext cx="2267712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설계한 노션 수업 실제 적용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참여 데이터·피드백 정리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과정중심평가 및 교사 피드백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수업 및 확장 활동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교원역량체계 연계 (1) 핵심 역량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F1EBE3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93776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교육 이해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1696212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F1EBE3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96212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32788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윤리적 실천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2935224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F1EBE3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35224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971800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및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 분석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174236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D98324"/>
          </a:solidFill>
          <a:ln w="15875">
            <a:solidFill>
              <a:srgbClr val="B5651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174236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210812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교수·학습 및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설계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5413248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D98324"/>
          </a:solidFill>
          <a:ln w="15875">
            <a:solidFill>
              <a:srgbClr val="B5651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13248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49824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교수·학습 실행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652260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F1EBE3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52260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688836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실행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7891272" y="1371600"/>
            <a:ext cx="1170432" cy="1051560"/>
          </a:xfrm>
          <a:prstGeom prst="roundRect">
            <a:avLst>
              <a:gd name="adj" fmla="val 6957"/>
            </a:avLst>
          </a:prstGeom>
          <a:solidFill>
            <a:srgbClr val="F1EBE3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91272" y="1481328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927848" y="1865376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전문성</a:t>
            </a:r>
            <a:endParaRPr lang="en-US" sz="88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8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457200" y="2788920"/>
            <a:ext cx="8229600" cy="1737360"/>
          </a:xfrm>
          <a:prstGeom prst="roundRect">
            <a:avLst>
              <a:gd name="adj" fmla="val 5789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858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역량으로 D · E 선택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5800" y="3346704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 교수·학습 및 평가 설계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성취기준에 맞춰 기사 탐색·댓글·자기평가를 연결한 참여형 수업을 설계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 교수·학습 실행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학생이 기사 읽기·생각 쓰기·상호작용을 직접 수행하도록 참여를 촉진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교원역량체계 연계 (2) 세부 지표·선정 이유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114800" cy="2331720"/>
          </a:xfrm>
          <a:prstGeom prst="roundRect">
            <a:avLst>
              <a:gd name="adj" fmla="val 4314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3533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D.  교수·학습 및 평가 설계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 기반 교수·학습 및 평가 설계 이해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 기반 교수·학습 및 평가 설계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설계의 타당성과 적절성 성찰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0" y="1234440"/>
            <a:ext cx="4114800" cy="2331720"/>
          </a:xfrm>
          <a:prstGeom prst="roundRect">
            <a:avLst>
              <a:gd name="adj" fmla="val 4314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73168" y="13533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 교수·학습 실행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73168" y="1755648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E1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 기반 학생 참여 교수·학습 실행 이해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AI·디지털 기반 학생 참여 교수·학습 실행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E3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참여 수업의 실천적 성찰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703320"/>
            <a:ext cx="8229600" cy="1051560"/>
          </a:xfrm>
          <a:prstGeom prst="roundRect">
            <a:avLst>
              <a:gd name="adj" fmla="val 9565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" y="3840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60" b="1" dirty="0">
                <a:solidFill>
                  <a:srgbClr val="5F8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이유  </a:t>
            </a:r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참여형 수업을 설계(D2)하고 학생 활동으로 실행(E2)하며 성찰(D3·E3)까지 이어진다. 노션은 결과물·상호작용 흔적이 남아 과정중심평가에 적합해 도구로 선정.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 분석 및 수업 맥락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02336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3258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정보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1755648"/>
            <a:ext cx="960120" cy="310896"/>
          </a:xfrm>
          <a:prstGeom prst="rect">
            <a:avLst>
              <a:gd name="adj" fmla="val 14706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37360" y="171907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초등학교 4학년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2304288"/>
            <a:ext cx="960120" cy="310896"/>
          </a:xfrm>
          <a:prstGeom prst="rect">
            <a:avLst>
              <a:gd name="adj" fmla="val 14706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737360" y="226771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" y="2852928"/>
            <a:ext cx="960120" cy="310896"/>
          </a:xfrm>
          <a:prstGeom prst="rect">
            <a:avLst>
              <a:gd name="adj" fmla="val 14706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737360" y="281635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4-2학기 1단원 · 민주주의와 자치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8368" y="3401568"/>
            <a:ext cx="960120" cy="310896"/>
          </a:xfrm>
          <a:prstGeom prst="rect">
            <a:avLst>
              <a:gd name="adj" fmla="val 14706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737360" y="3364992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[4사08-02] 지역 민주주의 사례로 주민 자치·참여의 중요성을 파악하고, 지역사회 문제 해결에 참여하는 태도를 기른다.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26864" y="1188720"/>
            <a:ext cx="4059936" cy="1572768"/>
          </a:xfrm>
          <a:prstGeom prst="roundRect">
            <a:avLst>
              <a:gd name="adj" fmla="val 6395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28032" y="132588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학교·지역 맥락 &amp; 학급 실태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0" y="1847088"/>
            <a:ext cx="36393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아파트 밀집 신도시 대규모 학교 · 지역 이슈 연결에 적합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학급당 23명 내외 · 1인 1디바이스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학력 수준 고른 편 · 디지털 기기 접근성 좋음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4626864" y="2907792"/>
            <a:ext cx="4059936" cy="1847088"/>
          </a:xfrm>
          <a:prstGeom prst="roundRect">
            <a:avLst>
              <a:gd name="adj" fmla="val 54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09744" y="304495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1" descr="/home/claude/_scratch_build/icons/see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3150108"/>
            <a:ext cx="210312" cy="2103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40096" y="30449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방향 &amp; 도구 선정 이유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846320" y="3566160"/>
            <a:ext cx="36393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추상적 민주주의 개념을 기사 사례와 연결해 구체화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찾기보다 의견 형성·근거 제시·성찰 중심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노션: 자료 공유가 쉽고 참여 흔적이 남아 과정중심평가에 유용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7" grpId="0"/>
      <p:bldP spid="10" grpId="0"/>
      <p:bldP spid="9" grpId="0"/>
      <p:bldP spid="12" grpId="0"/>
      <p:bldP spid="11" grpId="0"/>
      <p:bldP spid="14" grpId="0"/>
      <p:bldP spid="13" grpId="0"/>
      <p:bldP spid="15" grpId="0"/>
      <p:bldP spid="16" grpId="0"/>
      <p:bldP spid="17" grpId="0"/>
      <p:bldP spid="18" grpId="0"/>
      <p:bldP spid="19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설계 개관 · 3차시 전체 흐름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주도하는 활동 중심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성취기준-활동-평가의 정합성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정답보다 의견·근거·성찰 중시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디지털은 참여를 돕는 도구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65192" y="1316736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전체 흐름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65192" y="179222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71032" y="1792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이해 + NIE 기사 탐색·댓글 참여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65192" y="273710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71032" y="273710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수업 도구 설계·구축 실습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965192" y="368198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71032" y="368198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적용 + 데이터 기반 과정중심평가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민주주의와 주민 자치·참여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결정하고 함께 책임지는 삶의 방식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자치: 지역 일을 주민 스스로 결정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참여: 의견 제시·투표·공청회·제안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실천하는 민주주의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학급회의에서 의견 내고 함께 정하기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함께 만들기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건의·제안으로 학교·마을 바꾸기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NIE(신문활용교육)란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ne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NIE의 교육적 의미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신문 기사로 배우는 교육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살아있는 사례로 개념을 구체화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읽기·비판·표현·토론 역량 성장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수업에서의 NIE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주민·청소년 참여 사례 기사 탐색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기사에서 참여 방식·효과 찾기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생각을 댓글로 표현·공유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노션 개관 · 왜 노션인가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노션인가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공유·정리가 쉬움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참여·상호작용 흔적이 남음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과정중심평가 근거로 활용 좋음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하나로 어디서든 접속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c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주요 기능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— 수업 공간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— 기사·자료 정리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피드/보드 보기 — 카드로 한눈에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— 생각 나누기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 — 자기평가 수집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노션 기능 — 누가 무엇을 쓰나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쓰는 기능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카드 열어 읽기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댓글로 생각 쓰기, 답글로 상호작용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폼으로 자기평가·소감 제출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쓰는 기능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DB로 자료 큐레이션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 보기로 활동 안내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댓글·폼 응답으로 참여 관찰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범위·권한 관리(개인정보)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활동 — 댓글과 의견쓰기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(활동 A)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페이지에 직접 내 의견을 남겨요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짧아도 좋아요 — 이해·참여 확인 형성평가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네티켓(댓글 예절)과 함께 쓰기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의견쓰기 (활동 B)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폼에서 기사를 선택해 의견 제출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'의견쓰기 DB'에 자동 수집·집계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'왜냐하면' 까닭까지 — 수행평가 연계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과정중심평가 개념·원칙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과정중심평가란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결과(정답)보다 배우는 과정을 평가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중 관찰·기록으로 성장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점수화보다 피드백·환류 중심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수업의 평가 장면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댓글·성찰 기록 관찰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자기평가·상호평가 수집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우수·성장 사례 익명 피드백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[이론] 백워드 설계 — 평가를 먼저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설계 (위긴스·맥타이)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바라는 결과 확인 — 성취기준·핵심 질문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수용 가능한 증거 결정 — 평가 먼저 설계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학습 경험과 수업 계획 — 활동 설계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수업에서는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[4사08-02] + 기사마다 핵심 질문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댓글·의견 글이 배움의 증거 (3영역 루브릭)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댓글달기·의견쓰기 활동으로 증거 수집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개요 · 민주주의 개념 이해와 NIE 참여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차시의 목표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 의미와 주민 참여의 중요성 이해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 속 참여 사례를 기사에서 찾기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생각을 근거와 함께 표현·공유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2651760"/>
          </a:xfrm>
          <a:prstGeom prst="roundRect">
            <a:avLst>
              <a:gd name="adj" fmla="val 3793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65192" y="1316736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흐름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65192" y="179222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71032" y="1792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열기·동기 유발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65192" y="243230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전개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71032" y="243230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탐색·댓글 참여 활동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965192" y="307238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71032" y="307238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공유·성찰·과정중심평가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764024" y="3931920"/>
            <a:ext cx="3922776" cy="822960"/>
          </a:xfrm>
          <a:prstGeom prst="roundRect">
            <a:avLst>
              <a:gd name="adj" fmla="val 12222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965192" y="4023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F8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자료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‘신문 기사 읽고 댓글 달기’ (학교민주주의·청소년 참여 기사)</a:t>
            </a:r>
            <a:endParaRPr lang="en-US" sz="11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  <p:sndAc>
          <p:stSnd>
            <p:snd r:embed="rIdSnd" name="pageturn.wav"/>
          </p:stSnd>
        </p:sndAc>
      </p:transition>
    </mc:Choice>
    <mc:Fallback>
      <p:transition spd="med">
        <p:cover dir="l"/>
        <p:sndAc>
          <p:stSnd>
            <p:snd r:embed="rIdSnd" name="pageturn.wav"/>
          </p:stSnd>
        </p:sndAc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도입 · 개념 열기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활동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‘민주주의’ 하면 떠오르는 낱말 브레인스토밍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짝과 ‘함께 정한 경험’ 나누기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탐구 질문 확인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d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발문 예시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“민주주의 하면 무엇이 떠오르나요?”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마을·학교에서 함께 정하는 일은?”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“학생도 민주주의를 실천할 수 있을까요?”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유의점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찾기가 아니라 생각 꺼내기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답 수용, 안전한 분위기 조성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도입 · 동기 유발 자료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유발 자료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‘주민 참여로 바뀐 우리 동네’ 사진·짧은 영상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학교 학생회 활동 사진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 놀이터·공원이 바뀐 사례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d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발문 · 연결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“이런 변화는 누가 만들었을까요?”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“나도 참여하면 무엇이 바뀔까요?”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탐색 활동으로 자연스럽게 연결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전개 · 노션 활동 흐름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활동 흐름 (노션)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‘신문 기사 읽고 댓글 달기’ 열기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관심 기사 1편 선택·읽기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참여 사례 찾아 밑줄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자기 생각 댓글 쓰기(근거 포함)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친구 댓글에 공감·질문 답글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역할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순회하며 근거 있는 댓글 촉진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막히는 학생 개별 지원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분산 배정으로 쏠림 방지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전개 · 교사 발문 모음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이해를 돕는 발문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기사에서 사람들은 어떻게 참여했나요?”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 참여로 무엇이 바뀌었나요?”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“왜 참여가 필요했을까요?”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생각을 넓히는 발문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“나라면 어떤 의견을 낼까요?”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지역에도 비슷한 일이 있을까요?”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“내가 지금 할 수 있는 참여는?”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전개 · 댓글 예절과 규칙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네티켓 다섯 가지 약속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의견에는 의견으로 — 사람을 공격하지 않기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사실만 말하기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존중하는 말 쓰기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비밀로 하기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올리기 전에 한 번 더 읽기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EDE7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350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44932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95544" y="135331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유의 (필수)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01768" y="1901952"/>
            <a:ext cx="3465576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실명 대신 별명·번호를 쓸 수 있게 안내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부적절한 글은 즉시 지도·삭제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공개 범위를 미리 설정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공유 시 개인정보 제거</a:t>
            </a:r>
            <a:endParaRPr lang="en-US" sz="104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bull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정리 · 공유와 성찰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bullho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공유·성찰 활동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모둠에서 인상 깊은 사례 공유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나눔: 우리 지역에 제안하고 싶은 것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‘수업 전 → 후’ 생각 변화 한 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 질문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 참여는 왜 중요할까?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실천할 수 있는 참여는?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팁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성찰은 노션 폼/성찰지에 기록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차시(설계) 예고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과정중심평가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관점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이해·참여 사례 찾기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있는 댓글 표현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상호작용 태도(공감·질문)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성찰·생각 변화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방법·기록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댓글·성찰 기록 관찰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체크리스트/메모로 수시 기록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기록은 익명 라벨로 관리(개인정보)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노션 수업 자료 ‘신문 기사 읽고 댓글 달기’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937760" cy="3474720"/>
          </a:xfrm>
          <a:prstGeom prst="roundRect">
            <a:avLst>
              <a:gd name="adj" fmla="val 289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29844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📰  </a:t>
            </a:r>
            <a:pPr indent="0" marL="0"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신문 기사 읽고 댓글 달기 (기사 피드)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58368" y="168249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81508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9" name="Text 6"/>
          <p:cNvSpPr/>
          <p:nvPr/>
        </p:nvSpPr>
        <p:spPr>
          <a:xfrm>
            <a:off x="1078992" y="170078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[금강일보] 학교민주주의 구현으로 지속가능한 교육생태계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" y="216255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229514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" y="218084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[대전미래시민교육] 신탄진중, 학생회의 따뜻한 변화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" y="264261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" y="277520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266090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[칼럼] 청소년 정치 참여, 가능성과 전략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" y="312267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325526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18" name="Text 15"/>
          <p:cNvSpPr/>
          <p:nvPr/>
        </p:nvSpPr>
        <p:spPr>
          <a:xfrm>
            <a:off x="1078992" y="314096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도의회 체험 포항 영일고 “청소년 참여 예산제를”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58368" y="360273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" y="373532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21" name="Text 18"/>
          <p:cNvSpPr/>
          <p:nvPr/>
        </p:nvSpPr>
        <p:spPr>
          <a:xfrm>
            <a:off x="1078992" y="362102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대전서중, 풀뿌리 민주주의의 산실 대전시의회 견학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8368" y="4082796"/>
            <a:ext cx="4535424" cy="4343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4672" y="4215384"/>
            <a:ext cx="164592" cy="164592"/>
          </a:xfrm>
          <a:prstGeom prst="ellipse">
            <a:avLst/>
          </a:prstGeom>
          <a:solidFill>
            <a:srgbClr val="F2C79A"/>
          </a:solidFill>
          <a:ln/>
        </p:spPr>
      </p:sp>
      <p:sp>
        <p:nvSpPr>
          <p:cNvPr id="24" name="Text 21"/>
          <p:cNvSpPr/>
          <p:nvPr/>
        </p:nvSpPr>
        <p:spPr>
          <a:xfrm>
            <a:off x="1078992" y="410108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[새빛수원] 수원시, 청소년의회 운영으로 정책 참여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32120" y="1188720"/>
            <a:ext cx="3154680" cy="2084832"/>
          </a:xfrm>
          <a:prstGeom prst="roundRect">
            <a:avLst>
              <a:gd name="adj" fmla="val 4825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733288" y="1325880"/>
            <a:ext cx="2807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자료의 구성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751576" y="1847088"/>
            <a:ext cx="2734056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DB — 이름·URL·본문 텍스트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원문 모음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분석 요약 (2025-10-15)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학생별 댓글 집계 및 피드백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5532120" y="3401568"/>
            <a:ext cx="3154680" cy="1261872"/>
          </a:xfrm>
          <a:prstGeom prst="roundRect">
            <a:avLst>
              <a:gd name="adj" fmla="val 7971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733288" y="3529584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960" b="1" dirty="0">
                <a:solidFill>
                  <a:srgbClr val="5F8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운영 자료</a:t>
            </a:r>
            <a:endParaRPr lang="en-US" sz="9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‘Notion works › 사회 민주주의 신문기사 모음’에서 불러온 실제 수업 자료</a:t>
            </a:r>
            <a:endParaRPr lang="en-US" sz="9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8" grpId="0"/>
      <p:bldP spid="10" grpId="0"/>
      <p:bldP spid="12" grpId="0"/>
      <p:bldP spid="11" grpId="0"/>
      <p:bldP spid="13" grpId="0"/>
      <p:bldP spid="15" grpId="0"/>
      <p:bldP spid="14" grpId="0"/>
      <p:bldP spid="16" grpId="0"/>
      <p:bldP spid="18" grpId="0"/>
      <p:bldP spid="17" grpId="0"/>
      <p:bldP spid="19" grpId="0"/>
      <p:bldP spid="21" grpId="0"/>
      <p:bldP spid="20" grpId="0"/>
      <p:bldP spid="22" grpId="0"/>
      <p:bldP spid="24" grpId="0"/>
      <p:bldP spid="23" grpId="0"/>
      <p:bldP spid="25" grpId="0"/>
      <p:bldP spid="26" grpId="0"/>
      <p:bldP spid="27" grpId="0"/>
      <p:bldP spid="28" grpId="0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학생 활동지·성찰지 양식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7" name="Image 1" descr="/home/claude/_scratch_build/icons/ne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35024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탐색 활동지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13232" y="1938528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고른 기사 제목: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13232" y="2353666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713232" y="2472538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참여한 사람 / 단체: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13232" y="2887675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713232" y="3006547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참여했나요?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421685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713232" y="3540557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무엇이 바뀌었나요?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13232" y="3955694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713232" y="4074566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생각 (댓글로 쓸 말):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13232" y="4489704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21" name="Image 2" descr="/home/claude/_scratch_build/icons/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77256" y="1335024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성찰지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20056" y="1938528"/>
            <a:ext cx="3410712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새롭게 알게 된 것: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020056" y="2487168"/>
            <a:ext cx="3410712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25" name="Text 20"/>
          <p:cNvSpPr/>
          <p:nvPr/>
        </p:nvSpPr>
        <p:spPr>
          <a:xfrm>
            <a:off x="5020056" y="2606040"/>
            <a:ext cx="3410712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전 → 후 내 생각 변화: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020056" y="3154680"/>
            <a:ext cx="3410712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27" name="Text 22"/>
          <p:cNvSpPr/>
          <p:nvPr/>
        </p:nvSpPr>
        <p:spPr>
          <a:xfrm>
            <a:off x="5020056" y="3273552"/>
            <a:ext cx="3410712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실천할 수 있는 참여: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5020056" y="3822192"/>
            <a:ext cx="3410712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29" name="Text 24"/>
          <p:cNvSpPr/>
          <p:nvPr/>
        </p:nvSpPr>
        <p:spPr>
          <a:xfrm>
            <a:off x="5020056" y="3941064"/>
            <a:ext cx="3410712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친구에게 배운 점: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5020056" y="4489704"/>
            <a:ext cx="3410712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개요 · 노션 수업 도구 설계 실습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차시의 목표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직접 참여형 NIE 노션 공간 설계·구축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반에서 바로 쓸 수업 페이지 완성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‘활용’을 넘어 ‘내가 만드는’ 경험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65192" y="1316736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흐름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65192" y="179222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71032" y="1792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시작·수업 페이지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65192" y="273710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71032" y="273710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5단계로 수업 공간 만들기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965192" y="368198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71032" y="368198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점검·상호 점검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  <p:sndAc>
          <p:stSnd>
            <p:snd r:embed="rIdSnd" name="pageturn.wav"/>
          </p:stSnd>
        </p:sndAc>
      </p:transition>
    </mc:Choice>
    <mc:Fallback>
      <p:transition spd="med">
        <p:cover dir="l"/>
        <p:sndAc>
          <p:stSnd>
            <p:snd r:embed="rIdSnd" name="pageturn.wav"/>
          </p:stSnd>
        </p:sndAc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노션 시작하기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시작하기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에듀넷/노션 접속·로그인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수업용 페이지(클래스) 만들기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접근 링크 준비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TIP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링크만으로 참여 가능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범위·편집 권한 먼저 설정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초등은 큰 버튼·간단한 목차로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설계 5단계 (실제 노션 구조)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 → 기사 DB → 댓글 활동 → 댓글 수집 → 정리·평가 순으로 만든다.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636776" cy="2880360"/>
          </a:xfrm>
          <a:prstGeom prst="roundRect">
            <a:avLst>
              <a:gd name="adj" fmla="val 614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3836" y="1755648"/>
            <a:ext cx="603504" cy="6035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8" name="Text 5"/>
          <p:cNvSpPr/>
          <p:nvPr/>
        </p:nvSpPr>
        <p:spPr>
          <a:xfrm>
            <a:off x="973836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245059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2688336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페이지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85216" y="3200400"/>
            <a:ext cx="1380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주제·목표·활동 순서 안내</a:t>
            </a:r>
            <a:endParaRPr lang="en-US" sz="940" dirty="0"/>
          </a:p>
        </p:txBody>
      </p:sp>
      <p:pic>
        <p:nvPicPr>
          <p:cNvPr id="12" name="Image 1" descr="/home/claude/_scratch_build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192024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48840" y="1554480"/>
            <a:ext cx="1636776" cy="2880360"/>
          </a:xfrm>
          <a:prstGeom prst="roundRect">
            <a:avLst>
              <a:gd name="adj" fmla="val 614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65476" y="1755648"/>
            <a:ext cx="603504" cy="6035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5" name="Text 11"/>
          <p:cNvSpPr/>
          <p:nvPr/>
        </p:nvSpPr>
        <p:spPr>
          <a:xfrm>
            <a:off x="2665476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240280" y="245059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240280" y="2688336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DB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276856" y="3200400"/>
            <a:ext cx="1380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이름·URL·본문 구성 후 피드 보기</a:t>
            </a:r>
            <a:endParaRPr lang="en-US" sz="940" dirty="0"/>
          </a:p>
        </p:txBody>
      </p:sp>
      <p:pic>
        <p:nvPicPr>
          <p:cNvPr id="19" name="Image 2" descr="/home/claude/_scratch_build/icon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920240"/>
            <a:ext cx="201168" cy="20116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840480" y="1554480"/>
            <a:ext cx="1636776" cy="2880360"/>
          </a:xfrm>
          <a:prstGeom prst="roundRect">
            <a:avLst>
              <a:gd name="adj" fmla="val 614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357116" y="1755648"/>
            <a:ext cx="603504" cy="6035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2" name="Text 17"/>
          <p:cNvSpPr/>
          <p:nvPr/>
        </p:nvSpPr>
        <p:spPr>
          <a:xfrm>
            <a:off x="4357116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3931920" y="245059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931920" y="2688336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활동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968496" y="3200400"/>
            <a:ext cx="1380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댓글·답글 규칙, 소통 기준</a:t>
            </a:r>
            <a:endParaRPr lang="en-US" sz="940" dirty="0"/>
          </a:p>
        </p:txBody>
      </p:sp>
      <p:pic>
        <p:nvPicPr>
          <p:cNvPr id="26" name="Image 3" descr="/home/claude/_scratch_build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1920240"/>
            <a:ext cx="201168" cy="20116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532120" y="1554480"/>
            <a:ext cx="1636776" cy="2880360"/>
          </a:xfrm>
          <a:prstGeom prst="roundRect">
            <a:avLst>
              <a:gd name="adj" fmla="val 614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048756" y="1755648"/>
            <a:ext cx="603504" cy="6035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9" name="Text 23"/>
          <p:cNvSpPr/>
          <p:nvPr/>
        </p:nvSpPr>
        <p:spPr>
          <a:xfrm>
            <a:off x="6048756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5623560" y="245059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623560" y="2688336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수집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660136" y="3200400"/>
            <a:ext cx="1380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원문 모음’ 자동 정리</a:t>
            </a:r>
            <a:endParaRPr lang="en-US" sz="940" dirty="0"/>
          </a:p>
        </p:txBody>
      </p:sp>
      <p:pic>
        <p:nvPicPr>
          <p:cNvPr id="33" name="Image 4" descr="/home/claude/_scratch_build/icon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920240"/>
            <a:ext cx="201168" cy="20116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223760" y="1554480"/>
            <a:ext cx="1636776" cy="2880360"/>
          </a:xfrm>
          <a:prstGeom prst="roundRect">
            <a:avLst>
              <a:gd name="adj" fmla="val 6145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740396" y="1755648"/>
            <a:ext cx="603504" cy="603504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36" name="Text 29"/>
          <p:cNvSpPr/>
          <p:nvPr/>
        </p:nvSpPr>
        <p:spPr>
          <a:xfrm>
            <a:off x="7740396" y="17556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0"/>
          <p:cNvSpPr/>
          <p:nvPr/>
        </p:nvSpPr>
        <p:spPr>
          <a:xfrm>
            <a:off x="7315200" y="2450592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7315200" y="2688336"/>
            <a:ext cx="1453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정리·평가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7351776" y="3200400"/>
            <a:ext cx="1380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요약·집계·피드백 공간</a:t>
            </a:r>
            <a:endParaRPr lang="en-US" sz="94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39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단계1 메인 페이지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주제·목표·활동 순서 안내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길을 잃지 않는 목차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규칙·예절 안내 배치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제목·헤더 넣기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순서 1·2·3 적기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 이동 링크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글씨·아이콘으로 저학년 배려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화면에 ‘오늘 할 일’이 보이게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단계2 기사 DB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데이터베이스(이름·URL·본문)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눈높이 기사 선별해 입력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피드/보드 보기로 카드화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만들기 → 속성 추가(이름·URL·본문)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5~6편 입력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 → 피드/갤러리 전환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초등이 읽을 수 있는 문장·길이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제목만 봐도 주제가 짐작되게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환경 설정하기 — 노션 웹클리퍼 설치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892040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webclip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89888"/>
            <a:ext cx="4599432" cy="29900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40680" y="1280160"/>
            <a:ext cx="3246120" cy="3246120"/>
          </a:xfrm>
          <a:prstGeom prst="roundRect">
            <a:avLst>
              <a:gd name="adj" fmla="val 3099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650992" y="1408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설치·사용 순서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650992" y="1847088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My links를 개인페이지 상단에 옮긴다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크롬을 열고 웹클리퍼를 설치한다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‘add to → My links’로 클릭한다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기사 페이지에서 클리퍼로 저장 → 기사 DB로 수집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40680" y="3639312"/>
            <a:ext cx="3246120" cy="886968"/>
          </a:xfrm>
          <a:prstGeom prst="roundRect">
            <a:avLst>
              <a:gd name="adj" fmla="val 11340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/home/claude/_scratch_build/clippe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767328"/>
            <a:ext cx="1280160" cy="59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67728" y="3712464"/>
            <a:ext cx="1627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5F84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설치되면 크롬 우측 상단 N 아이콘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클릭해 기사 저장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신문기사 수집 예시 — 웹클리퍼로 저장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89204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arti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71600"/>
            <a:ext cx="4553712" cy="313639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40680" y="1234440"/>
            <a:ext cx="3246120" cy="3429000"/>
          </a:xfrm>
          <a:prstGeom prst="roundRect">
            <a:avLst>
              <a:gd name="adj" fmla="val 3099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650992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기사를 수집합니다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650992" y="182880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충청일보 · ‘2026 보령 학생원탁토론회’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‘학생참여예산제’ 특강 — 참여·자치 주제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웹클리퍼로 저장 → 노션 기사 DB에 정리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이런 기사를 읽고 댓글로 참여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기사 DB 만들기 (표 → 갤러리 보기)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48056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db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1600"/>
            <a:ext cx="4078224" cy="32278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74920" y="1234440"/>
            <a:ext cx="3611880" cy="3429000"/>
          </a:xfrm>
          <a:prstGeom prst="roundRect">
            <a:avLst>
              <a:gd name="adj" fmla="val 2933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285232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DB 만들기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285232" y="18288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이름·텍스트·URL 속성의 기본 표로 만들기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웹클리퍼로 모은 기사를 표에서 확인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‘피드·갤러리 보기’로 전환 → 카드 형태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카드로 기사를 골라 읽기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보기 만들기 — 피드 보기로 전환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75488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feed_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1600"/>
            <a:ext cx="4370832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49240" y="1234440"/>
            <a:ext cx="3337560" cy="3429000"/>
          </a:xfrm>
          <a:prstGeom prst="roundRect">
            <a:avLst>
              <a:gd name="adj" fmla="val 3014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559552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 보기 만들기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559552" y="18288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‘보기 추가(+)’에서 ‘피드’ 선택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기사와 댓글을 한눈에 보기 좋게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표는 관리용, 피드/갤러리는 학생 열람용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카드로 기사 골라 읽고 댓글 달기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단계3 댓글 활동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기사마다 댓글 달 수 있게 설정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답글 규칙·예절 문구 고정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공감·질문 예시 제시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카드 열기 → 댓글 허용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예절 안내문 상단 고정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답글 예시 1개 시연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‘왜냐하면 ~’ 문장 틀 제공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비난 방지 규칙 눈에 띄게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학생 댓글 활동 예시 (이름 가림)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29768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371600"/>
            <a:ext cx="3712464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92040" y="1234440"/>
            <a:ext cx="3794760" cy="3429000"/>
          </a:xfrm>
          <a:prstGeom prst="roundRect">
            <a:avLst>
              <a:gd name="adj" fmla="val 2933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102352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댓글 활동 예시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102352" y="182880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기사를 읽고 자기 생각을 댓글로 표현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‘의회 견학·학생 자치’ 등 참여에 공감·부러움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글에 이어 서로 반응(상호작용)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학생 이름은 가림 처리 (개인정보 보호)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단계4 댓글 수집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원문 모음’ 공간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내용 자동 정리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확인·정리 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모음 페이지/DB 만들기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기사별·모둠별 정렬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엑셀로 내보내기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TIP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열은 익명 라벨로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시 실명 가림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단계5 정리·평가 공간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분석 요약’ 공간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‘학생별 집계·피드백’ 템플릿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성찰·자기평가 폼 연결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1783080"/>
          </a:xfrm>
          <a:prstGeom prst="roundRect">
            <a:avLst>
              <a:gd name="adj" fmla="val 564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순서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요약/집계 표 만들기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 폼 링크 연결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메모 칸 마련</a:t>
            </a:r>
            <a:endParaRPr lang="en-US" sz="1060" dirty="0"/>
          </a:p>
        </p:txBody>
      </p:sp>
      <p:sp>
        <p:nvSpPr>
          <p:cNvPr id="15" name="Shape 10"/>
          <p:cNvSpPr/>
          <p:nvPr/>
        </p:nvSpPr>
        <p:spPr>
          <a:xfrm>
            <a:off x="4764024" y="3063240"/>
            <a:ext cx="3922776" cy="1691640"/>
          </a:xfrm>
          <a:prstGeom prst="roundRect">
            <a:avLst>
              <a:gd name="adj" fmla="val 5946"/>
            </a:avLst>
          </a:prstGeom>
          <a:solidFill>
            <a:srgbClr val="E7EFE8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946904" y="32004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_scratch_build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05556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32004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TIP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21608"/>
            <a:ext cx="3502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집계는 학급 관리용</a:t>
            </a:r>
            <a:endParaRPr lang="en-US" sz="106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06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발표·공유엔 익명 처리</a:t>
            </a:r>
            <a:endParaRPr lang="en-US" sz="106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학생 초대(게스트)와 수업 운영 팁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20624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inv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71600"/>
            <a:ext cx="4023360" cy="316382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64024" y="1234440"/>
            <a:ext cx="3922776" cy="3429000"/>
          </a:xfrm>
          <a:prstGeom prst="roundRect">
            <a:avLst>
              <a:gd name="adj" fmla="val 2933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9834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운영 팁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983480" y="187452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→ 이메일로 게스트 초대(또는 링크 공유)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링크만 공유하면 계정 없이도 접속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버튼·간단한 목차로 저학년 배려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교사가 시범 댓글 1개 보여주기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규칙·예절 먼저 안내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부족하면 모둠 1대·짝 활동</a:t>
            </a:r>
            <a:endParaRPr lang="en-US" sz="1350" dirty="0"/>
          </a:p>
          <a:p>
            <a:pPr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교사는 실시간 순회로 격려·지원</a:t>
            </a:r>
            <a:endParaRPr lang="en-US" sz="13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초대 없이 공개로 수업 (링크+댓글 허용)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public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17320"/>
            <a:ext cx="3172968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0" y="1234440"/>
            <a:ext cx="4114800" cy="3429000"/>
          </a:xfrm>
          <a:prstGeom prst="roundRect">
            <a:avLst>
              <a:gd name="adj" fmla="val 2933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782312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초대 없이 공개로 수업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782312" y="1828800"/>
            <a:ext cx="3703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노션에 가입돼 있으면 초대 없이도 가능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사용 권한 → ‘링크가 있는 웹의 모든 사용자’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‘댓글 허용’으로 설정</a:t>
            </a:r>
            <a:endParaRPr lang="en-US" sz="1300" dirty="0"/>
          </a:p>
          <a:p>
            <a:pPr indent="0" marL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수업일에 페이지를 공개 → 링크만 주면 참여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페이지 공유와 잠금 관리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e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공유·잠금 세 가지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공유 — 학생은 읽기(댓글) 허용만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잠금 — 블록 이동·삭제 실수 방지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링크된 DB(인박스) 잠금 — 원본 숨기고 뷰 고정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확인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권한은 교사만 갖기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고칠 때만 잠금 해제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학생 기록이 보이지 않는지 확인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구글폼으로 수집하기 (대안)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e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구글폼 작성 방법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3개 — 학생 번호(드롭다운)·기사·의견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없이 제출되는지 설정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링크·QR 배포 전 테스트 제출 1회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DB 연계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탭 → Sheets 연결로 실시간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내려받아 노션 '가져오기'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학생·기사 관계 재연결로 집계 유지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교사 참여형 평가 안내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참여하는 방법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기사에 교사 모범 댓글 쓰기(모델링)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기준을 학생과 함께 다듬기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순회하며 답글·관찰로 실시간 피드백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실습: 선평가 → 비교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댓글을 교사들이 먼저 채점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점수·루브릭과 비교 토론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문장 다듬어 평가 일관성 확보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DB로 쉬운 평가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e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뷰에서 바로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옆에서 3영역 0~5점 입력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총점은 수식이 자동 합산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'검토 대기' 필터 뷰로 남은 것만 보기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 피크 활용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전문 보며 강점·피드백 기록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포워드(다음 도전) 한 가지 제시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채점 없이 한 표에서 끝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개인정보 유의 (필수)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댓글·집계에 실명이 남을 수 있음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연수·발표·공유 자료로 나갈 수 있음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아동 개인정보 보호는 타협 대상이 아님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애매하면 ‘가리는 쪽’ 선택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EDE7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350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44932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95544" y="135331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유의 (필수)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01768" y="1901952"/>
            <a:ext cx="3465576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발표·공유 자료엔 이름을 익명(학생 A·B)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공개 범위·편집 권한 확인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학번·연락처 등 식별정보도 가림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사례도 익명으로 제시</a:t>
            </a:r>
            <a:endParaRPr lang="en-US" sz="104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실습 점검·산출물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lip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점검 체크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3분 안에 기사 읽고 댓글 쓰는 동선?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규칙·예절이 화면에 보이는가?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댓글이 자동 수집·정리되는가?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저학년도 페이지를 찾기 쉬운가?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산출물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반 노션 수업 페이지(링크)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DB+댓글+수집+정리 완성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 실제 적용 준비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· 상호 점검 TIP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e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 점검 방법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선생님과 페이지 교환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‘학생 눈’으로 3분 체험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막히는 지점 메모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포인트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동선·규칙 가시성 보완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난이도 조정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권한·공개 범위 재확인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개요 · 참가자 체험형 적용·평가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차시의 목표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참가 교사가 ‘학생’이 되어 노션 수업을 직접 체험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만든 데이터로 과정중심평가·피드백을 실제로 시연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입장을 느끼고 우리 반 적용 계획 세우기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965192" y="1316736"/>
            <a:ext cx="3557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흐름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65192" y="179222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71032" y="1792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초대 → 기사·댓글 참여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965192" y="250088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71032" y="250088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AI로 방금 댓글 분석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965192" y="320954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71032" y="320954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루브릭·피드백 시연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965192" y="3918204"/>
            <a:ext cx="868680" cy="457200"/>
          </a:xfrm>
          <a:prstGeom prst="rect">
            <a:avLst>
              <a:gd name="adj" fmla="val 12000"/>
            </a:avLst>
          </a:prstGeom>
          <a:solidFill>
            <a:srgbClr val="D983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71032" y="391820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 → 우리 반 계획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  <p:sndAc>
          <p:stSnd>
            <p:snd r:embed="rIdSnd" name="pageturn.wav"/>
          </p:stSnd>
        </p:sndAc>
      </p:transition>
    </mc:Choice>
    <mc:Fallback>
      <p:transition spd="med">
        <p:cover dir="l"/>
        <p:sndAc>
          <p:stSnd>
            <p:snd r:embed="rIdSnd" name="pageturn.wav"/>
          </p:stSnd>
        </p:sndAc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선생님이 학생이 되어보기 (참가자 체험)</a:t>
            </a:r>
            <a:endParaRPr lang="en-US" sz="2600" dirty="0"/>
          </a:p>
        </p:txBody>
      </p:sp>
      <p:pic>
        <p:nvPicPr>
          <p:cNvPr id="5" name="Image 1" descr="/home/claude/_scratch_build/concept_experi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7498080" cy="3429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8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강사의 노션 페이지에 참가 교사를 초대 → 직접 기사 읽고 댓글·답글 → 방금 만든 데이터로 함께 분석·평가를 체험한다.</a:t>
            </a:r>
            <a:endParaRPr lang="en-US" sz="12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참가자 체험 진행 (기사·댓글)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진행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교사를 노션에 초대(공유·게스트/공개 설정)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‘신문 기사 읽고 댓글 달기’를 직접 체험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읽고 댓글 → 서로 답글로 상호작용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진행 팁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‘공개 설정’해 두면 접속이 빠름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1기기, 인원 많으면 모둠으로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눈으로 느낀 점을 메모하도록 안내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데이터 정리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정리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원문 모음’으로 수집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분석 요약’으로 경향 파악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‘학생별 집계·피드백’으로 개인 성장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팁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기사별·모둠별로 보기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키워드 뽑기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엑셀로 내보내기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노션 AI로 댓글 분석 (요약 페이지)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234440"/>
            <a:ext cx="5532120" cy="3429000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ai_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349240" cy="29443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89320" y="1234440"/>
            <a:ext cx="2697480" cy="3429000"/>
          </a:xfrm>
          <a:prstGeom prst="roundRect">
            <a:avLst>
              <a:gd name="adj" fmla="val 3729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17220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AI로 댓글 분석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72200" y="18288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‘댓글 분석 요약’ 페이지 + 노션 AI</a:t>
            </a:r>
            <a:endParaRPr lang="en-US" sz="1250" dirty="0"/>
          </a:p>
          <a:p>
            <a:pPr indent="0" marL="0">
              <a:lnSpc>
                <a:spcPct val="114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‘…모음 바탕으로 댓글 분석 요약 해줘’ 요청</a:t>
            </a:r>
            <a:endParaRPr lang="en-US" sz="1250" dirty="0"/>
          </a:p>
          <a:p>
            <a:pPr indent="0" marL="0">
              <a:lnSpc>
                <a:spcPct val="114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분류·감정 경향·근거 여부 정리</a:t>
            </a:r>
            <a:endParaRPr lang="en-US" sz="1250" dirty="0"/>
          </a:p>
          <a:p>
            <a:pPr indent="0" marL="0">
              <a:lnSpc>
                <a:spcPct val="114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과정중심평가·피드백에 활용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user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학생 댓글 분석 피드백 (노션 AI)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4663440" cy="3611880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home/claude/_scratch_build/feed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480560" cy="3429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166360" y="1188720"/>
            <a:ext cx="3520440" cy="3611880"/>
          </a:xfrm>
          <a:prstGeom prst="roundRect">
            <a:avLst>
              <a:gd name="adj" fmla="val 2857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376672" y="13258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분석 피드백 (노션 AI)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376672" y="182880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댓글마다 노션 AI가 피드백 생성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 → 보완 → 확장 질문 → 재작성 미션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‘왜냐하면 ~’ 근거 문장을 덧붙이도록 유도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교사는 이 틀로 성장 피드백을 빠르게 제공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학생 이름은 가림 처리 (개인정보 보호)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개인정보 유의 (필수)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기록·공유 시 원칙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집계·피드백엔 실명 대신 익명 라벨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발표·공유·연수 자료에는 이름 가림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파일 공유 시 권한·공개 범위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댓글도 익명으로 모범 제시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EDE7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350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44932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95544" y="135331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유의 (필수)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01768" y="1901952"/>
            <a:ext cx="3465576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A·B 등 익명 라벨 사용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이름·학번·연락처 모두 제거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공유 시 이름 부분 가리기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전 한 번 더 점검</a:t>
            </a:r>
            <a:endParaRPr lang="en-US" sz="104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과정중심평가 관점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보는가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이해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사례 찾기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있는 표현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상호작용 태도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성찰·개선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보는가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기록 관찰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자기평가·상호평가 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점수화보다 피드백 중심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피드업 · 피드백 · 피드포워드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질문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피드업 — 성취기준(수업·평가 목표) 먼저 공유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— 동료·자기·교사평가로 현재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피드포워드 — 도달 상태 보고 다음 수업 단계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수업에서는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루브릭·핵심 질문을 활동 전에 안내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자기점검 + 상호평가 + 교사 기록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보고 다음 기사·활동 수준 조정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평가 루브릭 (3영역)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3영역 · 각 0~5점 · 총 15점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이해 — 핵심 내용을 내 말로 언급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연결 — 의견·까닭을 기사와 연결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표현 — 존중하는 말로 분명하게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팁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입장이 아니라 근거를 평가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4수준(매우 잘함~더 연습 필요)로 변환 가능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학교급별 성취기준·확장 루브릭은 연수 페이지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과정중심평가 관점·기준</a:t>
            </a:r>
            <a:endParaRPr lang="en-US" sz="26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관점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도달 (잘함)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필요 (도움)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3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기사 이해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참여 사례를 정확히 파악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기사 내용을 다시 확인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사례 찾기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주민·청소년 참여를 근거로 제시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사례를 찾는 데 안내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있는 표현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자기 생각을 이유와 함께 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생각은 있으나 근거가 약함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상호작용 태도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공감·질문으로 존중하며 참여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답글 참여가 소극적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성찰·개선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전후 변화를 말하고 실천 다짐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E32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성찰 문장 작성에 지원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7E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 </a:t>
            </a:r>
            <a:pPr indent="0" marL="0">
              <a:buNone/>
            </a:pPr>
            <a:r>
              <a:rPr lang="en-US" sz="100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댓글·성찰 기록 관찰 + 자기평가/상호평가 폼. 점수화보다 성장 기록·피드백 중심.</a:t>
            </a:r>
            <a:endParaRPr lang="en-US" sz="10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user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자기평가 양식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7" name="Image 1" descr="/home/claude/_scratch_build/icons/user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35024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자기평가지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13232" y="1938528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기사를 잘 이해했다  (☆☆☆☆☆)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13232" y="2353666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713232" y="2472538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참여 사례를 찾았다  (☆☆☆☆☆)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13232" y="2887675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713232" y="3006547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근거를 들어 표현했다  (☆☆☆☆☆)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421685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713232" y="3540557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잘한 점: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13232" y="3955694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713232" y="4074566"/>
            <a:ext cx="3648456" cy="331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노력할 점: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13232" y="4489704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/home/claude/_scratch_build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자기평가 활용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점수보다 ‘생각의 근거’를 스스로 확인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성찰지와 함께 성장 기록으로 보관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폼으로 받으면 정리·피드백이 쉬움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결과 공유 시 이름은 익명 처리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pe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상호평가 양식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7" name="Image 1" descr="/home/claude/_scratch_build/icons/pe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35024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상호평가지 (친구 댓글을 보고)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13232" y="1938528"/>
            <a:ext cx="3648456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 이름 또는 번호: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13232" y="2487168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713232" y="2606040"/>
            <a:ext cx="3648456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좋았던 점: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13232" y="3154680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713232" y="3273552"/>
            <a:ext cx="3648456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궁금한 점 (질문):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822192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713232" y="3941064"/>
            <a:ext cx="3648456" cy="4138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별점  (☆☆☆☆☆):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13232" y="4489704"/>
            <a:ext cx="3648456" cy="0"/>
          </a:xfrm>
          <a:prstGeom prst="line">
            <a:avLst/>
          </a:prstGeom>
          <a:noFill/>
          <a:ln w="9525">
            <a:solidFill>
              <a:srgbClr val="E7DCCF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_scratch_build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상호평가 운영 TIP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비난이 아니라 ‘배울 점 + 질문’으로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대신 번호로 써도 됨(개인정보)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평가하니 불만이 줄고 참여가 늘어남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상호평가는 익명으로 함께 나누기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교사 피드백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do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방향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잘한 점 먼저, 이어서 한 걸음 제안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이해 → 상호작용의 질 → 성장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댓글을 익명으로 모범 제시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user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예시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“근거를 들어 써서 설득력 있어요.”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“친구 질문에 답하면 더 좋겠어요.”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“다음엔 다른 기사도 도전해요.”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환류와 기록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환류 (다음 수업 연결)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부족했던 부분을 다음 차시 활동에 반영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학급회의·자치활동으로 확장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 문제 해결 프로젝트 연계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 융합(국어·도덕)으로 발전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DEDE7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350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04" y="144932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95544" y="135331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유의 (필수)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01768" y="1901952"/>
            <a:ext cx="3465576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기록으로 남기되 이름은 익명화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공유·기록 시 공개 범위 확인</a:t>
            </a:r>
            <a:endParaRPr lang="en-US" sz="104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04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소감도 개인정보 제거 후 활용</a:t>
            </a:r>
            <a:endParaRPr lang="en-US" sz="104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새 수업을 위한 페이지 관리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복제 방식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'NIE 수업' 상위 페이지 만들기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복제 → 기사 전부 삭제 = 샘플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수업마다 샘플 복제, 새 기사만 등록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팁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샘플은 잠금으로 원본 보존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명단 DB는 학급당 하나만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규칙 — 날짜·기사 주제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· 학생 소감 활용 (익명)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qu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소감 예시 (익명)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“기사를 읽으니 참여가 어렵지 않아 보였어요.”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“친구 댓글에 답하며 생각이 넓어졌어요.”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“나도 학급 일에 의견을 내고 싶어요.”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bullho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소감 활용 방법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익명으로 모아 다음 수업 동기 유발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소감 학급 게시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공개 시 이름·개인정보 제거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see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측 효과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민주주의를 생활 속 실천과 연결해 이해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읽기·댓글·답글로 참여 경험 강화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생각을 근거와 함께 표현하는 힘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친구와 상호작용하며 존중·협력 태도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측 효과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개별 생각·상호작용이 기록으로 남음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과정중심평가 근거를 빠르게 정리·피드백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만든 노션 수업을 반복·재사용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동료와 자료 공유로 수업 나눔 확산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적용 포인트 · 확장성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tas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포인트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선정은 학생 눈높이에, 댓글은 생각의 질에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점수화보다 성장 기록·피드백 중심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익명화를 습관으로(공유·발표 시)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활동 = 한 메시지로 명료하게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아이디어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학급회의·학교 자치활동과 연계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지역사회 문제 해결 프로젝트로 발전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국어(설득 글)·도덕(공동체)과 융합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패들렛·캔바 등 다른 도구와 결합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 (FAQ)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 ①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노션이 처음이어도 되나요? → 링크·기본 기능만으로 충분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계정 없는 학생은? → 교사 페이지 링크로 접속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기기가 부족하면? → 모둠 1대·짝 활동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 ②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저학년도 가능? → 기사 짧게·버튼 크게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개인정보가 걱정돼요 → 익명 라벨·공개 범위 설정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평가가 부담돼요 → 점수 대신 기록·피드백 중심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BEFE0"/>
          </a:solidFill>
          <a:ln/>
        </p:spPr>
      </p:sp>
      <p:pic>
        <p:nvPicPr>
          <p:cNvPr id="3" name="Image 0" descr="/home/claude/_scratch_build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6576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 · 링크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60520" cy="3566160"/>
          </a:xfrm>
          <a:prstGeom prst="roundRect">
            <a:avLst>
              <a:gd name="adj" fmla="val 2821"/>
            </a:avLst>
          </a:prstGeom>
          <a:solidFill>
            <a:srgbClr val="FDF7EF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/home/claude/_scratch_build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14310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325880"/>
            <a:ext cx="3300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자료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76656" y="1847088"/>
            <a:ext cx="3739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‘Notion works › 사회 민주주의 신문기사 모음’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기사: 학교민주주의·청소년 참여 사례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활동지·자기/상호평가 양식(본 교안 수록)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64024" y="1188720"/>
            <a:ext cx="3922776" cy="3566160"/>
          </a:xfrm>
          <a:prstGeom prst="roundRect">
            <a:avLst>
              <a:gd name="adj" fmla="val 2821"/>
            </a:avLst>
          </a:prstGeom>
          <a:solidFill>
            <a:srgbClr val="F5F0E9"/>
          </a:solidFill>
          <a:ln w="9525">
            <a:solidFill>
              <a:srgbClr val="E7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46904" y="1325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/home/claude/_scratch_build/icon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31036"/>
            <a:ext cx="210312" cy="210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7256" y="1325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2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살펴보기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83480" y="1847088"/>
            <a:ext cx="3502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에듀넷·위두랑 등 공공 학습 플랫폼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시·도교육청 민주시민교육 자료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3E3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교육 활용 가이드</a:t>
            </a:r>
            <a:endParaRPr lang="en-US" sz="125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</p:transition>
    </mc:Choice>
    <mc:Fallback>
      <p:transition spd="med">
        <p:cover dir="l"/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0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743200"/>
            <a:ext cx="3291840" cy="3291840"/>
          </a:xfrm>
          <a:prstGeom prst="ellipse">
            <a:avLst/>
          </a:prstGeom>
          <a:solidFill>
            <a:srgbClr val="5A4038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4A342F"/>
          </a:solidFill>
          <a:ln/>
        </p:spPr>
      </p:sp>
      <p:pic>
        <p:nvPicPr>
          <p:cNvPr id="4" name="Image 0" descr="/home/claude/_scratch_build/icons/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민주주의는 배우는 개념을 넘어,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직접 참여하고 실천하는 경험에서 자라납니다.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디지털 환경을 ‘활용’에 그치지 않고 학생 ‘참여’로 이어가는 수업 설계</a:t>
            </a:r>
            <a:endParaRPr lang="en-US" sz="1300" dirty="0"/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med" p14:dur="1100">
        <p14:pageCurlDouble/>
        <p:sndAc>
          <p:stSnd>
            <p:snd r:embed="rIdSnd" name="pageturn.wav"/>
          </p:stSnd>
        </p:sndAc>
      </p:transition>
    </mc:Choice>
    <mc:Fallback>
      <p:transition spd="med">
        <p:cover dir="l"/>
        <p:sndAc>
          <p:stSnd>
            <p:snd r:embed="rIdSnd" name="pageturn.wav"/>
          </p:stSnd>
        </p:sndAc>
      </p:transition>
    </mc:Fallback>
  </mc:AlternateContent>
  <p:clrMapOvr>
    <a:masterClrMapping/>
  </p:clrMapOvr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101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노션 활용 NIE 조사학습 학생 참여형 수업 설계 (50p 상세본)</dc:title>
  <dc:subject>PptxGenJS Presentation</dc:subject>
  <dc:creator>교원 연수</dc:creator>
  <cp:lastModifiedBy>교원 연수</cp:lastModifiedBy>
  <cp:revision>1</cp:revision>
  <dcterms:created xsi:type="dcterms:W3CDTF">2026-07-08T13:58:45Z</dcterms:created>
  <dcterms:modified xsi:type="dcterms:W3CDTF">2026-07-08T13:58:45Z</dcterms:modified>
</cp:coreProperties>
</file>