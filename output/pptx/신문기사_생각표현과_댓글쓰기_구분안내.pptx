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438374e2204df5" /><Relationship Type="http://schemas.openxmlformats.org/officeDocument/2006/relationships/extended-properties" Target="/docProps/app.xml" Id="Rb8cec0c43f1e4257" /><Relationship Type="http://schemas.openxmlformats.org/officeDocument/2006/relationships/officeDocument" Target="/ppt/presentation.xml" Id="R4977179cb5c342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55f9f9747a45e9"/>
  </p:sldMasterIdLst>
  <p:notesMasterIdLst>
    <p:notesMasterId xmlns:r="http://schemas.openxmlformats.org/officeDocument/2006/relationships" r:id="R04f26b4ab9244a0a"/>
  </p:notesMasterIdLst>
  <p:sldIdLst>
    <p:sldId xmlns:r="http://schemas.openxmlformats.org/officeDocument/2006/relationships" id="256" r:id="Re92f00743bc64b92"/>
    <p:sldId xmlns:r="http://schemas.openxmlformats.org/officeDocument/2006/relationships" id="257" r:id="Re3163893729b48c9"/>
    <p:sldId xmlns:r="http://schemas.openxmlformats.org/officeDocument/2006/relationships" id="258" r:id="Rfc541ce48a984c3d"/>
    <p:sldId xmlns:r="http://schemas.openxmlformats.org/officeDocument/2006/relationships" id="259" r:id="R4f6f419430ba44e3"/>
    <p:sldId xmlns:r="http://schemas.openxmlformats.org/officeDocument/2006/relationships" id="260" r:id="Rffee24ed275a49e1"/>
    <p:sldId xmlns:r="http://schemas.openxmlformats.org/officeDocument/2006/relationships" id="261" r:id="Rddd678c4ce9e4ebd"/>
    <p:sldId xmlns:r="http://schemas.openxmlformats.org/officeDocument/2006/relationships" id="262" r:id="Rf10d188be96e4371"/>
    <p:sldId xmlns:r="http://schemas.openxmlformats.org/officeDocument/2006/relationships" id="263" r:id="Rb039efe4068f4a11"/>
    <p:sldId xmlns:r="http://schemas.openxmlformats.org/officeDocument/2006/relationships" id="264" r:id="R3653d0733b754711"/>
    <p:sldId xmlns:r="http://schemas.openxmlformats.org/officeDocument/2006/relationships" id="265" r:id="R13ffc9df0d9c430b"/>
    <p:sldId xmlns:r="http://schemas.openxmlformats.org/officeDocument/2006/relationships" id="266" r:id="R856e64f5c17c4cfd"/>
    <p:sldId xmlns:r="http://schemas.openxmlformats.org/officeDocument/2006/relationships" id="267" r:id="Re5b6adcfbc0b47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5a141701ee4aa3" /><Relationship Type="http://schemas.openxmlformats.org/officeDocument/2006/relationships/slideMaster" Target="/ppt/slideMasters/slideMaster1.xml" Id="R3355f9f9747a45e9" /><Relationship Type="http://schemas.openxmlformats.org/officeDocument/2006/relationships/notesMaster" Target="/ppt/notesMasters/notesMaster1.xml" Id="R04f26b4ab9244a0a" /><Relationship Type="http://schemas.openxmlformats.org/officeDocument/2006/relationships/presProps" Target="/ppt/presProps.xml" Id="R96d734f1231a405b" /><Relationship Type="http://schemas.openxmlformats.org/officeDocument/2006/relationships/tableStyles" Target="/ppt/tableStyles.xml" Id="R4e43ceadca8744e5" /><Relationship Type="http://schemas.openxmlformats.org/officeDocument/2006/relationships/slide" Target="/ppt/slides/slide1.xml" Id="Re92f00743bc64b92" /><Relationship Type="http://schemas.openxmlformats.org/officeDocument/2006/relationships/slide" Target="/ppt/slides/slide2.xml" Id="Re3163893729b48c9" /><Relationship Type="http://schemas.openxmlformats.org/officeDocument/2006/relationships/slide" Target="/ppt/slides/slide3.xml" Id="Rfc541ce48a984c3d" /><Relationship Type="http://schemas.openxmlformats.org/officeDocument/2006/relationships/slide" Target="/ppt/slides/slide4.xml" Id="R4f6f419430ba44e3" /><Relationship Type="http://schemas.openxmlformats.org/officeDocument/2006/relationships/slide" Target="/ppt/slides/slide5.xml" Id="Rffee24ed275a49e1" /><Relationship Type="http://schemas.openxmlformats.org/officeDocument/2006/relationships/slide" Target="/ppt/slides/slide6.xml" Id="Rddd678c4ce9e4ebd" /><Relationship Type="http://schemas.openxmlformats.org/officeDocument/2006/relationships/slide" Target="/ppt/slides/slide7.xml" Id="Rf10d188be96e4371" /><Relationship Type="http://schemas.openxmlformats.org/officeDocument/2006/relationships/slide" Target="/ppt/slides/slide8.xml" Id="Rb039efe4068f4a11" /><Relationship Type="http://schemas.openxmlformats.org/officeDocument/2006/relationships/slide" Target="/ppt/slides/slide9.xml" Id="R3653d0733b754711" /><Relationship Type="http://schemas.openxmlformats.org/officeDocument/2006/relationships/slide" Target="/ppt/slides/slide10.xml" Id="R13ffc9df0d9c430b" /><Relationship Type="http://schemas.openxmlformats.org/officeDocument/2006/relationships/slide" Target="/ppt/slides/slide11.xml" Id="R856e64f5c17c4cfd" /><Relationship Type="http://schemas.openxmlformats.org/officeDocument/2006/relationships/slide" Target="/ppt/slides/slide12.xml" Id="Re5b6adcfbc0b47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442ef8d0f64f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dd2ccb5d534f31" /><Relationship Type="http://schemas.openxmlformats.org/officeDocument/2006/relationships/notesMaster" Target="/ppt/notesMasters/notesMaster1.xml" Id="R852dbd7ccf7442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eb661e329047d5" /><Relationship Type="http://schemas.openxmlformats.org/officeDocument/2006/relationships/notesMaster" Target="/ppt/notesMasters/notesMaster1.xml" Id="Rb76dca8860af46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2cbdfe3f5a4c1f" /><Relationship Type="http://schemas.openxmlformats.org/officeDocument/2006/relationships/notesMaster" Target="/ppt/notesMasters/notesMaster1.xml" Id="R214f4f3e039048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034dbd2c654bae" /><Relationship Type="http://schemas.openxmlformats.org/officeDocument/2006/relationships/notesMaster" Target="/ppt/notesMasters/notesMaster1.xml" Id="Rc68db7413ee14d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9f4edf404b4153" /><Relationship Type="http://schemas.openxmlformats.org/officeDocument/2006/relationships/notesMaster" Target="/ppt/notesMasters/notesMaster1.xml" Id="R968b2cca6c504f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7ce2d35a314f32" /><Relationship Type="http://schemas.openxmlformats.org/officeDocument/2006/relationships/notesMaster" Target="/ppt/notesMasters/notesMaster1.xml" Id="R38d715979e5344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41a848a2ff4857" /><Relationship Type="http://schemas.openxmlformats.org/officeDocument/2006/relationships/notesMaster" Target="/ppt/notesMasters/notesMaster1.xml" Id="Rae568b315dbc44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3ab3d406b14452" /><Relationship Type="http://schemas.openxmlformats.org/officeDocument/2006/relationships/notesMaster" Target="/ppt/notesMasters/notesMaster1.xml" Id="Ra22b373d7e664d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c6757070d74960" /><Relationship Type="http://schemas.openxmlformats.org/officeDocument/2006/relationships/notesMaster" Target="/ppt/notesMasters/notesMaster1.xml" Id="Rdff0a931868e4a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f5b4e98c0c46a0" /><Relationship Type="http://schemas.openxmlformats.org/officeDocument/2006/relationships/notesMaster" Target="/ppt/notesMasters/notesMaster1.xml" Id="R3a15b6afbb6847b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9912ad609004eec" /><Relationship Type="http://schemas.openxmlformats.org/officeDocument/2006/relationships/notesMaster" Target="/ppt/notesMasters/notesMaster1.xml" Id="R63390ff2fd0d49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49206c786a4008" /><Relationship Type="http://schemas.openxmlformats.org/officeDocument/2006/relationships/notesMaster" Target="/ppt/notesMasters/notesMaster1.xml" Id="R4764cea5b8c147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오늘은 두 가지를 구분해서 배웁니다.</a:t>
            </a:r>
          </a:p>
          <a:p xmlns:a="http://schemas.openxmlformats.org/drawingml/2006/main">
            <a:r>
              <a:t>먼저 신문기사를 읽고 내 생각을 표현하는 방법, 그다음 그 생각을 댓글로 쓰는 방법입니다.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예시와 기존 신문기사 댓글쓰기 평가 안내 자료를 바탕으로 재구성함.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부분은 댓글을 쓰기 전 단계입니다.</a:t>
            </a:r>
          </a:p>
          <a:p xmlns:a="http://schemas.openxmlformats.org/drawingml/2006/main">
            <a:r>
              <a:t>기사를 제대로 읽고, 내가 무엇을 어떻게 생각하는지 정리하는 과정입니다.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예시와 기존 신문기사 댓글쓰기 평가 안내 자료를 바탕으로 재구성함.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기사는 중요한 일이기 때문에 기사로 나옵니다.</a:t>
            </a:r>
          </a:p>
          <a:p xmlns:a="http://schemas.openxmlformats.org/drawingml/2006/main">
            <a:r>
              <a:t>무슨 일이 있었는지, 누가 관련되어 있는지, 왜 중요한지를 먼저 찾아야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예시와 기존 신문기사 댓글쓰기 평가 안내 자료를 바탕으로 재구성함.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 의견의 방향을 정합니다. 기사와 같게 생각할 수도 있고, 다르게 생각할 수도 있습니다.</a:t>
            </a:r>
          </a:p>
          <a:p xmlns:a="http://schemas.openxmlformats.org/drawingml/2006/main">
            <a:r>
              <a:t>아직 판단하기 어렵다면 더 살펴보겠다고 표현해도 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예시와 기존 신문기사 댓글쓰기 평가 안내 자료를 바탕으로 재구성함.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생각만 쓰면 부족합니다. 왜 그렇게 생각했는지 이유가 함께 있어야 합니다.</a:t>
            </a:r>
          </a:p>
          <a:p xmlns:a="http://schemas.openxmlformats.org/drawingml/2006/main">
            <a:r>
              <a:t>두 문장만 정확히 써도 좋은 생각 표현이 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예시와 기존 신문기사 댓글쓰기 평가 안내 자료를 바탕으로 재구성함.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그냥 싫다고만 쓰면 이유가 보이지 않습니다.</a:t>
            </a:r>
          </a:p>
          <a:p xmlns:a="http://schemas.openxmlformats.org/drawingml/2006/main">
            <a:r>
              <a:t>나는 어떻게 생각하는지, 왜 그렇게 생각하는지를 함께 써야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예시와 기존 신문기사 댓글쓰기 평가 안내 자료를 바탕으로 재구성함.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이제는 정리한 생각을 댓글로 쓰는 방법입니다.</a:t>
            </a:r>
          </a:p>
          <a:p xmlns:a="http://schemas.openxmlformats.org/drawingml/2006/main">
            <a:r>
              <a:t>댓글은 짧지만 다른 사람이 읽는 공적인 글이므로 예절이 필요합니다.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예시와 기존 신문기사 댓글쓰기 평가 안내 자료를 바탕으로 재구성함.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댓글은 짧아도 기사에 답하는 글입니다.</a:t>
            </a:r>
          </a:p>
          <a:p xmlns:a="http://schemas.openxmlformats.org/drawingml/2006/main">
            <a:r>
              <a:t>기사와 관련 있게, 내 입장을 분명히, 이유를 붙여서, 존중하는 말로 써야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예시와 기존 신문기사 댓글쓰기 평가 안내 자료를 바탕으로 재구성함.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어려운 친구들은 이 문장 공식을 그대로 사용해도 됩니다.</a:t>
            </a:r>
          </a:p>
          <a:p xmlns:a="http://schemas.openxmlformats.org/drawingml/2006/main">
            <a:r>
              <a:t>기사 내용, 내 생각, 이유, 존중 표현이 들어가면 바른 댓글이 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예시와 기존 신문기사 댓글쓰기 평가 안내 자료를 바탕으로 재구성함.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댓글은 내 생각을 남기는 글이지만, 다른 사람이 읽는 글입니다.</a:t>
            </a:r>
          </a:p>
          <a:p xmlns:a="http://schemas.openxmlformats.org/drawingml/2006/main">
            <a:r>
              <a:t>그래서 내 의견을 쓰더라도 말은 존중해야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예시와 기존 신문기사 댓글쓰기 평가 안내 자료를 바탕으로 재구성함.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평가는 두 부분을 함께 봅니다.</a:t>
            </a:r>
          </a:p>
          <a:p xmlns:a="http://schemas.openxmlformats.org/drawingml/2006/main">
            <a:r>
              <a:t>기사를 읽고 생각을 표현했는지, 그 생각을 바른 댓글 형식으로 썼는지를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예시와 기존 신문기사 댓글쓰기 평가 안내 자료를 바탕으로 재구성함.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제출 전에는 생각 표현과 댓글 쓰기를 따로 확인하게 합니다.</a:t>
            </a:r>
          </a:p>
          <a:p xmlns:a="http://schemas.openxmlformats.org/drawingml/2006/main">
            <a:r>
              <a:t>생각은 좋은데 댓글 예절이 부족하거나, 댓글 형식은 있지만 생각과 이유가 없으면 보완해야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예시와 기존 신문기사 댓글쓰기 평가 안내 자료를 바탕으로 재구성함.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c00221fdb04b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6bbb1f69534abe" /><Relationship Type="http://schemas.openxmlformats.org/officeDocument/2006/relationships/slideLayout" Target="/ppt/slideLayouts/slideLayout1.xml" Id="Rfaaba0cc2d1243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aba0cc2d1243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f3dc99816f4b49" /><Relationship Type="http://schemas.openxmlformats.org/officeDocument/2006/relationships/image" Target="/ppt/media/image.png" Id="R95ed322e51eb4401" /><Relationship Type="http://schemas.openxmlformats.org/officeDocument/2006/relationships/notesSlide" Target="/ppt/notesSlides/notesSlide1.xml" Id="Rb2c949e7ac5a49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4f3db95b5d4826" /><Relationship Type="http://schemas.openxmlformats.org/officeDocument/2006/relationships/notesSlide" Target="/ppt/notesSlides/notesSlide2.xml" Id="R61d1cb21018749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6e83b44a6443b" /><Relationship Type="http://schemas.openxmlformats.org/officeDocument/2006/relationships/notesSlide" Target="/ppt/notesSlides/notesSlide3.xml" Id="R592541d77e4649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a408bbd41418a" /><Relationship Type="http://schemas.openxmlformats.org/officeDocument/2006/relationships/notesSlide" Target="/ppt/notesSlides/notesSlide4.xml" Id="R63f6e93bc4bf45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5e1a7706f40d6" /><Relationship Type="http://schemas.openxmlformats.org/officeDocument/2006/relationships/notesSlide" Target="/ppt/notesSlides/notesSlide5.xml" Id="R83d3932441554d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660e7f09a482e" /><Relationship Type="http://schemas.openxmlformats.org/officeDocument/2006/relationships/notesSlide" Target="/ppt/notesSlides/notesSlide6.xml" Id="Rc595d49cd19348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3893d64064692" /><Relationship Type="http://schemas.openxmlformats.org/officeDocument/2006/relationships/notesSlide" Target="/ppt/notesSlides/notesSlide7.xml" Id="R2de7fb9e15b44d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ac42c27d84fa8" /><Relationship Type="http://schemas.openxmlformats.org/officeDocument/2006/relationships/notesSlide" Target="/ppt/notesSlides/notesSlide8.xml" Id="R79450ff4a9b844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3edb69f8d48e9" /><Relationship Type="http://schemas.openxmlformats.org/officeDocument/2006/relationships/notesSlide" Target="/ppt/notesSlides/notesSlide9.xml" Id="Rb26d982fbc9741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3acb4dadd483c" /><Relationship Type="http://schemas.openxmlformats.org/officeDocument/2006/relationships/notesSlide" Target="/ppt/notesSlides/notesSlide10.xml" Id="R4f65a76e88074b7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373b553664e95" /><Relationship Type="http://schemas.openxmlformats.org/officeDocument/2006/relationships/notesSlide" Target="/ppt/notesSlides/notesSlide11.xml" Id="R8606f22bc2314f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185011e594e53" /><Relationship Type="http://schemas.openxmlformats.org/officeDocument/2006/relationships/notesSlide" Target="/ppt/notesSlides/notesSlide12.xml" Id="Rfbb5920c3e9048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7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7570E-0CC6-4FD4-9317-E7AF2522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8580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신문기사를 읽고</a:t>
            </a:r>
          </a:p>
          <a:p xmlns:a="http://schemas.openxmlformats.org/drawingml/2006/main">
            <a:pPr>
              <a:defRPr sz="40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생각을 표현한 뒤</a:t>
            </a:r>
          </a:p>
          <a:p xmlns:a="http://schemas.openxmlformats.org/drawingml/2006/main">
            <a:pPr>
              <a:defRPr sz="40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바른 댓글로 써요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62CC6-52F1-4685-9982-2B96EAEB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1부 생각 표현하기   |   2부 댓글 쓰기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1236FE-5A26-4143-939B-839ED07B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6572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EF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62A6D-75CB-47C0-B3DF-13BBDB07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먼저 생각을 정리하고, 그다음 댓글 형식에 맞게 씁니다.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ed322e51eb4401"/>
          <a:srcRect xmlns:a="http://schemas.openxmlformats.org/drawingml/2006/main" l="15116" t="0" r="151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5300" y="876300"/>
            <a:ext cx="2857500" cy="409575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</p:spTree>
    <p:extLst>
      <p:ext uri="{BB962C8B-B14F-4D97-AF65-F5344CB8AC3E}">
        <p14:creationId xmlns:p14="http://schemas.microsoft.com/office/powerpoint/2010/main" val="12153871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303CF-885A-4E4A-896A-AE8B5EA8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8095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9E2C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9E2C8"/>
                </a:solidFill>
                <a:latin typeface="Arial"/>
                <a:ea typeface="Arial"/>
                <a:cs typeface="Arial"/>
              </a:rPr>
              <a:t>1부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C81CB-4C62-430E-892D-6A860A7D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809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신문기사를 읽고</a:t>
            </a:r>
          </a:p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자신의 생각을 표현하는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C2241-E7C7-4A45-8971-9B82B5CF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3827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D9E7F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D9E7FF"/>
                </a:solidFill>
                <a:latin typeface="Arial"/>
                <a:ea typeface="Arial"/>
                <a:cs typeface="Arial"/>
              </a:rPr>
              <a:t>댓글을 쓰기 전에 먼저 해야 하는 생각 정리입니다.</a:t>
            </a:r>
          </a:p>
        </p:txBody>
      </p:sp>
    </p:spTree>
    <p:extLst>
      <p:ext uri="{BB962C8B-B14F-4D97-AF65-F5344CB8AC3E}">
        <p14:creationId xmlns:p14="http://schemas.microsoft.com/office/powerpoint/2010/main" val="4322562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42A73B-6AD2-4931-B95D-CBBF1B47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생각 표현 1단계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F43E6-643E-46C5-931F-5C3E41F2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기사에서 중요한 내용을 찾아요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E6DB68-FD53-4F27-8177-C0344F9F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2B7103-A1E4-4022-B4A3-C9696559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4762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2662FF-FB06-4DC9-8772-070F4A0E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261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무슨 일이 있었나요?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C13E89-B5CF-49A6-A45F-2C9BDC0A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00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E6C84"/>
                </a:solidFill>
                <a:latin typeface="Arial"/>
                <a:ea typeface="Arial"/>
                <a:cs typeface="Arial"/>
              </a:rPr>
              <a:t>핵심 사건을 찾기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985B8C-694D-4A1A-8A9F-BB73BC30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14550"/>
            <a:ext cx="4762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F1BA8-A40A-4416-ACE4-83CF57E8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43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261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누가 관련되어 있나요?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1744A-3E6F-41E8-80CB-23A870D0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00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E6C84"/>
                </a:solidFill>
                <a:latin typeface="Arial"/>
                <a:ea typeface="Arial"/>
                <a:cs typeface="Arial"/>
              </a:rPr>
              <a:t>사람, 기관, 지역 확인하기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51D5E-150B-4491-9114-EE9590BC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4762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649517-615B-48E1-8F1E-49FDBD48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053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261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왜 중요한가요?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1D53CD-51DE-49C0-93B1-BBCC1FE0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62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E6C84"/>
                </a:solidFill>
                <a:latin typeface="Arial"/>
                <a:ea typeface="Arial"/>
                <a:cs typeface="Arial"/>
              </a:rPr>
              <a:t>우리 사회와 연결해 보기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E92D32-5953-46BF-AC94-FDE27028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76700"/>
            <a:ext cx="4762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85D8C8-2430-4915-BBC6-6BF4CD6F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053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261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사실인가요, 의견인가요?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EA5DB7-1B17-4E24-9473-3E654146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62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E6C84"/>
                </a:solidFill>
                <a:latin typeface="Arial"/>
                <a:ea typeface="Arial"/>
                <a:cs typeface="Arial"/>
              </a:rPr>
              <a:t>기사 내용과 주장 구분하기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2C2361-BB4C-4D14-8039-5278C197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신문기사 생각 표현과 댓글 쓰기 | 3</a:t>
            </a:r>
          </a:p>
        </p:txBody>
      </p:sp>
    </p:spTree>
    <p:extLst>
      <p:ext uri="{BB962C8B-B14F-4D97-AF65-F5344CB8AC3E}">
        <p14:creationId xmlns:p14="http://schemas.microsoft.com/office/powerpoint/2010/main" val="5043995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AC35BC-7E12-4D7F-ACD4-BF34211B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생각 표현 2단계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90081D-3A32-4630-B3B3-3F2441E6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내 의견의 방향을 정해요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BE97A-173E-4BB3-8EFD-8E12E9EC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D055B-75AD-415E-B3A3-23123EF7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32004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DDF7EF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168532-8126-4E83-A04F-EDFF0A1F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955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같이 생각해요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B577E-883A-46A5-8702-A3B8BC3B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62300"/>
            <a:ext cx="2552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나는 기사와</a:t>
            </a:r>
          </a:p>
          <a:p xmlns:a="http://schemas.openxmlformats.org/drawingml/2006/main">
            <a:pPr algn="ctr">
              <a:defRPr sz="20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같은 의견이에요.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A2E50-ABE2-4E03-9AA2-AD0E6177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52650"/>
            <a:ext cx="32004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E7F2FF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D32D7E-0860-4DC8-BCB6-C8A43D99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955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다르게 생각해요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EB86C-7C6A-4A44-B828-AE29D3E3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62300"/>
            <a:ext cx="2552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나는 기사와</a:t>
            </a:r>
          </a:p>
          <a:p xmlns:a="http://schemas.openxmlformats.org/drawingml/2006/main">
            <a:pPr algn="ctr">
              <a:defRPr sz="20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다른 의견이에요.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363A3-93E9-42F5-93B4-42FFBFDD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52650"/>
            <a:ext cx="32004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6284BF-CF4D-4706-949B-2CA8F40C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955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더 생각해요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A3D70D-F968-4B2D-B1E9-E06621C1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2552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바로 정하기보다</a:t>
            </a:r>
          </a:p>
          <a:p xmlns:a="http://schemas.openxmlformats.org/drawingml/2006/main">
            <a:pPr algn="ctr">
              <a:defRPr sz="20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조금 더 살펴봐요.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AA150D-5236-4FDB-9DBA-23F961FA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24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생각 표현은 정답 맞히기가 아니라, 기사 내용을 바탕으로 내 방향을 세우는 일입니다.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BD89B4-A41E-455C-908C-83409F05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신문기사 생각 표현과 댓글 쓰기 | 4</a:t>
            </a:r>
          </a:p>
        </p:txBody>
      </p:sp>
    </p:spTree>
    <p:extLst>
      <p:ext uri="{BB962C8B-B14F-4D97-AF65-F5344CB8AC3E}">
        <p14:creationId xmlns:p14="http://schemas.microsoft.com/office/powerpoint/2010/main" val="11396998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8C6898-9912-47E6-882A-B0512A57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생각 표현 3단계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C7DDAB-8EAF-448B-A47D-C4050D2B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내 생각은 이유와 함께 말해요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D89265-5AD5-4548-9943-FEB17BDD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24400-6D27-4179-8DBD-4B6071F6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1047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E4E27-32A4-47D2-A5C7-1D35AA3D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955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나는 __________________ 라고 생각해요.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D6E38D-5F82-4CE7-BF86-247DFB28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1047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DF7EF"/>
          </a:solidFill>
          <a:ln xmlns:a="http://schemas.openxmlformats.org/drawingml/2006/main" w="11430">
            <a:solidFill>
              <a:srgbClr val="A9DD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785E9-F558-4F08-8FED-D0D8FD72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3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왜냐하면 __________________ 때문이에요.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450C5-25BC-4200-8C2A-F1061AD7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00700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3827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좋은 생각 표현 = 내 의견 + 그렇게 생각한 이유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D0075B-E093-446D-9282-367CB0A9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신문기사 생각 표현과 댓글 쓰기 | 5</a:t>
            </a:r>
          </a:p>
        </p:txBody>
      </p:sp>
    </p:spTree>
    <p:extLst>
      <p:ext uri="{BB962C8B-B14F-4D97-AF65-F5344CB8AC3E}">
        <p14:creationId xmlns:p14="http://schemas.microsoft.com/office/powerpoint/2010/main" val="52199590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A90BEF-60F4-442B-9F58-99540EF9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생각 표현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40DFCC-5FBB-4AE7-844E-9FB66F7D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이유가 있으면 생각이 더 잘 보여요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7052C8-257A-4F3E-92C7-A878DF8D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FE5D5-410E-4A8E-A426-571CD214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E8E8"/>
          </a:solidFill>
          <a:ln xmlns:a="http://schemas.openxmlformats.org/drawingml/2006/main" w="11430">
            <a:solidFill>
              <a:srgbClr val="F5B7B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F6280-C31D-45E0-9E6D-4A7CBE8D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953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DDF7EF"/>
          </a:solidFill>
          <a:ln xmlns:a="http://schemas.openxmlformats.org/drawingml/2006/main" w="11430">
            <a:solidFill>
              <a:srgbClr val="A9DD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99FA5-CF9C-449B-83A2-9F9314AC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부족한 표현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2216DC-BBFC-49AC-9448-4E4BAB07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3905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6875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이건 아닌 것 같아요.</a:t>
            </a:r>
          </a:p>
          <a:p xmlns:a="http://schemas.openxmlformats.org/drawingml/2006/main">
            <a:pPr>
              <a:defRPr sz="24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싫어요.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D42C4-7BE8-4072-9699-E7621935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43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E6C84"/>
                </a:solidFill>
                <a:latin typeface="Arial"/>
                <a:ea typeface="Arial"/>
                <a:cs typeface="Arial"/>
              </a:rPr>
              <a:t>왜 그런지 알기 어려워요.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3E420C-40B6-4234-BBC2-C86B043B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81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좋은 표현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BAC31-7CE9-4617-BBC5-0B467124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71800"/>
            <a:ext cx="4000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389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나는 천천히 정해야 한다고 생각해요.</a:t>
            </a:r>
          </a:p>
          <a:p xmlns:a="http://schemas.openxmlformats.org/drawingml/2006/main">
            <a:pPr>
              <a:defRPr sz="19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왜냐하면 걱정하는 사람이 많기 때문이에요.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FA9AFB-8EBD-4CA4-8CEE-E84272CE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43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E6C84"/>
                </a:solidFill>
                <a:latin typeface="Arial"/>
                <a:ea typeface="Arial"/>
                <a:cs typeface="Arial"/>
              </a:rPr>
              <a:t>생각과 이유가 함께 보여요.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6C1660-3213-4D7D-A469-B3775320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신문기사 생각 표현과 댓글 쓰기 | 6</a:t>
            </a:r>
          </a:p>
        </p:txBody>
      </p:sp>
    </p:spTree>
    <p:extLst>
      <p:ext uri="{BB962C8B-B14F-4D97-AF65-F5344CB8AC3E}">
        <p14:creationId xmlns:p14="http://schemas.microsoft.com/office/powerpoint/2010/main" val="10042887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6FDD3-1159-43C6-9817-8D5E1A91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8095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2부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F49C9-99DF-47EB-9603-4AD538C6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809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정리한 생각을</a:t>
            </a:r>
          </a:p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바른 댓글로 쓰는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B82F1-CBFC-4A23-B869-F8AA045D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3827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D9E7F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D9E7FF"/>
                </a:solidFill>
                <a:latin typeface="Arial"/>
                <a:ea typeface="Arial"/>
                <a:cs typeface="Arial"/>
              </a:rPr>
              <a:t>댓글은 생각 표현을 온라인 글쓰기 형식에 맞게 바꾼 것입니다.</a:t>
            </a:r>
          </a:p>
        </p:txBody>
      </p:sp>
    </p:spTree>
    <p:extLst>
      <p:ext uri="{BB962C8B-B14F-4D97-AF65-F5344CB8AC3E}">
        <p14:creationId xmlns:p14="http://schemas.microsoft.com/office/powerpoint/2010/main" val="11665235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960E2B-5FA0-4885-BABC-AB40C502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댓글 쓰기 1단계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5ACB22-5C48-4AAA-B14F-C0AC17A8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댓글은 기사에 답하는 짧은 의견 글이에요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9A0E2-7326-4C04-828F-1E39EBE9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14EE2-C2FB-4277-841F-65D0D71B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10287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3CA9E9-A091-4BF4-8C7B-EC0D1B72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812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기사와 관련 있게 쓰기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426C5-43EF-4FD6-85A7-39C1B409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002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E6C84"/>
                </a:solidFill>
                <a:latin typeface="Arial"/>
                <a:ea typeface="Arial"/>
                <a:cs typeface="Arial"/>
              </a:rPr>
              <a:t>기사 내용과 연결되지 않으면 댓글 평가가 어려워요.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F820E-7F05-4E18-BE43-156C78F1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10287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AAEB5-2447-47F5-9142-B3C850B1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575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내 입장을 분명히 쓰기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1A5F99-7568-4525-83BE-040FD7BA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765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E6C84"/>
                </a:solidFill>
                <a:latin typeface="Arial"/>
                <a:ea typeface="Arial"/>
                <a:cs typeface="Arial"/>
              </a:rPr>
              <a:t>나는 무엇이라고 생각하는지 먼저 보여요.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D04BE0-CFEE-491C-BA5C-2DC3CC5A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10287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5DC44-8559-404C-8BD1-40F3C1B5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338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이유를 붙이기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0AEDE5-B396-42EC-9331-08808D0D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528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E6C84"/>
                </a:solidFill>
                <a:latin typeface="Arial"/>
                <a:ea typeface="Arial"/>
                <a:cs typeface="Arial"/>
              </a:rPr>
              <a:t>왜냐하면 뒤에 기사 내용이나 근거를 넣어요.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F90058-51A4-4C5A-AB16-81D4057A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10287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C2E86B-4E2F-474B-9975-92731629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101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존중하는 말로 쓰기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E708CB-10AA-4ED7-88ED-61788DB5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291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E6C84"/>
                </a:solidFill>
                <a:latin typeface="Arial"/>
                <a:ea typeface="Arial"/>
                <a:cs typeface="Arial"/>
              </a:rPr>
              <a:t>비난, 놀림, 확인 안 된 말은 쓰지 않아요.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A2188C-A63A-465C-B08F-9FDC4BF2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신문기사 생각 표현과 댓글 쓰기 | 8</a:t>
            </a:r>
          </a:p>
        </p:txBody>
      </p:sp>
    </p:spTree>
    <p:extLst>
      <p:ext uri="{BB962C8B-B14F-4D97-AF65-F5344CB8AC3E}">
        <p14:creationId xmlns:p14="http://schemas.microsoft.com/office/powerpoint/2010/main" val="18302231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7FB1C8-8B93-42C1-9171-B85558ED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댓글 쓰기 2단계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5EC30-FA0D-4414-86B6-E11475D2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바른 댓글 문장 공식으로 써요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9D814-8552-4CD0-BBF6-E8905ECB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FC2D9-B709-486E-B75C-6456FCAC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10287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44217-743E-405D-8C64-9C62B0DE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기사 내용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095F97-209E-467B-9CDF-958A1074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0980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이 기사에서는 ______ 문제를 다루고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447D2-6CAE-4BF8-B3FC-C9E5D91F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10287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DF7EF"/>
          </a:solidFill>
          <a:ln xmlns:a="http://schemas.openxmlformats.org/drawingml/2006/main" w="11430">
            <a:solidFill>
              <a:srgbClr val="A9DD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84825B-1922-4326-99F6-88C826BE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956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내 생각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4338DF-8324-40CA-B42D-DB9B34E4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0515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나는 ______ 라고 생각합니다.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65B60E-BE47-4CB7-BF55-524FF734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10287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453FA2-A293-4615-8813-B338435E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909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이유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7B16E9-7720-4431-9F19-1FCD1086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0050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왜냐하면 기사에서 ______ 라고 했기 때문입니다.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733789-316D-404B-8F6C-14B5A254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10287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6E3A43-2F5E-45D9-A7FF-624FDC1E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863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존중 표현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CC5245-F653-48E5-A616-7A962BAB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9585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다른 의견도 있을 수 있지만, ______ 하면 좋겠습니다.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5801A7-5FB3-4608-B6DB-6250AAED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신문기사 생각 표현과 댓글 쓰기 | 9</a:t>
            </a:r>
          </a:p>
        </p:txBody>
      </p:sp>
    </p:spTree>
    <p:extLst>
      <p:ext uri="{BB962C8B-B14F-4D97-AF65-F5344CB8AC3E}">
        <p14:creationId xmlns:p14="http://schemas.microsoft.com/office/powerpoint/2010/main" val="176369697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ECBC70-78A4-4596-80E4-2E36F3AB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댓글 쓰기 3단계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A767AB-B8A8-477F-90AF-D9A9B800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댓글 예절을 꼭 확인해요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15A27-33CD-4573-90BE-949A0745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8348B4-CC77-4411-B592-286BF995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4762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E8E8"/>
          </a:solidFill>
          <a:ln xmlns:a="http://schemas.openxmlformats.org/drawingml/2006/main" w="11430">
            <a:solidFill>
              <a:srgbClr val="F5B7B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303F0-EB47-4F6C-9C05-9E35F9FD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76450"/>
            <a:ext cx="4762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DDF7EF"/>
          </a:solidFill>
          <a:ln xmlns:a="http://schemas.openxmlformats.org/drawingml/2006/main" w="11430">
            <a:solidFill>
              <a:srgbClr val="A9DD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85B2C-BC28-45E9-ADE1-AA2969DF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431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7097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피해야 해요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9DBCC-1D09-4AFD-B588-0F023145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09900"/>
            <a:ext cx="3810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6213A"/>
                </a:solidFill>
                <a:latin typeface="Arial"/>
                <a:ea typeface="Arial"/>
                <a:cs typeface="Arial"/>
              </a:rPr>
              <a:t>- 비난하거나 놀리는 말</a:t>
            </a:r>
          </a:p>
          <a:p xmlns:a="http://schemas.openxmlformats.org/drawingml/2006/main">
            <a:pPr>
              <a:defRPr sz="1875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6213A"/>
                </a:solidFill>
                <a:latin typeface="Arial"/>
                <a:ea typeface="Arial"/>
                <a:cs typeface="Arial"/>
              </a:rPr>
              <a:t>- 확인하지 않은 말</a:t>
            </a:r>
          </a:p>
          <a:p xmlns:a="http://schemas.openxmlformats.org/drawingml/2006/main">
            <a:pPr>
              <a:defRPr sz="1875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6213A"/>
                </a:solidFill>
                <a:latin typeface="Arial"/>
                <a:ea typeface="Arial"/>
                <a:cs typeface="Arial"/>
              </a:rPr>
              <a:t>- 친구 이름으로 장난치는 말</a:t>
            </a:r>
          </a:p>
          <a:p xmlns:a="http://schemas.openxmlformats.org/drawingml/2006/main">
            <a:pPr>
              <a:defRPr sz="1875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6213A"/>
                </a:solidFill>
                <a:latin typeface="Arial"/>
                <a:ea typeface="Arial"/>
                <a:cs typeface="Arial"/>
              </a:rPr>
              <a:t>- 화난 느낌만 쓰는 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F4A783-1868-4D82-AD48-A8940242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431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7097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좋아요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353EB9-E8BA-4808-BF68-C4085E17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09900"/>
            <a:ext cx="3810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6213A"/>
                </a:solidFill>
                <a:latin typeface="Arial"/>
                <a:ea typeface="Arial"/>
                <a:cs typeface="Arial"/>
              </a:rPr>
              <a:t>- 저는 ___라고 생각합니다</a:t>
            </a:r>
          </a:p>
          <a:p xmlns:a="http://schemas.openxmlformats.org/drawingml/2006/main">
            <a:pPr>
              <a:defRPr sz="1875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6213A"/>
                </a:solidFill>
                <a:latin typeface="Arial"/>
                <a:ea typeface="Arial"/>
                <a:cs typeface="Arial"/>
              </a:rPr>
              <a:t>- 기사에서 ___라고 했기 때문입니다</a:t>
            </a:r>
          </a:p>
          <a:p xmlns:a="http://schemas.openxmlformats.org/drawingml/2006/main">
            <a:pPr>
              <a:defRPr sz="1875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6213A"/>
                </a:solidFill>
                <a:latin typeface="Arial"/>
                <a:ea typeface="Arial"/>
                <a:cs typeface="Arial"/>
              </a:rPr>
              <a:t>- 다른 생각도 있을 수 있습니다</a:t>
            </a:r>
          </a:p>
          <a:p xmlns:a="http://schemas.openxmlformats.org/drawingml/2006/main">
            <a:pPr>
              <a:defRPr sz="1875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6213A"/>
                </a:solidFill>
                <a:latin typeface="Arial"/>
                <a:ea typeface="Arial"/>
                <a:cs typeface="Arial"/>
              </a:rPr>
              <a:t>- 함께 해결 방법을 찾아야 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1E6700-4102-4776-9111-F20735A8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신문기사 생각 표현과 댓글 쓰기 | 10</a:t>
            </a:r>
          </a:p>
        </p:txBody>
      </p:sp>
    </p:spTree>
    <p:extLst>
      <p:ext uri="{BB962C8B-B14F-4D97-AF65-F5344CB8AC3E}">
        <p14:creationId xmlns:p14="http://schemas.microsoft.com/office/powerpoint/2010/main" val="158939045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67B4C5-C558-415D-9CF8-985AFD0A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평가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F6358-1CB3-4669-A262-6832A422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생각 표현과 댓글 쓰기를 함께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2B095-BDB8-4E29-BBAA-F5F38BCB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A093C-35E8-4AC9-B748-DED28D60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F9129-426C-4D02-9499-0518A94D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47F11-7292-4991-8089-451A9D5A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193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기사 이해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223F8A-672B-4864-B9AA-B54BC67F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669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4"/>
                </a:solidFill>
                <a:latin typeface="Arial"/>
                <a:ea typeface="Arial"/>
                <a:cs typeface="Arial"/>
              </a:rPr>
              <a:t>기사의 중요한 내용을 찾았나요?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C6208F-35B3-4A93-9D14-474263C4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8FFFE9-5A42-4E78-B353-00A9C6CB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FBB99B-2075-4D58-A632-359A3D72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956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생각 표현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B169FC-DC24-48C2-AF93-E2CF9EBE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432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4"/>
                </a:solidFill>
                <a:latin typeface="Arial"/>
                <a:ea typeface="Arial"/>
                <a:cs typeface="Arial"/>
              </a:rPr>
              <a:t>내 의견과 이유가 함께 있나요?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C0E720-DF39-41E2-A539-FC7B3492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A443C2-1EB3-4A71-8133-85A20398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3F420C-B64A-4EE4-8B55-8D46397C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719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댓글 형식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958658-A8AE-4697-A0D2-729024B6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195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4"/>
                </a:solidFill>
                <a:latin typeface="Arial"/>
                <a:ea typeface="Arial"/>
                <a:cs typeface="Arial"/>
              </a:rPr>
              <a:t>기사와 연결된 짧은 의견 글로 썼나요?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F72C4F-1034-4218-88E4-2B775FFB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4E37FD-6338-46C3-8056-E7E1A273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760217-6E64-47A2-B328-0685ED8A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482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댓글 예절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ED0443-0E67-48ED-A9CF-97A15340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958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4"/>
                </a:solidFill>
                <a:latin typeface="Arial"/>
                <a:ea typeface="Arial"/>
                <a:cs typeface="Arial"/>
              </a:rPr>
              <a:t>존중하는 표현을 사용했나요?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9EEA7A-C062-46C9-AC3B-9B6597F2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12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매우잘함은 생각이 분명하고, 댓글로도 바르게 표현된 글입니다.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9E51AA-72EA-4555-8F17-0C7B6921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신문기사 생각 표현과 댓글 쓰기 | 11</a:t>
            </a:r>
          </a:p>
        </p:txBody>
      </p:sp>
    </p:spTree>
    <p:extLst>
      <p:ext uri="{BB962C8B-B14F-4D97-AF65-F5344CB8AC3E}">
        <p14:creationId xmlns:p14="http://schemas.microsoft.com/office/powerpoint/2010/main" val="201516892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AFD3E6-561C-46CB-9055-1D0239A0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제출 전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C1EF0B-E499-4446-80AF-F2FC6B2C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생각 표현과 댓글 쓰기를 따로 확인해요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702F5-D5A1-4BD3-810A-F77E89FC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CD1748-DA9F-48D4-B736-1010DB43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DDF7EF"/>
          </a:solidFill>
          <a:ln xmlns:a="http://schemas.openxmlformats.org/drawingml/2006/main" w="11430">
            <a:solidFill>
              <a:srgbClr val="A9DD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008499-937D-473D-9823-A686CA61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38350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11430">
            <a:solidFill>
              <a:srgbClr val="EFCB7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DEDF7-C835-4B52-AC5A-DF637C96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81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7097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생각 표현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FBC4C6-8AEB-4955-A1A6-B478EF8A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0515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6213A"/>
                </a:solidFill>
                <a:latin typeface="Arial"/>
                <a:ea typeface="Arial"/>
                <a:cs typeface="Arial"/>
              </a:rPr>
              <a:t>□ 중요한 내용을 찾았나요?</a:t>
            </a:r>
          </a:p>
          <a:p xmlns:a="http://schemas.openxmlformats.org/drawingml/2006/main">
            <a:pPr>
              <a:defRPr sz="1875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6213A"/>
                </a:solidFill>
                <a:latin typeface="Arial"/>
                <a:ea typeface="Arial"/>
                <a:cs typeface="Arial"/>
              </a:rPr>
              <a:t>□ 내 의견을 정했나요?</a:t>
            </a:r>
          </a:p>
          <a:p xmlns:a="http://schemas.openxmlformats.org/drawingml/2006/main">
            <a:pPr>
              <a:defRPr sz="1875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6213A"/>
                </a:solidFill>
                <a:latin typeface="Arial"/>
                <a:ea typeface="Arial"/>
                <a:cs typeface="Arial"/>
              </a:rPr>
              <a:t>□ 왜 그렇게 생각하는지 썼나요?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0EA60-F533-4742-8212-42D1B31A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7097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댓글 쓰기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B6ED41-F5AA-4310-9E2A-ED156700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0515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6213A"/>
                </a:solidFill>
                <a:latin typeface="Arial"/>
                <a:ea typeface="Arial"/>
                <a:cs typeface="Arial"/>
              </a:rPr>
              <a:t>□ 기사와 관련 있나요?</a:t>
            </a:r>
          </a:p>
          <a:p xmlns:a="http://schemas.openxmlformats.org/drawingml/2006/main">
            <a:pPr>
              <a:defRPr sz="1875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6213A"/>
                </a:solidFill>
                <a:latin typeface="Arial"/>
                <a:ea typeface="Arial"/>
                <a:cs typeface="Arial"/>
              </a:rPr>
              <a:t>□ 이유가 들어 있나요?</a:t>
            </a:r>
          </a:p>
          <a:p xmlns:a="http://schemas.openxmlformats.org/drawingml/2006/main">
            <a:pPr>
              <a:defRPr sz="1875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6213A"/>
                </a:solidFill>
                <a:latin typeface="Arial"/>
                <a:ea typeface="Arial"/>
                <a:cs typeface="Arial"/>
              </a:rPr>
              <a:t>□ 존중하는 말로 썼나요?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DCF981-601D-46D8-BC1A-0F10B76F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두 칸이 모두 확인되면 제출합니다.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5909FE-B047-4F9C-8746-9EA71867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신문기사 생각 표현과 댓글 쓰기 | 12</a:t>
            </a:r>
          </a:p>
        </p:txBody>
      </p:sp>
    </p:spTree>
    <p:extLst>
      <p:ext uri="{BB962C8B-B14F-4D97-AF65-F5344CB8AC3E}">
        <p14:creationId xmlns:p14="http://schemas.microsoft.com/office/powerpoint/2010/main" val="7528315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2026-08-21T09:42:06.0610000Z</dcterms:created>
  <dcterms:modified xsi:type="dcterms:W3CDTF">2026-08-21T09:42:06.0610000Z</dcterms:modified>
</coreProperties>
</file>