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notesMasterIdLst>
    <p:notesMasterId r:id="rId19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연수 배포용 학생 수업 PPT입니다. 활동 ①(댓글달기)은 네티켓 교육과 함께 노션 페이지에 직접 댓글을 남기는 활동, 활동 ②(의견쓰기)는 노션 폼으로 기사를 선택해 의견을 제출하는 활동입니다. 수업 상황에 맞게 파트별로 나눠 써도 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교사 팁: 활동 ①은 형성평가(이해·참여 확인), 활동 ②는 수행평가로 이어집니다. 활동 ②의 제출물은 '학생 의견쓰기' DB에 자동 수집됩니다.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파트 1 시작. 댓글달기를 인터넷 에티켓(네티켓) 교육과 연계합니다. 소요 15~20분 권장.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교사 팁: 두 댓글을 소리 내어 읽어 주고, 각각 읽은 사람의 기분이 어떨지 발문하세요. '나쁜 예'를 읽을 때 특정 학생을 연상시키지 않도록 주의합니다.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교사 팁: '직접 만나서는 하지 않을 말은 인터넷에서도 하지 않는다'는 원칙을 함께 정리해 주세요.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교사 팁: 다섯 가지 약속을 학급 규칙판에 게시하거나, 댓글 활동 전마다 구호처럼 함께 읽으면 좋습니다.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교사 팁: 악플·허위사실 유포는 어른의 세계에서는 법적 책임(모욕죄·명예훼손)까지 이어질 수 있음을 학년 수준에 맞게 언급할 수 있습니다.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교사 팁: 이 체크리스트는 평가 루브릭(기사 이해·생각 연결·생각 표현)과 연결됩니다. 댓글 활동 전 항상 화면에 띄워 두면 좋습니다.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정답: '나'. '가'는 사람 공격(약속 1·3 위반), '다'는 도배이고 까닭이 없습니다. 정리 후 실제 노션 페이지 댓글 활동으로 넘어갑니다.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파트 2 시작. 의견쓰기 4단계 로드맵을 먼저 보여 주고 시작합니다. 소요 20~25분 권장.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교사 팁: 육하원칙 여섯 칸을 공책에 그려 기사 내용을 정리하게 하면 2단계(의견 정하기)가 훨씬 쉬워집니다.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교사 팁: 손들기나 자리 이동으로 입장을 먼저 표현하게 한 뒤, '왜?'를 묻는 흐름이 효과적입니다. 정답이 있는 활동이 아님을 강조해 주세요.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교사 팁: 문장 틀을 그대로 따라 쓰는 것부터 시작해, 익숙해지면 자기 말로 바꾸게 합니다. 까닭 세 종류 중 한 가지 이상을 꼭 넣도록 안내하세요.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교사 팁: 예시 글을 함께 읽으며 ①~④ 구조를 색깔로 구분해 보여 주세요. 네 문장이면 충분하다는 것을 강조해 부담을 줄여 줍니다.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교사 팁: 이 기준은 의견쓰기 DB의 교사 이해·연결·표현(각 0~5점, 총 15점) 루브릭과 같습니다. 글을 쓰기 전과 제출 전, 두 번 보여 주면 효과적입니다. 중·고등 확장 수업에서는 7요소 4단계/5단계 확장 루브릭(연수 운영 페이지 토글)을 활용하세요.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교사 팁: 제출되면 '학생 의견쓰기' DB에 자동 수집되고 학생 명단의 제출 수가 집계됩니다. 학생 번호는 반드시 목록에서 '선택'해야 집계가 맞습니다. 시범 제출을 한 번 보여 주세요.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교사 팁: 세 영역은 평가 루브릭(각 0~5점)과 같습니다. 마무리로 다짐 문장을 다 함께 읽고, 다음 시간에는 친구의 의견에 답글로 생각을 넓히는 활동을 예고할 수 있습니다.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image" Target="../media/image-8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image" Target="../media/image-1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2.png"/><Relationship Id="rId3" Type="http://schemas.openxmlformats.org/officeDocument/2006/relationships/image" Target="../media/image-16-3.png"/><Relationship Id="rId4" Type="http://schemas.openxmlformats.org/officeDocument/2006/relationships/image" Target="../media/image-16-4.png"/><Relationship Id="rId5" Type="http://schemas.openxmlformats.org/officeDocument/2006/relationships/image" Target="../media/image-16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image" Target="../media/image-17-2.png"/><Relationship Id="rId3" Type="http://schemas.openxmlformats.org/officeDocument/2006/relationships/image" Target="../media/image-17-3.png"/><Relationship Id="rId4" Type="http://schemas.openxmlformats.org/officeDocument/2006/relationships/image" Target="../media/image-17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65A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463040"/>
            <a:ext cx="4206240" cy="4206240"/>
          </a:xfrm>
          <a:prstGeom prst="ellipse">
            <a:avLst/>
          </a:prstGeom>
          <a:solidFill>
            <a:srgbClr val="028090">
              <a:alpha val="4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280160" y="4937760"/>
            <a:ext cx="3291840" cy="3291840"/>
          </a:xfrm>
          <a:prstGeom prst="ellipse">
            <a:avLst/>
          </a:prstGeom>
          <a:solidFill>
            <a:srgbClr val="028090">
              <a:alpha val="35000"/>
            </a:srgbClr>
          </a:solidFill>
          <a:ln/>
        </p:spPr>
      </p:sp>
      <p:pic>
        <p:nvPicPr>
          <p:cNvPr id="4" name="Image 0" descr="/root/.claude/skills/synced/edu-thumbnail/assets/bear_win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21240" y="1234440"/>
            <a:ext cx="1463040" cy="146304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9921240" y="2724912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9BD8D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곰곰이쌤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822960" y="932688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9BD8D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노션 신문기사 수업 패키지 · 학생용 수업 자료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822960" y="1371600"/>
            <a:ext cx="10515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신문기사 읽고 생각 나누기</a:t>
            </a:r>
            <a:endParaRPr lang="en-US" sz="4400" dirty="0"/>
          </a:p>
        </p:txBody>
      </p:sp>
      <p:sp>
        <p:nvSpPr>
          <p:cNvPr id="8" name="Text 5"/>
          <p:cNvSpPr/>
          <p:nvPr/>
        </p:nvSpPr>
        <p:spPr>
          <a:xfrm>
            <a:off x="822960" y="2395728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D7EFE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댓글달기와 의견쓰기, 두 가지 활동으로 배워요</a:t>
            </a:r>
            <a:endParaRPr lang="en-US" sz="1800" dirty="0"/>
          </a:p>
        </p:txBody>
      </p:sp>
      <p:sp>
        <p:nvSpPr>
          <p:cNvPr id="9" name="Shape 6"/>
          <p:cNvSpPr/>
          <p:nvPr/>
        </p:nvSpPr>
        <p:spPr>
          <a:xfrm>
            <a:off x="822960" y="3337560"/>
            <a:ext cx="5120640" cy="2286000"/>
          </a:xfrm>
          <a:prstGeom prst="roundRect">
            <a:avLst>
              <a:gd name="adj" fmla="val 56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042f3a">
                <a:alpha val="35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1207008" y="3657600"/>
            <a:ext cx="777240" cy="777240"/>
          </a:xfrm>
          <a:prstGeom prst="ellipse">
            <a:avLst/>
          </a:prstGeom>
          <a:solidFill>
            <a:srgbClr val="E3F4F2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09090" y="3859682"/>
            <a:ext cx="373075" cy="373075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2194560" y="3639312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65A6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활동 ①  댓글달기</a:t>
            </a:r>
            <a:endParaRPr lang="en-US" sz="2000" dirty="0"/>
          </a:p>
        </p:txBody>
      </p:sp>
      <p:sp>
        <p:nvSpPr>
          <p:cNvPr id="13" name="Text 9"/>
          <p:cNvSpPr/>
          <p:nvPr/>
        </p:nvSpPr>
        <p:spPr>
          <a:xfrm>
            <a:off x="2194560" y="4133088"/>
            <a:ext cx="3566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5E70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노션 페이지에 직접 내 의견을 남겨요.</a:t>
            </a:r>
            <a:endParaRPr lang="en-US" sz="14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5E70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네티켓과 함께!</a:t>
            </a:r>
            <a:endParaRPr lang="en-US" sz="1400" dirty="0"/>
          </a:p>
        </p:txBody>
      </p:sp>
      <p:sp>
        <p:nvSpPr>
          <p:cNvPr id="14" name="Shape 10"/>
          <p:cNvSpPr/>
          <p:nvPr/>
        </p:nvSpPr>
        <p:spPr>
          <a:xfrm>
            <a:off x="6309360" y="3337560"/>
            <a:ext cx="5120640" cy="2286000"/>
          </a:xfrm>
          <a:prstGeom prst="roundRect">
            <a:avLst>
              <a:gd name="adj" fmla="val 56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042f3a">
                <a:alpha val="35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6693408" y="3657600"/>
            <a:ext cx="777240" cy="777240"/>
          </a:xfrm>
          <a:prstGeom prst="ellipse">
            <a:avLst/>
          </a:prstGeom>
          <a:solidFill>
            <a:srgbClr val="E3F4F2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95490" y="3859682"/>
            <a:ext cx="373075" cy="373075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7680960" y="3639312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65A6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활동 ②  의견쓰기</a:t>
            </a:r>
            <a:endParaRPr lang="en-US" sz="2000" dirty="0"/>
          </a:p>
        </p:txBody>
      </p:sp>
      <p:sp>
        <p:nvSpPr>
          <p:cNvPr id="18" name="Text 13"/>
          <p:cNvSpPr/>
          <p:nvPr/>
        </p:nvSpPr>
        <p:spPr>
          <a:xfrm>
            <a:off x="7680960" y="4133088"/>
            <a:ext cx="3566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5E70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노션 폼에서 기사를 골라</a:t>
            </a:r>
            <a:endParaRPr lang="en-US" sz="14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5E70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내 의견을 까닭까지 써서 제출해요.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0292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65A6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오늘 우리가 하는 두 가지 활동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822960" y="1417320"/>
            <a:ext cx="5120640" cy="4206240"/>
          </a:xfrm>
          <a:prstGeom prst="roundRect">
            <a:avLst>
              <a:gd name="adj" fmla="val 3043"/>
            </a:avLst>
          </a:prstGeom>
          <a:solidFill>
            <a:srgbClr val="E3F4F2"/>
          </a:solidFill>
          <a:ln/>
        </p:spPr>
      </p:sp>
      <p:sp>
        <p:nvSpPr>
          <p:cNvPr id="4" name="Shape 2"/>
          <p:cNvSpPr/>
          <p:nvPr/>
        </p:nvSpPr>
        <p:spPr>
          <a:xfrm>
            <a:off x="1188720" y="1783080"/>
            <a:ext cx="731520" cy="73152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78915" y="1973275"/>
            <a:ext cx="351130" cy="35113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2103120" y="1856232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065A6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활동 ①  댓글달기</a:t>
            </a:r>
            <a:endParaRPr lang="en-US" sz="2100" dirty="0"/>
          </a:p>
        </p:txBody>
      </p:sp>
      <p:sp>
        <p:nvSpPr>
          <p:cNvPr id="7" name="Text 4"/>
          <p:cNvSpPr/>
          <p:nvPr/>
        </p:nvSpPr>
        <p:spPr>
          <a:xfrm>
            <a:off x="1234440" y="2788920"/>
            <a:ext cx="1051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2809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무엇을?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2331720" y="2788920"/>
            <a:ext cx="3383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2634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기사를 읽고 노션 페이지에 직접 댓글로 내 생각을 남겨요.</a:t>
            </a:r>
            <a:endParaRPr lang="en-US" sz="1350" dirty="0"/>
          </a:p>
        </p:txBody>
      </p:sp>
      <p:sp>
        <p:nvSpPr>
          <p:cNvPr id="9" name="Text 6"/>
          <p:cNvSpPr/>
          <p:nvPr/>
        </p:nvSpPr>
        <p:spPr>
          <a:xfrm>
            <a:off x="1234440" y="3749040"/>
            <a:ext cx="1051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2809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어떻게?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2331720" y="3749040"/>
            <a:ext cx="3383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2634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짧아도 좋아요. 존중하는 말로, 기사와 관련된 이야기로!</a:t>
            </a:r>
            <a:endParaRPr lang="en-US" sz="1350" dirty="0"/>
          </a:p>
        </p:txBody>
      </p:sp>
      <p:sp>
        <p:nvSpPr>
          <p:cNvPr id="11" name="Text 8"/>
          <p:cNvSpPr/>
          <p:nvPr/>
        </p:nvSpPr>
        <p:spPr>
          <a:xfrm>
            <a:off x="1234440" y="4709160"/>
            <a:ext cx="1051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2809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핵심은?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2331720" y="4709160"/>
            <a:ext cx="3383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2634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네티켓 — 얼굴이 안 보여도 예절을 지켜요.</a:t>
            </a:r>
            <a:endParaRPr lang="en-US" sz="1350" dirty="0"/>
          </a:p>
        </p:txBody>
      </p:sp>
      <p:sp>
        <p:nvSpPr>
          <p:cNvPr id="13" name="Shape 10"/>
          <p:cNvSpPr/>
          <p:nvPr/>
        </p:nvSpPr>
        <p:spPr>
          <a:xfrm>
            <a:off x="6309360" y="1417320"/>
            <a:ext cx="5120640" cy="4206240"/>
          </a:xfrm>
          <a:prstGeom prst="roundRect">
            <a:avLst>
              <a:gd name="adj" fmla="val 3043"/>
            </a:avLst>
          </a:prstGeom>
          <a:solidFill>
            <a:srgbClr val="E6F3EC"/>
          </a:solidFill>
          <a:ln/>
        </p:spPr>
      </p:sp>
      <p:sp>
        <p:nvSpPr>
          <p:cNvPr id="14" name="Shape 11"/>
          <p:cNvSpPr/>
          <p:nvPr/>
        </p:nvSpPr>
        <p:spPr>
          <a:xfrm>
            <a:off x="6675120" y="1783080"/>
            <a:ext cx="731520" cy="73152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65315" y="1973275"/>
            <a:ext cx="351130" cy="351130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7589520" y="1856232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065A6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활동 ②  의견쓰기</a:t>
            </a:r>
            <a:endParaRPr lang="en-US" sz="2100" dirty="0"/>
          </a:p>
        </p:txBody>
      </p:sp>
      <p:sp>
        <p:nvSpPr>
          <p:cNvPr id="17" name="Text 13"/>
          <p:cNvSpPr/>
          <p:nvPr/>
        </p:nvSpPr>
        <p:spPr>
          <a:xfrm>
            <a:off x="6720840" y="2788920"/>
            <a:ext cx="1051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C8A5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무엇을?</a:t>
            </a:r>
            <a:endParaRPr lang="en-US" sz="1400" dirty="0"/>
          </a:p>
        </p:txBody>
      </p:sp>
      <p:sp>
        <p:nvSpPr>
          <p:cNvPr id="18" name="Text 14"/>
          <p:cNvSpPr/>
          <p:nvPr/>
        </p:nvSpPr>
        <p:spPr>
          <a:xfrm>
            <a:off x="7818120" y="2788920"/>
            <a:ext cx="3383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2634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노션 폼에서 읽은 기사를 고르고 내 의견을 제출해요.</a:t>
            </a:r>
            <a:endParaRPr lang="en-US" sz="1350" dirty="0"/>
          </a:p>
        </p:txBody>
      </p:sp>
      <p:sp>
        <p:nvSpPr>
          <p:cNvPr id="19" name="Text 15"/>
          <p:cNvSpPr/>
          <p:nvPr/>
        </p:nvSpPr>
        <p:spPr>
          <a:xfrm>
            <a:off x="6720840" y="3749040"/>
            <a:ext cx="1051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C8A5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어떻게?</a:t>
            </a:r>
            <a:endParaRPr lang="en-US" sz="1400" dirty="0"/>
          </a:p>
        </p:txBody>
      </p:sp>
      <p:sp>
        <p:nvSpPr>
          <p:cNvPr id="20" name="Text 16"/>
          <p:cNvSpPr/>
          <p:nvPr/>
        </p:nvSpPr>
        <p:spPr>
          <a:xfrm>
            <a:off x="7818120" y="3749040"/>
            <a:ext cx="3383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2634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의견과 함께 ‘왜냐하면’ 까닭까지 써요.</a:t>
            </a:r>
            <a:endParaRPr lang="en-US" sz="1350" dirty="0"/>
          </a:p>
        </p:txBody>
      </p:sp>
      <p:sp>
        <p:nvSpPr>
          <p:cNvPr id="21" name="Text 17"/>
          <p:cNvSpPr/>
          <p:nvPr/>
        </p:nvSpPr>
        <p:spPr>
          <a:xfrm>
            <a:off x="6720840" y="4709160"/>
            <a:ext cx="1051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C8A5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핵심은?</a:t>
            </a:r>
            <a:endParaRPr lang="en-US" sz="1400" dirty="0"/>
          </a:p>
        </p:txBody>
      </p:sp>
      <p:sp>
        <p:nvSpPr>
          <p:cNvPr id="22" name="Text 18"/>
          <p:cNvSpPr/>
          <p:nvPr/>
        </p:nvSpPr>
        <p:spPr>
          <a:xfrm>
            <a:off x="7818120" y="4709160"/>
            <a:ext cx="3383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2634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까닭 — 이유가 있는 의견이 힘이 세요.</a:t>
            </a:r>
            <a:endParaRPr lang="en-US" sz="1350" dirty="0"/>
          </a:p>
        </p:txBody>
      </p:sp>
      <p:sp>
        <p:nvSpPr>
          <p:cNvPr id="23" name="Text 19"/>
          <p:cNvSpPr/>
          <p:nvPr/>
        </p:nvSpPr>
        <p:spPr>
          <a:xfrm>
            <a:off x="822960" y="589788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2809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두 활동 모두 ‘존중하는 말’과 ‘까닭 있는 생각’이 가장 중요해요.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65A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966960" y="4206240"/>
            <a:ext cx="3840480" cy="3840480"/>
          </a:xfrm>
          <a:prstGeom prst="ellipse">
            <a:avLst/>
          </a:prstGeom>
          <a:solidFill>
            <a:srgbClr val="028090">
              <a:alpha val="4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868680" y="1371600"/>
            <a:ext cx="1005840" cy="100584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30198" y="1633118"/>
            <a:ext cx="482803" cy="482803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868680" y="265176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9BD8D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활동 ①</a:t>
            </a:r>
            <a:endParaRPr lang="en-US" sz="2000" dirty="0"/>
          </a:p>
        </p:txBody>
      </p:sp>
      <p:sp>
        <p:nvSpPr>
          <p:cNvPr id="6" name="Text 3"/>
          <p:cNvSpPr/>
          <p:nvPr/>
        </p:nvSpPr>
        <p:spPr>
          <a:xfrm>
            <a:off x="868680" y="3063240"/>
            <a:ext cx="9144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댓글달기</a:t>
            </a:r>
            <a:endParaRPr lang="en-US" sz="4400" dirty="0"/>
          </a:p>
        </p:txBody>
      </p:sp>
      <p:sp>
        <p:nvSpPr>
          <p:cNvPr id="7" name="Text 4"/>
          <p:cNvSpPr/>
          <p:nvPr/>
        </p:nvSpPr>
        <p:spPr>
          <a:xfrm>
            <a:off x="868680" y="4114800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D7EFE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댓글도 대화예요. 인터넷 세상의 예절, 네티켓과 함께 시작해요.</a:t>
            </a:r>
            <a:endParaRPr lang="en-US" sz="1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02920"/>
            <a:ext cx="10515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65A6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댓글 하나의 힘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822960" y="1115568"/>
            <a:ext cx="10515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E70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같은 기사에 달린 두 댓글, 무엇이 다를까요?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822960" y="1691640"/>
            <a:ext cx="10515600" cy="777240"/>
          </a:xfrm>
          <a:prstGeom prst="roundRect">
            <a:avLst>
              <a:gd name="adj" fmla="val 11765"/>
            </a:avLst>
          </a:prstGeom>
          <a:solidFill>
            <a:srgbClr val="F1F4F5"/>
          </a:solidFill>
          <a:ln/>
        </p:spPr>
      </p:sp>
      <p:sp>
        <p:nvSpPr>
          <p:cNvPr id="5" name="Shape 3"/>
          <p:cNvSpPr/>
          <p:nvPr/>
        </p:nvSpPr>
        <p:spPr>
          <a:xfrm>
            <a:off x="1024128" y="1819656"/>
            <a:ext cx="512064" cy="512064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57265" y="1952793"/>
            <a:ext cx="245791" cy="245791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691640" y="1847088"/>
            <a:ext cx="9326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634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[기사]  학교 앞 어린이 교통사고, 작년보다 늘었다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822960" y="2743200"/>
            <a:ext cx="5120640" cy="3063240"/>
          </a:xfrm>
          <a:prstGeom prst="roundRect">
            <a:avLst>
              <a:gd name="adj" fmla="val 4179"/>
            </a:avLst>
          </a:prstGeom>
          <a:solidFill>
            <a:srgbClr val="E6F3EC"/>
          </a:solidFill>
          <a:ln/>
        </p:spPr>
      </p:sp>
      <p:sp>
        <p:nvSpPr>
          <p:cNvPr id="9" name="Shape 6"/>
          <p:cNvSpPr/>
          <p:nvPr/>
        </p:nvSpPr>
        <p:spPr>
          <a:xfrm>
            <a:off x="1143000" y="3017520"/>
            <a:ext cx="548640" cy="54864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5646" y="3160166"/>
            <a:ext cx="263347" cy="263347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828800" y="3108960"/>
            <a:ext cx="3840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C8A5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이런 댓글</a:t>
            </a:r>
            <a:endParaRPr lang="en-US" sz="1600" dirty="0"/>
          </a:p>
        </p:txBody>
      </p:sp>
      <p:sp>
        <p:nvSpPr>
          <p:cNvPr id="12" name="Text 8"/>
          <p:cNvSpPr/>
          <p:nvPr/>
        </p:nvSpPr>
        <p:spPr>
          <a:xfrm>
            <a:off x="1188720" y="3675888"/>
            <a:ext cx="443484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2634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“기사를 읽고 우리 학교 앞 횡단보도가 떠올랐어요. 나는 신호등이 더 필요하다고 생각해요. 왜냐하면 등굣길에 차가 많이 다니기 때문이에요.”</a:t>
            </a:r>
            <a:endParaRPr lang="en-US" sz="1400" dirty="0"/>
          </a:p>
        </p:txBody>
      </p:sp>
      <p:sp>
        <p:nvSpPr>
          <p:cNvPr id="13" name="Text 9"/>
          <p:cNvSpPr/>
          <p:nvPr/>
        </p:nvSpPr>
        <p:spPr>
          <a:xfrm>
            <a:off x="1188720" y="5257800"/>
            <a:ext cx="4434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C8A5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기사 내용 + 내 생각 + 까닭 + 존중하는 말</a:t>
            </a:r>
            <a:endParaRPr lang="en-US" sz="1250" dirty="0"/>
          </a:p>
        </p:txBody>
      </p:sp>
      <p:sp>
        <p:nvSpPr>
          <p:cNvPr id="14" name="Shape 10"/>
          <p:cNvSpPr/>
          <p:nvPr/>
        </p:nvSpPr>
        <p:spPr>
          <a:xfrm>
            <a:off x="6309360" y="2743200"/>
            <a:ext cx="5120640" cy="3063240"/>
          </a:xfrm>
          <a:prstGeom prst="roundRect">
            <a:avLst>
              <a:gd name="adj" fmla="val 4179"/>
            </a:avLst>
          </a:prstGeom>
          <a:solidFill>
            <a:srgbClr val="FDE7E8"/>
          </a:solidFill>
          <a:ln/>
        </p:spPr>
      </p:sp>
      <p:sp>
        <p:nvSpPr>
          <p:cNvPr id="15" name="Shape 11"/>
          <p:cNvSpPr/>
          <p:nvPr/>
        </p:nvSpPr>
        <p:spPr>
          <a:xfrm>
            <a:off x="6629400" y="3017520"/>
            <a:ext cx="548640" cy="54864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72046" y="3160166"/>
            <a:ext cx="263347" cy="263347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7315200" y="3108960"/>
            <a:ext cx="3840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9616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이런 댓글은?</a:t>
            </a:r>
            <a:endParaRPr lang="en-US" sz="1600" dirty="0"/>
          </a:p>
        </p:txBody>
      </p:sp>
      <p:sp>
        <p:nvSpPr>
          <p:cNvPr id="18" name="Text 13"/>
          <p:cNvSpPr/>
          <p:nvPr/>
        </p:nvSpPr>
        <p:spPr>
          <a:xfrm>
            <a:off x="6675120" y="3675888"/>
            <a:ext cx="443484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2634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“이게 기사냐 ㅋㅋ 우리 동네는 안 그런데? 쓴 사람 이상하네”</a:t>
            </a:r>
            <a:endParaRPr lang="en-US" sz="1400" dirty="0"/>
          </a:p>
        </p:txBody>
      </p:sp>
      <p:sp>
        <p:nvSpPr>
          <p:cNvPr id="19" name="Text 14"/>
          <p:cNvSpPr/>
          <p:nvPr/>
        </p:nvSpPr>
        <p:spPr>
          <a:xfrm>
            <a:off x="6675120" y="5257800"/>
            <a:ext cx="4434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9616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사람을 공격해요 · 까닭이 없어요 · 기분을 상하게 해요</a:t>
            </a:r>
            <a:endParaRPr lang="en-US" sz="1250" dirty="0"/>
          </a:p>
        </p:txBody>
      </p:sp>
      <p:sp>
        <p:nvSpPr>
          <p:cNvPr id="20" name="Text 15"/>
          <p:cNvSpPr/>
          <p:nvPr/>
        </p:nvSpPr>
        <p:spPr>
          <a:xfrm>
            <a:off x="822960" y="6035040"/>
            <a:ext cx="10515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65A6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여러분의 댓글은 누군가에게 힘이 될 수도, 상처가 될 수도 있어요.</a:t>
            </a:r>
            <a:endParaRPr lang="en-US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02920"/>
            <a:ext cx="10515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65A6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네티켓이 뭐예요?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822960" y="1325880"/>
            <a:ext cx="10515600" cy="1234440"/>
          </a:xfrm>
          <a:prstGeom prst="roundRect">
            <a:avLst>
              <a:gd name="adj" fmla="val 8889"/>
            </a:avLst>
          </a:prstGeom>
          <a:solidFill>
            <a:srgbClr val="E3F4F2"/>
          </a:solidFill>
          <a:ln/>
        </p:spPr>
      </p:sp>
      <p:sp>
        <p:nvSpPr>
          <p:cNvPr id="4" name="Text 2"/>
          <p:cNvSpPr/>
          <p:nvPr/>
        </p:nvSpPr>
        <p:spPr>
          <a:xfrm>
            <a:off x="1143000" y="1673352"/>
            <a:ext cx="9875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2809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네티켓</a:t>
            </a:r>
            <a:pPr indent="0" marL="0">
              <a:buNone/>
            </a:pPr>
            <a:r>
              <a:rPr lang="en-US" sz="1800" dirty="0">
                <a:solidFill>
                  <a:srgbClr val="2634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= 네트워크(인터넷) + 에티켓(예절).  인터넷에서 글을 읽고 쓸 때 지키는 예절이에요.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822960" y="283464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65A6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왜 필요할까요?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868680" y="3429000"/>
            <a:ext cx="658368" cy="658368"/>
          </a:xfrm>
          <a:prstGeom prst="ellipse">
            <a:avLst/>
          </a:prstGeom>
          <a:solidFill>
            <a:srgbClr val="E3F4F2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9856" y="3600176"/>
            <a:ext cx="316017" cy="316017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783080" y="3429000"/>
            <a:ext cx="9326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634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화면 너머에는 사람이 있어요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1783080" y="3794760"/>
            <a:ext cx="9326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E70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얼굴이 보이지 않아도, 내 글을 읽는 건 감정이 있는 진짜 사람이에요.</a:t>
            </a:r>
            <a:endParaRPr lang="en-US" sz="1350" dirty="0"/>
          </a:p>
        </p:txBody>
      </p:sp>
      <p:sp>
        <p:nvSpPr>
          <p:cNvPr id="10" name="Shape 7"/>
          <p:cNvSpPr/>
          <p:nvPr/>
        </p:nvSpPr>
        <p:spPr>
          <a:xfrm>
            <a:off x="868680" y="4389120"/>
            <a:ext cx="658368" cy="658368"/>
          </a:xfrm>
          <a:prstGeom prst="ellipse">
            <a:avLst/>
          </a:prstGeom>
          <a:solidFill>
            <a:srgbClr val="E3F4F2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9856" y="4560296"/>
            <a:ext cx="316017" cy="316017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783080" y="4389120"/>
            <a:ext cx="9326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634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인터넷 글은 오래 남아요</a:t>
            </a:r>
            <a:endParaRPr lang="en-US" sz="1600" dirty="0"/>
          </a:p>
        </p:txBody>
      </p:sp>
      <p:sp>
        <p:nvSpPr>
          <p:cNvPr id="13" name="Text 9"/>
          <p:cNvSpPr/>
          <p:nvPr/>
        </p:nvSpPr>
        <p:spPr>
          <a:xfrm>
            <a:off x="1783080" y="4754880"/>
            <a:ext cx="9326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E70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 번 올린 댓글은 지워도 캡처나 기록으로 남을 수 있어요.</a:t>
            </a:r>
            <a:endParaRPr lang="en-US" sz="1350" dirty="0"/>
          </a:p>
        </p:txBody>
      </p:sp>
      <p:sp>
        <p:nvSpPr>
          <p:cNvPr id="14" name="Shape 10"/>
          <p:cNvSpPr/>
          <p:nvPr/>
        </p:nvSpPr>
        <p:spPr>
          <a:xfrm>
            <a:off x="868680" y="5349240"/>
            <a:ext cx="658368" cy="658368"/>
          </a:xfrm>
          <a:prstGeom prst="ellipse">
            <a:avLst/>
          </a:prstGeom>
          <a:solidFill>
            <a:srgbClr val="E3F4F2"/>
          </a:solidFill>
          <a:ln/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9856" y="5520416"/>
            <a:ext cx="316017" cy="316017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1783080" y="5349240"/>
            <a:ext cx="9326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634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 번 퍼지면 되돌리기 어려워요</a:t>
            </a:r>
            <a:endParaRPr lang="en-US" sz="1600" dirty="0"/>
          </a:p>
        </p:txBody>
      </p:sp>
      <p:sp>
        <p:nvSpPr>
          <p:cNvPr id="17" name="Text 12"/>
          <p:cNvSpPr/>
          <p:nvPr/>
        </p:nvSpPr>
        <p:spPr>
          <a:xfrm>
            <a:off x="1783080" y="5715000"/>
            <a:ext cx="9326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E70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잘못된 말과 소문은 순식간에 퍼지고, 주워 담기 어려워요.</a:t>
            </a:r>
            <a:endParaRPr lang="en-US" sz="13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457200"/>
            <a:ext cx="10515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65A6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댓글 네티켓, 다섯 가지 약속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868680" y="1380744"/>
            <a:ext cx="658368" cy="658368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4" name="Text 2"/>
          <p:cNvSpPr/>
          <p:nvPr/>
        </p:nvSpPr>
        <p:spPr>
          <a:xfrm>
            <a:off x="868680" y="1380744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1783080" y="1344168"/>
            <a:ext cx="9418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634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의견에는 의견으로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1783080" y="1755648"/>
            <a:ext cx="9418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E70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생각이 달라도 사람을 공격하지 않아요. “나는 다르게 생각해. 왜냐하면…”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868680" y="2404872"/>
            <a:ext cx="658368" cy="658368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8" name="Text 6"/>
          <p:cNvSpPr/>
          <p:nvPr/>
        </p:nvSpPr>
        <p:spPr>
          <a:xfrm>
            <a:off x="868680" y="2404872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1783080" y="2368296"/>
            <a:ext cx="9418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634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확인한 사실만 말해요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1783080" y="2779776"/>
            <a:ext cx="9418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E70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잘 모르는 이야기나 소문은 옮기지 않아요.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868680" y="3429000"/>
            <a:ext cx="658368" cy="658368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2" name="Text 10"/>
          <p:cNvSpPr/>
          <p:nvPr/>
        </p:nvSpPr>
        <p:spPr>
          <a:xfrm>
            <a:off x="868680" y="3429000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1783080" y="3392424"/>
            <a:ext cx="9418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634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존중하는 말을 써요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1783080" y="3803904"/>
            <a:ext cx="9418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E70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놀리는 말, 비꼬는 말 대신 읽는 사람의 기분을 생각해요.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868680" y="4453128"/>
            <a:ext cx="658368" cy="658368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6" name="Text 14"/>
          <p:cNvSpPr/>
          <p:nvPr/>
        </p:nvSpPr>
        <p:spPr>
          <a:xfrm>
            <a:off x="868680" y="4453128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1783080" y="4416552"/>
            <a:ext cx="9418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634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개인정보는 비밀이에요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1783080" y="4828032"/>
            <a:ext cx="9418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E70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나와 친구의 이름·학교·연락처·사진을 함부로 쓰지 않아요.</a:t>
            </a:r>
            <a:endParaRPr lang="en-US" sz="1350" dirty="0"/>
          </a:p>
        </p:txBody>
      </p:sp>
      <p:sp>
        <p:nvSpPr>
          <p:cNvPr id="19" name="Shape 17"/>
          <p:cNvSpPr/>
          <p:nvPr/>
        </p:nvSpPr>
        <p:spPr>
          <a:xfrm>
            <a:off x="868680" y="5477256"/>
            <a:ext cx="658368" cy="658368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20" name="Text 18"/>
          <p:cNvSpPr/>
          <p:nvPr/>
        </p:nvSpPr>
        <p:spPr>
          <a:xfrm>
            <a:off x="868680" y="5477256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</a:t>
            </a:r>
            <a:endParaRPr lang="en-US" sz="2400" dirty="0"/>
          </a:p>
        </p:txBody>
      </p:sp>
      <p:sp>
        <p:nvSpPr>
          <p:cNvPr id="21" name="Text 19"/>
          <p:cNvSpPr/>
          <p:nvPr/>
        </p:nvSpPr>
        <p:spPr>
          <a:xfrm>
            <a:off x="1783080" y="5440680"/>
            <a:ext cx="9418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634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올리기 전에 한 번 더 읽어요</a:t>
            </a:r>
            <a:endParaRPr lang="en-US" sz="1700" dirty="0"/>
          </a:p>
        </p:txBody>
      </p:sp>
      <p:sp>
        <p:nvSpPr>
          <p:cNvPr id="22" name="Text 20"/>
          <p:cNvSpPr/>
          <p:nvPr/>
        </p:nvSpPr>
        <p:spPr>
          <a:xfrm>
            <a:off x="1783080" y="5852160"/>
            <a:ext cx="9418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E70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소리 내어 읽어 보고, 기분 나쁠 말이 없는지 확인한 뒤 올려요.</a:t>
            </a:r>
            <a:endParaRPr lang="en-US" sz="13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02920"/>
            <a:ext cx="10515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65A6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이런 댓글은 잠깐, 멈춰요!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822960" y="1463040"/>
            <a:ext cx="5120640" cy="2011680"/>
          </a:xfrm>
          <a:prstGeom prst="roundRect">
            <a:avLst>
              <a:gd name="adj" fmla="val 6364"/>
            </a:avLst>
          </a:prstGeom>
          <a:solidFill>
            <a:srgbClr val="FDE7E8"/>
          </a:solidFill>
          <a:ln/>
        </p:spPr>
      </p:sp>
      <p:sp>
        <p:nvSpPr>
          <p:cNvPr id="4" name="Shape 2"/>
          <p:cNvSpPr/>
          <p:nvPr/>
        </p:nvSpPr>
        <p:spPr>
          <a:xfrm>
            <a:off x="1143000" y="1755648"/>
            <a:ext cx="621792" cy="621792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04666" y="1917314"/>
            <a:ext cx="298460" cy="29846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920240" y="1828800"/>
            <a:ext cx="3794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F9616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비난·놀림 (악플)</a:t>
            </a:r>
            <a:endParaRPr lang="en-US" sz="1650" dirty="0"/>
          </a:p>
        </p:txBody>
      </p:sp>
      <p:sp>
        <p:nvSpPr>
          <p:cNvPr id="7" name="Text 4"/>
          <p:cNvSpPr/>
          <p:nvPr/>
        </p:nvSpPr>
        <p:spPr>
          <a:xfrm>
            <a:off x="1188720" y="2423160"/>
            <a:ext cx="4434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2634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사람의 겉모습이나 말투를 비웃는 댓글은 마음을 다치게 해요.</a:t>
            </a:r>
            <a:endParaRPr lang="en-US" sz="1350" dirty="0"/>
          </a:p>
        </p:txBody>
      </p:sp>
      <p:sp>
        <p:nvSpPr>
          <p:cNvPr id="8" name="Shape 5"/>
          <p:cNvSpPr/>
          <p:nvPr/>
        </p:nvSpPr>
        <p:spPr>
          <a:xfrm>
            <a:off x="6309360" y="1463040"/>
            <a:ext cx="5120640" cy="2011680"/>
          </a:xfrm>
          <a:prstGeom prst="roundRect">
            <a:avLst>
              <a:gd name="adj" fmla="val 6364"/>
            </a:avLst>
          </a:prstGeom>
          <a:solidFill>
            <a:srgbClr val="FDE7E8"/>
          </a:solidFill>
          <a:ln/>
        </p:spPr>
      </p:sp>
      <p:sp>
        <p:nvSpPr>
          <p:cNvPr id="9" name="Shape 6"/>
          <p:cNvSpPr/>
          <p:nvPr/>
        </p:nvSpPr>
        <p:spPr>
          <a:xfrm>
            <a:off x="6629400" y="1755648"/>
            <a:ext cx="621792" cy="621792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91066" y="1917314"/>
            <a:ext cx="298460" cy="29846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7406640" y="1828800"/>
            <a:ext cx="3794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F9616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거짓·소문 퍼뜨리기</a:t>
            </a:r>
            <a:endParaRPr lang="en-US" sz="1650" dirty="0"/>
          </a:p>
        </p:txBody>
      </p:sp>
      <p:sp>
        <p:nvSpPr>
          <p:cNvPr id="12" name="Text 8"/>
          <p:cNvSpPr/>
          <p:nvPr/>
        </p:nvSpPr>
        <p:spPr>
          <a:xfrm>
            <a:off x="6675120" y="2423160"/>
            <a:ext cx="4434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2634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확인하지 않은 이야기를 사실처럼 쓰면 안 돼요.</a:t>
            </a:r>
            <a:endParaRPr lang="en-US" sz="1350" dirty="0"/>
          </a:p>
        </p:txBody>
      </p:sp>
      <p:sp>
        <p:nvSpPr>
          <p:cNvPr id="13" name="Shape 9"/>
          <p:cNvSpPr/>
          <p:nvPr/>
        </p:nvSpPr>
        <p:spPr>
          <a:xfrm>
            <a:off x="822960" y="3749040"/>
            <a:ext cx="5120640" cy="2011680"/>
          </a:xfrm>
          <a:prstGeom prst="roundRect">
            <a:avLst>
              <a:gd name="adj" fmla="val 6364"/>
            </a:avLst>
          </a:prstGeom>
          <a:solidFill>
            <a:srgbClr val="FDE7E8"/>
          </a:solidFill>
          <a:ln/>
        </p:spPr>
      </p:sp>
      <p:sp>
        <p:nvSpPr>
          <p:cNvPr id="14" name="Shape 10"/>
          <p:cNvSpPr/>
          <p:nvPr/>
        </p:nvSpPr>
        <p:spPr>
          <a:xfrm>
            <a:off x="1143000" y="4041648"/>
            <a:ext cx="621792" cy="621792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04666" y="4203314"/>
            <a:ext cx="298460" cy="29846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1920240" y="4114800"/>
            <a:ext cx="3794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F9616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같은 말 도배하기</a:t>
            </a:r>
            <a:endParaRPr lang="en-US" sz="1650" dirty="0"/>
          </a:p>
        </p:txBody>
      </p:sp>
      <p:sp>
        <p:nvSpPr>
          <p:cNvPr id="17" name="Text 12"/>
          <p:cNvSpPr/>
          <p:nvPr/>
        </p:nvSpPr>
        <p:spPr>
          <a:xfrm>
            <a:off x="1188720" y="4709160"/>
            <a:ext cx="4434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2634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똑같은 댓글을 반복해서 달면 다른 사람의 대화를 방해해요.</a:t>
            </a:r>
            <a:endParaRPr lang="en-US" sz="1350" dirty="0"/>
          </a:p>
        </p:txBody>
      </p:sp>
      <p:sp>
        <p:nvSpPr>
          <p:cNvPr id="18" name="Shape 13"/>
          <p:cNvSpPr/>
          <p:nvPr/>
        </p:nvSpPr>
        <p:spPr>
          <a:xfrm>
            <a:off x="6309360" y="3749040"/>
            <a:ext cx="5120640" cy="2011680"/>
          </a:xfrm>
          <a:prstGeom prst="roundRect">
            <a:avLst>
              <a:gd name="adj" fmla="val 6364"/>
            </a:avLst>
          </a:prstGeom>
          <a:solidFill>
            <a:srgbClr val="FDE7E8"/>
          </a:solidFill>
          <a:ln/>
        </p:spPr>
      </p:sp>
      <p:sp>
        <p:nvSpPr>
          <p:cNvPr id="19" name="Shape 14"/>
          <p:cNvSpPr/>
          <p:nvPr/>
        </p:nvSpPr>
        <p:spPr>
          <a:xfrm>
            <a:off x="6629400" y="4041648"/>
            <a:ext cx="621792" cy="621792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91066" y="4203314"/>
            <a:ext cx="298460" cy="298460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7406640" y="4114800"/>
            <a:ext cx="3794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F9616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남의 글·사진 함부로 쓰기</a:t>
            </a:r>
            <a:endParaRPr lang="en-US" sz="1650" dirty="0"/>
          </a:p>
        </p:txBody>
      </p:sp>
      <p:sp>
        <p:nvSpPr>
          <p:cNvPr id="22" name="Text 16"/>
          <p:cNvSpPr/>
          <p:nvPr/>
        </p:nvSpPr>
        <p:spPr>
          <a:xfrm>
            <a:off x="6675120" y="4709160"/>
            <a:ext cx="4434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2634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다른 사람의 글과 사진에는 주인이 있어요(저작권·초상권).</a:t>
            </a:r>
            <a:endParaRPr lang="en-US" sz="1350" dirty="0"/>
          </a:p>
        </p:txBody>
      </p:sp>
      <p:sp>
        <p:nvSpPr>
          <p:cNvPr id="23" name="Text 17"/>
          <p:cNvSpPr/>
          <p:nvPr/>
        </p:nvSpPr>
        <p:spPr>
          <a:xfrm>
            <a:off x="822960" y="603504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065A6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댓글을 쓰다가 화가 나면?  잠깐 멈추고, 숨 한 번 쉬고, 내일의 나라면 뭐라고 쓸지 생각해요.</a:t>
            </a:r>
            <a:endParaRPr lang="en-US" sz="14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02920"/>
            <a:ext cx="10515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65A6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올리기 전에!  좋은 댓글 자기점검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822960" y="1463040"/>
            <a:ext cx="7223760" cy="731520"/>
          </a:xfrm>
          <a:prstGeom prst="roundRect">
            <a:avLst>
              <a:gd name="adj" fmla="val 12500"/>
            </a:avLst>
          </a:prstGeom>
          <a:solidFill>
            <a:srgbClr val="E3F4F2"/>
          </a:solidFill>
          <a:ln/>
        </p:spPr>
      </p:sp>
      <p:sp>
        <p:nvSpPr>
          <p:cNvPr id="4" name="Shape 2"/>
          <p:cNvSpPr/>
          <p:nvPr/>
        </p:nvSpPr>
        <p:spPr>
          <a:xfrm>
            <a:off x="1005840" y="1591056"/>
            <a:ext cx="475488" cy="475488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9467" y="1714683"/>
            <a:ext cx="228234" cy="228234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691640" y="1618488"/>
            <a:ext cx="6217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634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기사 내용과 관련된 말을 썼나요?</a:t>
            </a:r>
            <a:endParaRPr lang="en-US" sz="1550" dirty="0"/>
          </a:p>
        </p:txBody>
      </p:sp>
      <p:sp>
        <p:nvSpPr>
          <p:cNvPr id="7" name="Shape 4"/>
          <p:cNvSpPr/>
          <p:nvPr/>
        </p:nvSpPr>
        <p:spPr>
          <a:xfrm>
            <a:off x="822960" y="2359152"/>
            <a:ext cx="7223760" cy="731520"/>
          </a:xfrm>
          <a:prstGeom prst="roundRect">
            <a:avLst>
              <a:gd name="adj" fmla="val 12500"/>
            </a:avLst>
          </a:prstGeom>
          <a:solidFill>
            <a:srgbClr val="F6FAF9"/>
          </a:solidFill>
          <a:ln/>
        </p:spPr>
      </p:sp>
      <p:sp>
        <p:nvSpPr>
          <p:cNvPr id="8" name="Shape 5"/>
          <p:cNvSpPr/>
          <p:nvPr/>
        </p:nvSpPr>
        <p:spPr>
          <a:xfrm>
            <a:off x="1005840" y="2487168"/>
            <a:ext cx="475488" cy="475488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9467" y="2610795"/>
            <a:ext cx="228234" cy="228234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691640" y="2514600"/>
            <a:ext cx="6217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634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내 생각과 까닭이 들어 있나요?</a:t>
            </a:r>
            <a:endParaRPr lang="en-US" sz="1550" dirty="0"/>
          </a:p>
        </p:txBody>
      </p:sp>
      <p:sp>
        <p:nvSpPr>
          <p:cNvPr id="11" name="Shape 7"/>
          <p:cNvSpPr/>
          <p:nvPr/>
        </p:nvSpPr>
        <p:spPr>
          <a:xfrm>
            <a:off x="822960" y="3255264"/>
            <a:ext cx="7223760" cy="731520"/>
          </a:xfrm>
          <a:prstGeom prst="roundRect">
            <a:avLst>
              <a:gd name="adj" fmla="val 12500"/>
            </a:avLst>
          </a:prstGeom>
          <a:solidFill>
            <a:srgbClr val="E3F4F2"/>
          </a:solidFill>
          <a:ln/>
        </p:spPr>
      </p:sp>
      <p:sp>
        <p:nvSpPr>
          <p:cNvPr id="12" name="Shape 8"/>
          <p:cNvSpPr/>
          <p:nvPr/>
        </p:nvSpPr>
        <p:spPr>
          <a:xfrm>
            <a:off x="1005840" y="3383280"/>
            <a:ext cx="475488" cy="475488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9467" y="3506907"/>
            <a:ext cx="228234" cy="228234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691640" y="3410712"/>
            <a:ext cx="6217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634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친구의 생각을 넓힐 질문이나 제안이 있나요?</a:t>
            </a:r>
            <a:endParaRPr lang="en-US" sz="1550" dirty="0"/>
          </a:p>
        </p:txBody>
      </p:sp>
      <p:sp>
        <p:nvSpPr>
          <p:cNvPr id="15" name="Shape 10"/>
          <p:cNvSpPr/>
          <p:nvPr/>
        </p:nvSpPr>
        <p:spPr>
          <a:xfrm>
            <a:off x="822960" y="4151376"/>
            <a:ext cx="7223760" cy="731520"/>
          </a:xfrm>
          <a:prstGeom prst="roundRect">
            <a:avLst>
              <a:gd name="adj" fmla="val 12500"/>
            </a:avLst>
          </a:prstGeom>
          <a:solidFill>
            <a:srgbClr val="F6FAF9"/>
          </a:solidFill>
          <a:ln/>
        </p:spPr>
      </p:sp>
      <p:sp>
        <p:nvSpPr>
          <p:cNvPr id="16" name="Shape 11"/>
          <p:cNvSpPr/>
          <p:nvPr/>
        </p:nvSpPr>
        <p:spPr>
          <a:xfrm>
            <a:off x="1005840" y="4279392"/>
            <a:ext cx="475488" cy="475488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29467" y="4403019"/>
            <a:ext cx="228234" cy="228234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1691640" y="4306824"/>
            <a:ext cx="6217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634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존중하는 표현을 사용했나요?</a:t>
            </a:r>
            <a:endParaRPr lang="en-US" sz="1550" dirty="0"/>
          </a:p>
        </p:txBody>
      </p:sp>
      <p:sp>
        <p:nvSpPr>
          <p:cNvPr id="19" name="Shape 13"/>
          <p:cNvSpPr/>
          <p:nvPr/>
        </p:nvSpPr>
        <p:spPr>
          <a:xfrm>
            <a:off x="822960" y="5047488"/>
            <a:ext cx="7223760" cy="731520"/>
          </a:xfrm>
          <a:prstGeom prst="roundRect">
            <a:avLst>
              <a:gd name="adj" fmla="val 12500"/>
            </a:avLst>
          </a:prstGeom>
          <a:solidFill>
            <a:srgbClr val="E3F4F2"/>
          </a:solidFill>
          <a:ln/>
        </p:spPr>
      </p:sp>
      <p:sp>
        <p:nvSpPr>
          <p:cNvPr id="20" name="Shape 14"/>
          <p:cNvSpPr/>
          <p:nvPr/>
        </p:nvSpPr>
        <p:spPr>
          <a:xfrm>
            <a:off x="1005840" y="5175504"/>
            <a:ext cx="475488" cy="475488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21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29467" y="5299131"/>
            <a:ext cx="228234" cy="228234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1691640" y="5202936"/>
            <a:ext cx="6217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634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읽는 사람이 이해하기 쉽게 다시 읽어 보았나요?</a:t>
            </a:r>
            <a:endParaRPr lang="en-US" sz="1550" dirty="0"/>
          </a:p>
        </p:txBody>
      </p:sp>
      <p:sp>
        <p:nvSpPr>
          <p:cNvPr id="23" name="Shape 16"/>
          <p:cNvSpPr/>
          <p:nvPr/>
        </p:nvSpPr>
        <p:spPr>
          <a:xfrm>
            <a:off x="8321040" y="1463040"/>
            <a:ext cx="3017520" cy="4297680"/>
          </a:xfrm>
          <a:prstGeom prst="roundRect">
            <a:avLst>
              <a:gd name="adj" fmla="val 4242"/>
            </a:avLst>
          </a:prstGeom>
          <a:solidFill>
            <a:srgbClr val="065A6E"/>
          </a:solidFill>
          <a:ln/>
        </p:spPr>
      </p:sp>
      <p:sp>
        <p:nvSpPr>
          <p:cNvPr id="24" name="Shape 17"/>
          <p:cNvSpPr/>
          <p:nvPr/>
        </p:nvSpPr>
        <p:spPr>
          <a:xfrm>
            <a:off x="9464040" y="1874520"/>
            <a:ext cx="731520" cy="73152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25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654235" y="2064715"/>
            <a:ext cx="351130" cy="351130"/>
          </a:xfrm>
          <a:prstGeom prst="rect">
            <a:avLst/>
          </a:prstGeom>
        </p:spPr>
      </p:pic>
      <p:sp>
        <p:nvSpPr>
          <p:cNvPr id="26" name="Text 18"/>
          <p:cNvSpPr/>
          <p:nvPr/>
        </p:nvSpPr>
        <p:spPr>
          <a:xfrm>
            <a:off x="8503920" y="2880360"/>
            <a:ext cx="26517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다섯 개 모두</a:t>
            </a:r>
            <a:endParaRPr lang="en-US" sz="170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체크되면</a:t>
            </a:r>
            <a:endParaRPr lang="en-US" sz="170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올려도 좋아요!</a:t>
            </a:r>
            <a:endParaRPr lang="en-US" sz="1700" dirty="0"/>
          </a:p>
        </p:txBody>
      </p:sp>
      <p:sp>
        <p:nvSpPr>
          <p:cNvPr id="27" name="Text 19"/>
          <p:cNvSpPr/>
          <p:nvPr/>
        </p:nvSpPr>
        <p:spPr>
          <a:xfrm>
            <a:off x="8503920" y="4572000"/>
            <a:ext cx="2651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C9E8E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하나라도 빠졌다면</a:t>
            </a:r>
            <a:endParaRPr lang="en-US" sz="125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C9E8E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고친 뒤에 올려요.</a:t>
            </a:r>
            <a:endParaRPr lang="en-US" sz="12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02920"/>
            <a:ext cx="10515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65A6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연습해 봐요 — 네티켓을 지킨 댓글은?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822960" y="1371600"/>
            <a:ext cx="10515600" cy="1051560"/>
          </a:xfrm>
          <a:prstGeom prst="roundRect">
            <a:avLst>
              <a:gd name="adj" fmla="val 10435"/>
            </a:avLst>
          </a:prstGeom>
          <a:solidFill>
            <a:srgbClr val="F1F4F5"/>
          </a:solidFill>
          <a:ln/>
        </p:spPr>
      </p:sp>
      <p:sp>
        <p:nvSpPr>
          <p:cNvPr id="4" name="Shape 2"/>
          <p:cNvSpPr/>
          <p:nvPr/>
        </p:nvSpPr>
        <p:spPr>
          <a:xfrm>
            <a:off x="1024128" y="1554480"/>
            <a:ext cx="548640" cy="54864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66774" y="1697126"/>
            <a:ext cx="263347" cy="263347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737360" y="1517904"/>
            <a:ext cx="9235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634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[기사]  일회용 플라스틱 사용, 다시 늘고 있다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1737360" y="1920240"/>
            <a:ext cx="9235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E70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우리나라의 일회용 플라스틱 사용량이 다시 늘고 있다는 조사 결과가 나왔어요.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822960" y="2743200"/>
            <a:ext cx="3291840" cy="2560320"/>
          </a:xfrm>
          <a:prstGeom prst="roundRect">
            <a:avLst>
              <a:gd name="adj" fmla="val 5000"/>
            </a:avLst>
          </a:prstGeom>
          <a:solidFill>
            <a:srgbClr val="F6F8F9"/>
          </a:solidFill>
          <a:ln w="12700">
            <a:solidFill>
              <a:srgbClr val="DDE5E7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1097280" y="3017520"/>
            <a:ext cx="566928" cy="566928"/>
          </a:xfrm>
          <a:prstGeom prst="ellipse">
            <a:avLst/>
          </a:prstGeom>
          <a:solidFill>
            <a:srgbClr val="F9C846"/>
          </a:solidFill>
          <a:ln/>
        </p:spPr>
      </p:sp>
      <p:sp>
        <p:nvSpPr>
          <p:cNvPr id="10" name="Text 7"/>
          <p:cNvSpPr/>
          <p:nvPr/>
        </p:nvSpPr>
        <p:spPr>
          <a:xfrm>
            <a:off x="1097280" y="301752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634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</a:t>
            </a:r>
            <a:endParaRPr lang="en-US" sz="2000" dirty="0"/>
          </a:p>
        </p:txBody>
      </p:sp>
      <p:sp>
        <p:nvSpPr>
          <p:cNvPr id="11" name="Text 8"/>
          <p:cNvSpPr/>
          <p:nvPr/>
        </p:nvSpPr>
        <p:spPr>
          <a:xfrm>
            <a:off x="1115568" y="3767328"/>
            <a:ext cx="2706624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2634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“플라스틱 쓰는 사람들 다 이상한 거 아냐? 생각이 없네.”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4434840" y="2743200"/>
            <a:ext cx="3291840" cy="2560320"/>
          </a:xfrm>
          <a:prstGeom prst="roundRect">
            <a:avLst>
              <a:gd name="adj" fmla="val 5000"/>
            </a:avLst>
          </a:prstGeom>
          <a:solidFill>
            <a:srgbClr val="F6F8F9"/>
          </a:solidFill>
          <a:ln w="12700">
            <a:solidFill>
              <a:srgbClr val="DDE5E7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4709160" y="3017520"/>
            <a:ext cx="566928" cy="566928"/>
          </a:xfrm>
          <a:prstGeom prst="ellipse">
            <a:avLst/>
          </a:prstGeom>
          <a:solidFill>
            <a:srgbClr val="F9C846"/>
          </a:solidFill>
          <a:ln/>
        </p:spPr>
      </p:sp>
      <p:sp>
        <p:nvSpPr>
          <p:cNvPr id="14" name="Text 11"/>
          <p:cNvSpPr/>
          <p:nvPr/>
        </p:nvSpPr>
        <p:spPr>
          <a:xfrm>
            <a:off x="4709160" y="301752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634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나</a:t>
            </a:r>
            <a:endParaRPr lang="en-US" sz="2000" dirty="0"/>
          </a:p>
        </p:txBody>
      </p:sp>
      <p:sp>
        <p:nvSpPr>
          <p:cNvPr id="15" name="Text 12"/>
          <p:cNvSpPr/>
          <p:nvPr/>
        </p:nvSpPr>
        <p:spPr>
          <a:xfrm>
            <a:off x="4727448" y="3767328"/>
            <a:ext cx="2706624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2634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“나는 학교 매점에서 종이컵 대신 개인 컵을 쓰면 좋겠어요. 왜냐하면 우리가 매일 쓰는 컵부터 줄일 수 있기 때문이에요.”</a:t>
            </a:r>
            <a:endParaRPr lang="en-US" sz="1300" dirty="0"/>
          </a:p>
        </p:txBody>
      </p:sp>
      <p:sp>
        <p:nvSpPr>
          <p:cNvPr id="16" name="Shape 13"/>
          <p:cNvSpPr/>
          <p:nvPr/>
        </p:nvSpPr>
        <p:spPr>
          <a:xfrm>
            <a:off x="8046720" y="2743200"/>
            <a:ext cx="3291840" cy="2560320"/>
          </a:xfrm>
          <a:prstGeom prst="roundRect">
            <a:avLst>
              <a:gd name="adj" fmla="val 5000"/>
            </a:avLst>
          </a:prstGeom>
          <a:solidFill>
            <a:srgbClr val="F6F8F9"/>
          </a:solidFill>
          <a:ln w="12700">
            <a:solidFill>
              <a:srgbClr val="DDE5E7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8321040" y="3017520"/>
            <a:ext cx="566928" cy="566928"/>
          </a:xfrm>
          <a:prstGeom prst="ellipse">
            <a:avLst/>
          </a:prstGeom>
          <a:solidFill>
            <a:srgbClr val="F9C846"/>
          </a:solidFill>
          <a:ln/>
        </p:spPr>
      </p:sp>
      <p:sp>
        <p:nvSpPr>
          <p:cNvPr id="18" name="Text 15"/>
          <p:cNvSpPr/>
          <p:nvPr/>
        </p:nvSpPr>
        <p:spPr>
          <a:xfrm>
            <a:off x="8321040" y="301752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634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</a:t>
            </a:r>
            <a:endParaRPr lang="en-US" sz="2000" dirty="0"/>
          </a:p>
        </p:txBody>
      </p:sp>
      <p:sp>
        <p:nvSpPr>
          <p:cNvPr id="19" name="Text 16"/>
          <p:cNvSpPr/>
          <p:nvPr/>
        </p:nvSpPr>
        <p:spPr>
          <a:xfrm>
            <a:off x="8339328" y="3767328"/>
            <a:ext cx="2706624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2634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“맞아요 맞아요 맞아요 맞아요 맞아요”</a:t>
            </a:r>
            <a:endParaRPr lang="en-US" sz="1300" dirty="0"/>
          </a:p>
        </p:txBody>
      </p:sp>
      <p:sp>
        <p:nvSpPr>
          <p:cNvPr id="20" name="Text 17"/>
          <p:cNvSpPr/>
          <p:nvPr/>
        </p:nvSpPr>
        <p:spPr>
          <a:xfrm>
            <a:off x="822960" y="562356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2809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짝과 이야기해 봐요:  어떤 댓글이 다섯 가지 약속을 지켰나요? 나머지는 무엇이 문제일까요?</a:t>
            </a:r>
            <a:endParaRPr lang="en-US" sz="1500" dirty="0"/>
          </a:p>
        </p:txBody>
      </p:sp>
      <p:sp>
        <p:nvSpPr>
          <p:cNvPr id="21" name="Text 18"/>
          <p:cNvSpPr/>
          <p:nvPr/>
        </p:nvSpPr>
        <p:spPr>
          <a:xfrm>
            <a:off x="822960" y="6126480"/>
            <a:ext cx="10515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5E70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이제 노션 페이지를 열고, 오늘 기사에 직접 댓글을 달아 봐요!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65A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-1554480"/>
            <a:ext cx="4023360" cy="4023360"/>
          </a:xfrm>
          <a:prstGeom prst="ellipse">
            <a:avLst/>
          </a:prstGeom>
          <a:solidFill>
            <a:srgbClr val="2C8A5B">
              <a:alpha val="4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868680" y="1234440"/>
            <a:ext cx="1005840" cy="1005840"/>
          </a:xfrm>
          <a:prstGeom prst="ellipse">
            <a:avLst/>
          </a:prstGeom>
          <a:solidFill>
            <a:srgbClr val="2C8A5B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30198" y="1495958"/>
            <a:ext cx="482803" cy="482803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868680" y="2487168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A9DFC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활동 ②</a:t>
            </a:r>
            <a:endParaRPr lang="en-US" sz="2000" dirty="0"/>
          </a:p>
        </p:txBody>
      </p:sp>
      <p:sp>
        <p:nvSpPr>
          <p:cNvPr id="6" name="Text 3"/>
          <p:cNvSpPr/>
          <p:nvPr/>
        </p:nvSpPr>
        <p:spPr>
          <a:xfrm>
            <a:off x="868680" y="2880360"/>
            <a:ext cx="10424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신문기사 읽고 내 의견 쓰기</a:t>
            </a:r>
            <a:endParaRPr lang="en-US" sz="4000" dirty="0"/>
          </a:p>
        </p:txBody>
      </p:sp>
      <p:sp>
        <p:nvSpPr>
          <p:cNvPr id="7" name="Text 4"/>
          <p:cNvSpPr/>
          <p:nvPr/>
        </p:nvSpPr>
        <p:spPr>
          <a:xfrm>
            <a:off x="868680" y="3886200"/>
            <a:ext cx="9601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D7EFE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읽고 → 생각하고 → 까닭까지 쓰고 → 노션 폼으로 제출해요.</a:t>
            </a:r>
            <a:endParaRPr lang="en-US" sz="1800" dirty="0"/>
          </a:p>
        </p:txBody>
      </p:sp>
      <p:sp>
        <p:nvSpPr>
          <p:cNvPr id="8" name="Shape 5"/>
          <p:cNvSpPr/>
          <p:nvPr/>
        </p:nvSpPr>
        <p:spPr>
          <a:xfrm>
            <a:off x="868680" y="4800600"/>
            <a:ext cx="2468880" cy="685800"/>
          </a:xfrm>
          <a:prstGeom prst="roundRect">
            <a:avLst>
              <a:gd name="adj" fmla="val 46667"/>
            </a:avLst>
          </a:prstGeom>
          <a:solidFill>
            <a:srgbClr val="0E7487"/>
          </a:solidFill>
          <a:ln/>
        </p:spPr>
      </p:sp>
      <p:sp>
        <p:nvSpPr>
          <p:cNvPr id="9" name="Text 6"/>
          <p:cNvSpPr/>
          <p:nvPr/>
        </p:nvSpPr>
        <p:spPr>
          <a:xfrm>
            <a:off x="868680" y="4800600"/>
            <a:ext cx="2468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① 꼼꼼히 읽기</a:t>
            </a:r>
            <a:endParaRPr lang="en-US" sz="1450" dirty="0"/>
          </a:p>
        </p:txBody>
      </p:sp>
      <p:sp>
        <p:nvSpPr>
          <p:cNvPr id="10" name="Shape 7"/>
          <p:cNvSpPr/>
          <p:nvPr/>
        </p:nvSpPr>
        <p:spPr>
          <a:xfrm>
            <a:off x="3566160" y="4800600"/>
            <a:ext cx="2468880" cy="685800"/>
          </a:xfrm>
          <a:prstGeom prst="roundRect">
            <a:avLst>
              <a:gd name="adj" fmla="val 46667"/>
            </a:avLst>
          </a:prstGeom>
          <a:solidFill>
            <a:srgbClr val="0E7487"/>
          </a:solidFill>
          <a:ln/>
        </p:spPr>
      </p:sp>
      <p:sp>
        <p:nvSpPr>
          <p:cNvPr id="11" name="Text 8"/>
          <p:cNvSpPr/>
          <p:nvPr/>
        </p:nvSpPr>
        <p:spPr>
          <a:xfrm>
            <a:off x="3566160" y="4800600"/>
            <a:ext cx="2468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② 내 생각 정하기</a:t>
            </a:r>
            <a:endParaRPr lang="en-US" sz="1450" dirty="0"/>
          </a:p>
        </p:txBody>
      </p:sp>
      <p:sp>
        <p:nvSpPr>
          <p:cNvPr id="12" name="Shape 9"/>
          <p:cNvSpPr/>
          <p:nvPr/>
        </p:nvSpPr>
        <p:spPr>
          <a:xfrm>
            <a:off x="6263640" y="4800600"/>
            <a:ext cx="2468880" cy="685800"/>
          </a:xfrm>
          <a:prstGeom prst="roundRect">
            <a:avLst>
              <a:gd name="adj" fmla="val 46667"/>
            </a:avLst>
          </a:prstGeom>
          <a:solidFill>
            <a:srgbClr val="0E7487"/>
          </a:solidFill>
          <a:ln/>
        </p:spPr>
      </p:sp>
      <p:sp>
        <p:nvSpPr>
          <p:cNvPr id="13" name="Text 10"/>
          <p:cNvSpPr/>
          <p:nvPr/>
        </p:nvSpPr>
        <p:spPr>
          <a:xfrm>
            <a:off x="6263640" y="4800600"/>
            <a:ext cx="2468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③ 까닭까지 쓰기</a:t>
            </a:r>
            <a:endParaRPr lang="en-US" sz="1450" dirty="0"/>
          </a:p>
        </p:txBody>
      </p:sp>
      <p:sp>
        <p:nvSpPr>
          <p:cNvPr id="14" name="Shape 11"/>
          <p:cNvSpPr/>
          <p:nvPr/>
        </p:nvSpPr>
        <p:spPr>
          <a:xfrm>
            <a:off x="8961120" y="4800600"/>
            <a:ext cx="2468880" cy="685800"/>
          </a:xfrm>
          <a:prstGeom prst="roundRect">
            <a:avLst>
              <a:gd name="adj" fmla="val 46667"/>
            </a:avLst>
          </a:prstGeom>
          <a:solidFill>
            <a:srgbClr val="0E7487"/>
          </a:solidFill>
          <a:ln/>
        </p:spPr>
      </p:sp>
      <p:sp>
        <p:nvSpPr>
          <p:cNvPr id="15" name="Text 12"/>
          <p:cNvSpPr/>
          <p:nvPr/>
        </p:nvSpPr>
        <p:spPr>
          <a:xfrm>
            <a:off x="8961120" y="4800600"/>
            <a:ext cx="2468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④ 폼으로 제출</a:t>
            </a:r>
            <a:endParaRPr lang="en-US" sz="14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02920"/>
            <a:ext cx="10515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65A6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1단계 · 기사를 꼼꼼히 읽어요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822960" y="137160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C8A5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육하원칙으로 확인해요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822960" y="1920240"/>
            <a:ext cx="1783080" cy="731520"/>
          </a:xfrm>
          <a:prstGeom prst="roundRect">
            <a:avLst>
              <a:gd name="adj" fmla="val 15000"/>
            </a:avLst>
          </a:prstGeom>
          <a:solidFill>
            <a:srgbClr val="E6F3EC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920240"/>
            <a:ext cx="1783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C8A5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누가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2788920" y="1920240"/>
            <a:ext cx="1783080" cy="731520"/>
          </a:xfrm>
          <a:prstGeom prst="roundRect">
            <a:avLst>
              <a:gd name="adj" fmla="val 15000"/>
            </a:avLst>
          </a:prstGeom>
          <a:solidFill>
            <a:srgbClr val="E6F3EC"/>
          </a:solidFill>
          <a:ln/>
        </p:spPr>
      </p:sp>
      <p:sp>
        <p:nvSpPr>
          <p:cNvPr id="7" name="Text 5"/>
          <p:cNvSpPr/>
          <p:nvPr/>
        </p:nvSpPr>
        <p:spPr>
          <a:xfrm>
            <a:off x="2788920" y="1920240"/>
            <a:ext cx="1783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C8A5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언제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4754880" y="1920240"/>
            <a:ext cx="1783080" cy="731520"/>
          </a:xfrm>
          <a:prstGeom prst="roundRect">
            <a:avLst>
              <a:gd name="adj" fmla="val 15000"/>
            </a:avLst>
          </a:prstGeom>
          <a:solidFill>
            <a:srgbClr val="E6F3EC"/>
          </a:solidFill>
          <a:ln/>
        </p:spPr>
      </p:sp>
      <p:sp>
        <p:nvSpPr>
          <p:cNvPr id="9" name="Text 7"/>
          <p:cNvSpPr/>
          <p:nvPr/>
        </p:nvSpPr>
        <p:spPr>
          <a:xfrm>
            <a:off x="4754880" y="1920240"/>
            <a:ext cx="1783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C8A5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어디서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822960" y="2834640"/>
            <a:ext cx="1783080" cy="731520"/>
          </a:xfrm>
          <a:prstGeom prst="roundRect">
            <a:avLst>
              <a:gd name="adj" fmla="val 15000"/>
            </a:avLst>
          </a:prstGeom>
          <a:solidFill>
            <a:srgbClr val="E6F3EC"/>
          </a:solidFill>
          <a:ln/>
        </p:spPr>
      </p:sp>
      <p:sp>
        <p:nvSpPr>
          <p:cNvPr id="11" name="Text 9"/>
          <p:cNvSpPr/>
          <p:nvPr/>
        </p:nvSpPr>
        <p:spPr>
          <a:xfrm>
            <a:off x="822960" y="2834640"/>
            <a:ext cx="1783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C8A5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무엇을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2788920" y="2834640"/>
            <a:ext cx="1783080" cy="731520"/>
          </a:xfrm>
          <a:prstGeom prst="roundRect">
            <a:avLst>
              <a:gd name="adj" fmla="val 15000"/>
            </a:avLst>
          </a:prstGeom>
          <a:solidFill>
            <a:srgbClr val="E6F3EC"/>
          </a:solidFill>
          <a:ln/>
        </p:spPr>
      </p:sp>
      <p:sp>
        <p:nvSpPr>
          <p:cNvPr id="13" name="Text 11"/>
          <p:cNvSpPr/>
          <p:nvPr/>
        </p:nvSpPr>
        <p:spPr>
          <a:xfrm>
            <a:off x="2788920" y="2834640"/>
            <a:ext cx="1783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C8A5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어떻게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4754880" y="2834640"/>
            <a:ext cx="1783080" cy="731520"/>
          </a:xfrm>
          <a:prstGeom prst="roundRect">
            <a:avLst>
              <a:gd name="adj" fmla="val 15000"/>
            </a:avLst>
          </a:prstGeom>
          <a:solidFill>
            <a:srgbClr val="E6F3EC"/>
          </a:solidFill>
          <a:ln/>
        </p:spPr>
      </p:sp>
      <p:sp>
        <p:nvSpPr>
          <p:cNvPr id="15" name="Text 13"/>
          <p:cNvSpPr/>
          <p:nvPr/>
        </p:nvSpPr>
        <p:spPr>
          <a:xfrm>
            <a:off x="4754880" y="2834640"/>
            <a:ext cx="1783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C8A5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왜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822960" y="397764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C8A5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이렇게 읽으면 좋아요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896112" y="4617720"/>
            <a:ext cx="146304" cy="146304"/>
          </a:xfrm>
          <a:prstGeom prst="ellipse">
            <a:avLst/>
          </a:prstGeom>
          <a:solidFill>
            <a:srgbClr val="2C8A5B"/>
          </a:solidFill>
          <a:ln/>
        </p:spPr>
      </p:sp>
      <p:sp>
        <p:nvSpPr>
          <p:cNvPr id="18" name="Text 16"/>
          <p:cNvSpPr/>
          <p:nvPr/>
        </p:nvSpPr>
        <p:spPr>
          <a:xfrm>
            <a:off x="1234440" y="4526280"/>
            <a:ext cx="5852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2634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제목과 사진을 먼저 보고 내용을 짐작해 봐요.</a:t>
            </a:r>
            <a:endParaRPr lang="en-US" sz="1450" dirty="0"/>
          </a:p>
        </p:txBody>
      </p:sp>
      <p:sp>
        <p:nvSpPr>
          <p:cNvPr id="19" name="Shape 17"/>
          <p:cNvSpPr/>
          <p:nvPr/>
        </p:nvSpPr>
        <p:spPr>
          <a:xfrm>
            <a:off x="896112" y="5148072"/>
            <a:ext cx="146304" cy="146304"/>
          </a:xfrm>
          <a:prstGeom prst="ellipse">
            <a:avLst/>
          </a:prstGeom>
          <a:solidFill>
            <a:srgbClr val="2C8A5B"/>
          </a:solidFill>
          <a:ln/>
        </p:spPr>
      </p:sp>
      <p:sp>
        <p:nvSpPr>
          <p:cNvPr id="20" name="Text 18"/>
          <p:cNvSpPr/>
          <p:nvPr/>
        </p:nvSpPr>
        <p:spPr>
          <a:xfrm>
            <a:off x="1234440" y="5056632"/>
            <a:ext cx="5852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2634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가장 중요한 문장에 밑줄을 그어요.</a:t>
            </a:r>
            <a:endParaRPr lang="en-US" sz="1450" dirty="0"/>
          </a:p>
        </p:txBody>
      </p:sp>
      <p:sp>
        <p:nvSpPr>
          <p:cNvPr id="21" name="Shape 19"/>
          <p:cNvSpPr/>
          <p:nvPr/>
        </p:nvSpPr>
        <p:spPr>
          <a:xfrm>
            <a:off x="896112" y="5678424"/>
            <a:ext cx="146304" cy="146304"/>
          </a:xfrm>
          <a:prstGeom prst="ellipse">
            <a:avLst/>
          </a:prstGeom>
          <a:solidFill>
            <a:srgbClr val="2C8A5B"/>
          </a:solidFill>
          <a:ln/>
        </p:spPr>
      </p:sp>
      <p:sp>
        <p:nvSpPr>
          <p:cNvPr id="22" name="Text 20"/>
          <p:cNvSpPr/>
          <p:nvPr/>
        </p:nvSpPr>
        <p:spPr>
          <a:xfrm>
            <a:off x="1234440" y="5586984"/>
            <a:ext cx="5852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2634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모르는 낱말은 표시하고 뜻을 찾아봐요.</a:t>
            </a:r>
            <a:endParaRPr lang="en-US" sz="1450" dirty="0"/>
          </a:p>
        </p:txBody>
      </p:sp>
      <p:sp>
        <p:nvSpPr>
          <p:cNvPr id="23" name="Shape 21"/>
          <p:cNvSpPr/>
          <p:nvPr/>
        </p:nvSpPr>
        <p:spPr>
          <a:xfrm>
            <a:off x="896112" y="6208776"/>
            <a:ext cx="146304" cy="146304"/>
          </a:xfrm>
          <a:prstGeom prst="ellipse">
            <a:avLst/>
          </a:prstGeom>
          <a:solidFill>
            <a:srgbClr val="2C8A5B"/>
          </a:solidFill>
          <a:ln/>
        </p:spPr>
      </p:sp>
      <p:sp>
        <p:nvSpPr>
          <p:cNvPr id="24" name="Text 22"/>
          <p:cNvSpPr/>
          <p:nvPr/>
        </p:nvSpPr>
        <p:spPr>
          <a:xfrm>
            <a:off x="1234440" y="6117336"/>
            <a:ext cx="5852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2634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숫자와 사실은 한 번 더 천천히 읽어요.</a:t>
            </a:r>
            <a:endParaRPr lang="en-US" sz="1450" dirty="0"/>
          </a:p>
        </p:txBody>
      </p:sp>
      <p:sp>
        <p:nvSpPr>
          <p:cNvPr id="25" name="Shape 23"/>
          <p:cNvSpPr/>
          <p:nvPr/>
        </p:nvSpPr>
        <p:spPr>
          <a:xfrm>
            <a:off x="7635240" y="1371600"/>
            <a:ext cx="3703320" cy="4937760"/>
          </a:xfrm>
          <a:prstGeom prst="roundRect">
            <a:avLst>
              <a:gd name="adj" fmla="val 3457"/>
            </a:avLst>
          </a:prstGeom>
          <a:solidFill>
            <a:srgbClr val="F1F4F5"/>
          </a:solidFill>
          <a:ln/>
        </p:spPr>
      </p:sp>
      <p:sp>
        <p:nvSpPr>
          <p:cNvPr id="26" name="Shape 24"/>
          <p:cNvSpPr/>
          <p:nvPr/>
        </p:nvSpPr>
        <p:spPr>
          <a:xfrm>
            <a:off x="9052560" y="1783080"/>
            <a:ext cx="822960" cy="82296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2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266530" y="1997050"/>
            <a:ext cx="395021" cy="395021"/>
          </a:xfrm>
          <a:prstGeom prst="rect">
            <a:avLst/>
          </a:prstGeom>
        </p:spPr>
      </p:pic>
      <p:sp>
        <p:nvSpPr>
          <p:cNvPr id="28" name="Text 25"/>
          <p:cNvSpPr/>
          <p:nvPr/>
        </p:nvSpPr>
        <p:spPr>
          <a:xfrm>
            <a:off x="7818120" y="2834640"/>
            <a:ext cx="3337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65A6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읽기 미션</a:t>
            </a:r>
            <a:endParaRPr lang="en-US" sz="1800" dirty="0"/>
          </a:p>
        </p:txBody>
      </p:sp>
      <p:sp>
        <p:nvSpPr>
          <p:cNvPr id="29" name="Text 26"/>
          <p:cNvSpPr/>
          <p:nvPr/>
        </p:nvSpPr>
        <p:spPr>
          <a:xfrm>
            <a:off x="7818120" y="3337560"/>
            <a:ext cx="333756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5000"/>
              </a:lnSpc>
              <a:buNone/>
            </a:pPr>
            <a:r>
              <a:rPr lang="en-US" sz="1500" dirty="0">
                <a:solidFill>
                  <a:srgbClr val="2634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오늘 기사에서</a:t>
            </a:r>
            <a:endParaRPr lang="en-US" sz="1500" dirty="0"/>
          </a:p>
          <a:p>
            <a:pPr algn="ctr" indent="0" marL="0">
              <a:lnSpc>
                <a:spcPct val="135000"/>
              </a:lnSpc>
              <a:buNone/>
            </a:pPr>
            <a:r>
              <a:rPr lang="en-US" sz="1500" dirty="0">
                <a:solidFill>
                  <a:srgbClr val="2634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① 핵심 문장 1개</a:t>
            </a:r>
            <a:endParaRPr lang="en-US" sz="1500" dirty="0"/>
          </a:p>
          <a:p>
            <a:pPr algn="ctr" indent="0" marL="0">
              <a:lnSpc>
                <a:spcPct val="135000"/>
              </a:lnSpc>
              <a:buNone/>
            </a:pPr>
            <a:r>
              <a:rPr lang="en-US" sz="1500" dirty="0">
                <a:solidFill>
                  <a:srgbClr val="2634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② 새로 안 낱말 1개</a:t>
            </a:r>
            <a:endParaRPr lang="en-US" sz="1500" dirty="0"/>
          </a:p>
          <a:p>
            <a:pPr algn="ctr" indent="0" marL="0">
              <a:lnSpc>
                <a:spcPct val="135000"/>
              </a:lnSpc>
              <a:buNone/>
            </a:pPr>
            <a:r>
              <a:rPr lang="en-US" sz="1500" dirty="0">
                <a:solidFill>
                  <a:srgbClr val="2634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③ 궁금한 점 1개</a:t>
            </a:r>
            <a:endParaRPr lang="en-US" sz="1500" dirty="0"/>
          </a:p>
          <a:p>
            <a:pPr algn="ctr" indent="0" marL="0">
              <a:lnSpc>
                <a:spcPct val="135000"/>
              </a:lnSpc>
              <a:buNone/>
            </a:pPr>
            <a:r>
              <a:rPr lang="en-US" sz="1500" dirty="0">
                <a:solidFill>
                  <a:srgbClr val="2634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를 찾아 봐요!</a:t>
            </a:r>
            <a:endParaRPr lang="en-US" sz="15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02920"/>
            <a:ext cx="10515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65A6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2단계 · 글쓴이의 생각과 내 생각을 비교해요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822960" y="1371600"/>
            <a:ext cx="10515600" cy="1097280"/>
          </a:xfrm>
          <a:prstGeom prst="roundRect">
            <a:avLst>
              <a:gd name="adj" fmla="val 10000"/>
            </a:avLst>
          </a:prstGeom>
          <a:solidFill>
            <a:srgbClr val="E6F3EC"/>
          </a:solidFill>
          <a:ln/>
        </p:spPr>
      </p:sp>
      <p:sp>
        <p:nvSpPr>
          <p:cNvPr id="4" name="Text 2"/>
          <p:cNvSpPr/>
          <p:nvPr/>
        </p:nvSpPr>
        <p:spPr>
          <a:xfrm>
            <a:off x="1143000" y="1691640"/>
            <a:ext cx="9875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2C8A5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먼저 찾기:  </a:t>
            </a:r>
            <a:pPr indent="0" marL="0">
              <a:buNone/>
            </a:pPr>
            <a:r>
              <a:rPr lang="en-US" sz="1650" dirty="0">
                <a:solidFill>
                  <a:srgbClr val="2634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 기사(글쓴이)는 무엇을 말하고 싶은 걸까?  한 문장으로 말해 봐요.</a:t>
            </a:r>
            <a:endParaRPr lang="en-US" sz="1650" dirty="0"/>
          </a:p>
        </p:txBody>
      </p:sp>
      <p:sp>
        <p:nvSpPr>
          <p:cNvPr id="5" name="Text 3"/>
          <p:cNvSpPr/>
          <p:nvPr/>
        </p:nvSpPr>
        <p:spPr>
          <a:xfrm>
            <a:off x="822960" y="274320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65A6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그다음, 내 생각은 어느 쪽인가요?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822960" y="3337560"/>
            <a:ext cx="3291840" cy="2377440"/>
          </a:xfrm>
          <a:prstGeom prst="roundRect">
            <a:avLst>
              <a:gd name="adj" fmla="val 5385"/>
            </a:avLst>
          </a:prstGeom>
          <a:solidFill>
            <a:srgbClr val="F6FAF9"/>
          </a:solidFill>
          <a:ln w="12700">
            <a:solidFill>
              <a:srgbClr val="D5E6E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139696" y="3611880"/>
            <a:ext cx="658368" cy="658368"/>
          </a:xfrm>
          <a:prstGeom prst="ellipse">
            <a:avLst/>
          </a:prstGeom>
          <a:solidFill>
            <a:srgbClr val="E6F3EC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310872" y="3783056"/>
            <a:ext cx="316017" cy="316017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005840" y="4389120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50" b="1" dirty="0">
                <a:solidFill>
                  <a:srgbClr val="065A6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찬성해요</a:t>
            </a:r>
            <a:endParaRPr lang="en-US" sz="1650" dirty="0"/>
          </a:p>
        </p:txBody>
      </p:sp>
      <p:sp>
        <p:nvSpPr>
          <p:cNvPr id="10" name="Text 7"/>
          <p:cNvSpPr/>
          <p:nvPr/>
        </p:nvSpPr>
        <p:spPr>
          <a:xfrm>
            <a:off x="1078992" y="4828032"/>
            <a:ext cx="277977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E70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“나도 그렇게 생각해요.”</a:t>
            </a:r>
            <a:endParaRPr lang="en-US" sz="125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E70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어떤 부분에 동의하는지 찾아요.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4434840" y="3337560"/>
            <a:ext cx="3291840" cy="2377440"/>
          </a:xfrm>
          <a:prstGeom prst="roundRect">
            <a:avLst>
              <a:gd name="adj" fmla="val 5385"/>
            </a:avLst>
          </a:prstGeom>
          <a:solidFill>
            <a:srgbClr val="F6FAF9"/>
          </a:solidFill>
          <a:ln w="12700">
            <a:solidFill>
              <a:srgbClr val="D5E6E0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5751576" y="3611880"/>
            <a:ext cx="658368" cy="658368"/>
          </a:xfrm>
          <a:prstGeom prst="ellipse">
            <a:avLst/>
          </a:prstGeom>
          <a:solidFill>
            <a:srgbClr val="E6F3EC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22752" y="3783056"/>
            <a:ext cx="316017" cy="316017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4617720" y="4389120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50" b="1" dirty="0">
                <a:solidFill>
                  <a:srgbClr val="065A6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반대해요</a:t>
            </a:r>
            <a:endParaRPr lang="en-US" sz="1650" dirty="0"/>
          </a:p>
        </p:txBody>
      </p:sp>
      <p:sp>
        <p:nvSpPr>
          <p:cNvPr id="15" name="Text 11"/>
          <p:cNvSpPr/>
          <p:nvPr/>
        </p:nvSpPr>
        <p:spPr>
          <a:xfrm>
            <a:off x="4690872" y="4828032"/>
            <a:ext cx="277977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E70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“나는 다르게 생각해요.”</a:t>
            </a:r>
            <a:endParaRPr lang="en-US" sz="125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E70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어떤 부분이 다른지 찾아요.</a:t>
            </a:r>
            <a:endParaRPr lang="en-US" sz="1250" dirty="0"/>
          </a:p>
        </p:txBody>
      </p:sp>
      <p:sp>
        <p:nvSpPr>
          <p:cNvPr id="16" name="Shape 12"/>
          <p:cNvSpPr/>
          <p:nvPr/>
        </p:nvSpPr>
        <p:spPr>
          <a:xfrm>
            <a:off x="8046720" y="3337560"/>
            <a:ext cx="3291840" cy="2377440"/>
          </a:xfrm>
          <a:prstGeom prst="roundRect">
            <a:avLst>
              <a:gd name="adj" fmla="val 5385"/>
            </a:avLst>
          </a:prstGeom>
          <a:solidFill>
            <a:srgbClr val="F6FAF9"/>
          </a:solidFill>
          <a:ln w="12700">
            <a:solidFill>
              <a:srgbClr val="D5E6E0"/>
            </a:solidFill>
            <a:prstDash val="solid"/>
          </a:ln>
        </p:spPr>
      </p:sp>
      <p:sp>
        <p:nvSpPr>
          <p:cNvPr id="17" name="Shape 13"/>
          <p:cNvSpPr/>
          <p:nvPr/>
        </p:nvSpPr>
        <p:spPr>
          <a:xfrm>
            <a:off x="9363456" y="3611880"/>
            <a:ext cx="658368" cy="658368"/>
          </a:xfrm>
          <a:prstGeom prst="ellipse">
            <a:avLst/>
          </a:prstGeom>
          <a:solidFill>
            <a:srgbClr val="E6F3EC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34632" y="3783056"/>
            <a:ext cx="316017" cy="316017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8229600" y="4389120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50" b="1" dirty="0">
                <a:solidFill>
                  <a:srgbClr val="065A6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새로운 생각이 있어요</a:t>
            </a:r>
            <a:endParaRPr lang="en-US" sz="1650" dirty="0"/>
          </a:p>
        </p:txBody>
      </p:sp>
      <p:sp>
        <p:nvSpPr>
          <p:cNvPr id="20" name="Text 15"/>
          <p:cNvSpPr/>
          <p:nvPr/>
        </p:nvSpPr>
        <p:spPr>
          <a:xfrm>
            <a:off x="8302752" y="4828032"/>
            <a:ext cx="277977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E70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“이런 방법은 어때요?”</a:t>
            </a:r>
            <a:endParaRPr lang="en-US" sz="125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E70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질문이나 다른 해결책을 떠올려요.</a:t>
            </a:r>
            <a:endParaRPr lang="en-US" sz="1250" dirty="0"/>
          </a:p>
        </p:txBody>
      </p:sp>
      <p:sp>
        <p:nvSpPr>
          <p:cNvPr id="21" name="Text 16"/>
          <p:cNvSpPr/>
          <p:nvPr/>
        </p:nvSpPr>
        <p:spPr>
          <a:xfrm>
            <a:off x="822960" y="5989320"/>
            <a:ext cx="10515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C8A5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어느 쪽이든 괜찮아요. 중요한 것은 ‘왜 그렇게 생각하는가’예요.</a:t>
            </a:r>
            <a:endParaRPr lang="en-US" sz="15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02920"/>
            <a:ext cx="10515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65A6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3단계 · 까닭까지 써야 진짜 의견!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822960" y="1417320"/>
            <a:ext cx="10515600" cy="1371600"/>
          </a:xfrm>
          <a:prstGeom prst="roundRect">
            <a:avLst>
              <a:gd name="adj" fmla="val 9333"/>
            </a:avLst>
          </a:prstGeom>
          <a:solidFill>
            <a:srgbClr val="065A6E"/>
          </a:solidFill>
          <a:ln/>
        </p:spPr>
      </p:sp>
      <p:sp>
        <p:nvSpPr>
          <p:cNvPr id="4" name="Text 2"/>
          <p:cNvSpPr/>
          <p:nvPr/>
        </p:nvSpPr>
        <p:spPr>
          <a:xfrm>
            <a:off x="1188720" y="1828800"/>
            <a:ext cx="9784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나는 </a:t>
            </a:r>
            <a:pPr algn="ctr" indent="0" marL="0">
              <a:buNone/>
            </a:pPr>
            <a:r>
              <a:rPr lang="en-US" sz="1900" b="1" dirty="0">
                <a:solidFill>
                  <a:srgbClr val="F9C84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____________</a:t>
            </a:r>
            <a:pPr algn="ctr" indent="0" marL="0">
              <a:buNone/>
            </a:pPr>
            <a:r>
              <a:rPr lang="en-US" sz="19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라고 생각합니다.  왜냐하면 </a:t>
            </a:r>
            <a:pPr algn="ctr" indent="0" marL="0">
              <a:buNone/>
            </a:pPr>
            <a:r>
              <a:rPr lang="en-US" sz="1900" b="1" dirty="0">
                <a:solidFill>
                  <a:srgbClr val="F9C84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____________</a:t>
            </a:r>
            <a:pPr algn="ctr" indent="0" marL="0">
              <a:buNone/>
            </a:pPr>
            <a:r>
              <a:rPr lang="en-US" sz="19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이기 때문입니다.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822960" y="320040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65A6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까닭은 어디에서 찾을까요?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822960" y="3794760"/>
            <a:ext cx="3291840" cy="2468880"/>
          </a:xfrm>
          <a:prstGeom prst="roundRect">
            <a:avLst>
              <a:gd name="adj" fmla="val 5185"/>
            </a:avLst>
          </a:prstGeom>
          <a:solidFill>
            <a:srgbClr val="E6F3EC"/>
          </a:solidFill>
          <a:ln/>
        </p:spPr>
      </p:sp>
      <p:sp>
        <p:nvSpPr>
          <p:cNvPr id="7" name="Shape 5"/>
          <p:cNvSpPr/>
          <p:nvPr/>
        </p:nvSpPr>
        <p:spPr>
          <a:xfrm>
            <a:off x="1097280" y="4041648"/>
            <a:ext cx="548640" cy="54864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39926" y="4184294"/>
            <a:ext cx="263347" cy="263347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783080" y="4114800"/>
            <a:ext cx="2240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65A6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기사 속 사실</a:t>
            </a:r>
            <a:endParaRPr lang="en-US" sz="1550" dirty="0"/>
          </a:p>
        </p:txBody>
      </p:sp>
      <p:sp>
        <p:nvSpPr>
          <p:cNvPr id="10" name="Text 7"/>
          <p:cNvSpPr/>
          <p:nvPr/>
        </p:nvSpPr>
        <p:spPr>
          <a:xfrm>
            <a:off x="1115568" y="4754880"/>
            <a:ext cx="270662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2634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기사에 나온 숫자, 사례, 전문가의 말을 까닭으로 써요.</a:t>
            </a:r>
            <a:endParaRPr lang="en-US" sz="1250" dirty="0"/>
          </a:p>
        </p:txBody>
      </p:sp>
      <p:sp>
        <p:nvSpPr>
          <p:cNvPr id="11" name="Text 8"/>
          <p:cNvSpPr/>
          <p:nvPr/>
        </p:nvSpPr>
        <p:spPr>
          <a:xfrm>
            <a:off x="1115568" y="5577840"/>
            <a:ext cx="270662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2C8A5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“기사에서 사고가 30% 늘었다고 했기 때문에”</a:t>
            </a:r>
            <a:endParaRPr lang="en-US" sz="1150" dirty="0"/>
          </a:p>
        </p:txBody>
      </p:sp>
      <p:sp>
        <p:nvSpPr>
          <p:cNvPr id="12" name="Shape 9"/>
          <p:cNvSpPr/>
          <p:nvPr/>
        </p:nvSpPr>
        <p:spPr>
          <a:xfrm>
            <a:off x="4434840" y="3794760"/>
            <a:ext cx="3291840" cy="2468880"/>
          </a:xfrm>
          <a:prstGeom prst="roundRect">
            <a:avLst>
              <a:gd name="adj" fmla="val 5185"/>
            </a:avLst>
          </a:prstGeom>
          <a:solidFill>
            <a:srgbClr val="E6F3EC"/>
          </a:solidFill>
          <a:ln/>
        </p:spPr>
      </p:sp>
      <p:sp>
        <p:nvSpPr>
          <p:cNvPr id="13" name="Shape 10"/>
          <p:cNvSpPr/>
          <p:nvPr/>
        </p:nvSpPr>
        <p:spPr>
          <a:xfrm>
            <a:off x="4709160" y="4041648"/>
            <a:ext cx="548640" cy="54864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51806" y="4184294"/>
            <a:ext cx="263347" cy="263347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5394960" y="4114800"/>
            <a:ext cx="2240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65A6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나의 경험</a:t>
            </a:r>
            <a:endParaRPr lang="en-US" sz="1550" dirty="0"/>
          </a:p>
        </p:txBody>
      </p:sp>
      <p:sp>
        <p:nvSpPr>
          <p:cNvPr id="16" name="Text 12"/>
          <p:cNvSpPr/>
          <p:nvPr/>
        </p:nvSpPr>
        <p:spPr>
          <a:xfrm>
            <a:off x="4727448" y="4754880"/>
            <a:ext cx="270662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2634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내가 직접 보고 겪은 일을 까닭으로 써요.</a:t>
            </a:r>
            <a:endParaRPr lang="en-US" sz="1250" dirty="0"/>
          </a:p>
        </p:txBody>
      </p:sp>
      <p:sp>
        <p:nvSpPr>
          <p:cNvPr id="17" name="Text 13"/>
          <p:cNvSpPr/>
          <p:nvPr/>
        </p:nvSpPr>
        <p:spPr>
          <a:xfrm>
            <a:off x="4727448" y="5577840"/>
            <a:ext cx="270662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2C8A5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“나도 등굣길에 위험했던 적이 있기 때문에”</a:t>
            </a:r>
            <a:endParaRPr lang="en-US" sz="1150" dirty="0"/>
          </a:p>
        </p:txBody>
      </p:sp>
      <p:sp>
        <p:nvSpPr>
          <p:cNvPr id="18" name="Shape 14"/>
          <p:cNvSpPr/>
          <p:nvPr/>
        </p:nvSpPr>
        <p:spPr>
          <a:xfrm>
            <a:off x="8046720" y="3794760"/>
            <a:ext cx="3291840" cy="2468880"/>
          </a:xfrm>
          <a:prstGeom prst="roundRect">
            <a:avLst>
              <a:gd name="adj" fmla="val 5185"/>
            </a:avLst>
          </a:prstGeom>
          <a:solidFill>
            <a:srgbClr val="E6F3EC"/>
          </a:solidFill>
          <a:ln/>
        </p:spPr>
      </p:sp>
      <p:sp>
        <p:nvSpPr>
          <p:cNvPr id="19" name="Shape 15"/>
          <p:cNvSpPr/>
          <p:nvPr/>
        </p:nvSpPr>
        <p:spPr>
          <a:xfrm>
            <a:off x="8321040" y="4041648"/>
            <a:ext cx="548640" cy="54864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63686" y="4184294"/>
            <a:ext cx="263347" cy="263347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9006840" y="4114800"/>
            <a:ext cx="2240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65A6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배운 내용·다른 자료</a:t>
            </a:r>
            <a:endParaRPr lang="en-US" sz="1550" dirty="0"/>
          </a:p>
        </p:txBody>
      </p:sp>
      <p:sp>
        <p:nvSpPr>
          <p:cNvPr id="22" name="Text 17"/>
          <p:cNvSpPr/>
          <p:nvPr/>
        </p:nvSpPr>
        <p:spPr>
          <a:xfrm>
            <a:off x="8339328" y="4754880"/>
            <a:ext cx="270662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2634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수업 시간에 배운 것, 책에서 읽은 것을 까닭으로 써요.</a:t>
            </a:r>
            <a:endParaRPr lang="en-US" sz="1250" dirty="0"/>
          </a:p>
        </p:txBody>
      </p:sp>
      <p:sp>
        <p:nvSpPr>
          <p:cNvPr id="23" name="Text 18"/>
          <p:cNvSpPr/>
          <p:nvPr/>
        </p:nvSpPr>
        <p:spPr>
          <a:xfrm>
            <a:off x="8339328" y="5577840"/>
            <a:ext cx="270662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2C8A5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“사회 시간에 안전 규칙을 배웠는데…”</a:t>
            </a:r>
            <a:endParaRPr lang="en-US" sz="11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02920"/>
            <a:ext cx="10515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65A6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내 의견 글, 이렇게 완성해요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868680" y="1508760"/>
            <a:ext cx="603504" cy="603504"/>
          </a:xfrm>
          <a:prstGeom prst="ellipse">
            <a:avLst/>
          </a:prstGeom>
          <a:solidFill>
            <a:srgbClr val="2C8A5B"/>
          </a:solidFill>
          <a:ln/>
        </p:spPr>
      </p:sp>
      <p:sp>
        <p:nvSpPr>
          <p:cNvPr id="4" name="Text 2"/>
          <p:cNvSpPr/>
          <p:nvPr/>
        </p:nvSpPr>
        <p:spPr>
          <a:xfrm>
            <a:off x="868680" y="1508760"/>
            <a:ext cx="6035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691640" y="1463040"/>
            <a:ext cx="4206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2634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기사 내용 한 줄</a:t>
            </a:r>
            <a:endParaRPr lang="en-US" sz="1650" dirty="0"/>
          </a:p>
        </p:txBody>
      </p:sp>
      <p:sp>
        <p:nvSpPr>
          <p:cNvPr id="6" name="Text 4"/>
          <p:cNvSpPr/>
          <p:nvPr/>
        </p:nvSpPr>
        <p:spPr>
          <a:xfrm>
            <a:off x="1691640" y="1874520"/>
            <a:ext cx="4206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E70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무엇에 대한 기사인지 짧게 써요.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1161288" y="2148840"/>
            <a:ext cx="0" cy="502920"/>
          </a:xfrm>
          <a:prstGeom prst="line">
            <a:avLst/>
          </a:prstGeom>
          <a:noFill/>
          <a:ln w="25400">
            <a:solidFill>
              <a:srgbClr val="BFD8D0"/>
            </a:solidFill>
            <a:prstDash val="dash"/>
          </a:ln>
        </p:spPr>
      </p:sp>
      <p:sp>
        <p:nvSpPr>
          <p:cNvPr id="8" name="Shape 6"/>
          <p:cNvSpPr/>
          <p:nvPr/>
        </p:nvSpPr>
        <p:spPr>
          <a:xfrm>
            <a:off x="868680" y="2697480"/>
            <a:ext cx="603504" cy="603504"/>
          </a:xfrm>
          <a:prstGeom prst="ellipse">
            <a:avLst/>
          </a:prstGeom>
          <a:solidFill>
            <a:srgbClr val="2C8A5B"/>
          </a:solidFill>
          <a:ln/>
        </p:spPr>
      </p:sp>
      <p:sp>
        <p:nvSpPr>
          <p:cNvPr id="9" name="Text 7"/>
          <p:cNvSpPr/>
          <p:nvPr/>
        </p:nvSpPr>
        <p:spPr>
          <a:xfrm>
            <a:off x="868680" y="2697480"/>
            <a:ext cx="6035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1691640" y="2651760"/>
            <a:ext cx="4206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2634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나의 의견</a:t>
            </a:r>
            <a:endParaRPr lang="en-US" sz="1650" dirty="0"/>
          </a:p>
        </p:txBody>
      </p:sp>
      <p:sp>
        <p:nvSpPr>
          <p:cNvPr id="11" name="Text 9"/>
          <p:cNvSpPr/>
          <p:nvPr/>
        </p:nvSpPr>
        <p:spPr>
          <a:xfrm>
            <a:off x="1691640" y="3063240"/>
            <a:ext cx="4206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E70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“나는 …라고 생각합니다.”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1161288" y="3337560"/>
            <a:ext cx="0" cy="502920"/>
          </a:xfrm>
          <a:prstGeom prst="line">
            <a:avLst/>
          </a:prstGeom>
          <a:noFill/>
          <a:ln w="25400">
            <a:solidFill>
              <a:srgbClr val="BFD8D0"/>
            </a:solidFill>
            <a:prstDash val="dash"/>
          </a:ln>
        </p:spPr>
      </p:sp>
      <p:sp>
        <p:nvSpPr>
          <p:cNvPr id="13" name="Shape 11"/>
          <p:cNvSpPr/>
          <p:nvPr/>
        </p:nvSpPr>
        <p:spPr>
          <a:xfrm>
            <a:off x="868680" y="3886200"/>
            <a:ext cx="603504" cy="603504"/>
          </a:xfrm>
          <a:prstGeom prst="ellipse">
            <a:avLst/>
          </a:prstGeom>
          <a:solidFill>
            <a:srgbClr val="2C8A5B"/>
          </a:solidFill>
          <a:ln/>
        </p:spPr>
      </p:sp>
      <p:sp>
        <p:nvSpPr>
          <p:cNvPr id="14" name="Text 12"/>
          <p:cNvSpPr/>
          <p:nvPr/>
        </p:nvSpPr>
        <p:spPr>
          <a:xfrm>
            <a:off x="868680" y="3886200"/>
            <a:ext cx="6035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1691640" y="3840480"/>
            <a:ext cx="4206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2634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까닭</a:t>
            </a:r>
            <a:endParaRPr lang="en-US" sz="1650" dirty="0"/>
          </a:p>
        </p:txBody>
      </p:sp>
      <p:sp>
        <p:nvSpPr>
          <p:cNvPr id="16" name="Text 14"/>
          <p:cNvSpPr/>
          <p:nvPr/>
        </p:nvSpPr>
        <p:spPr>
          <a:xfrm>
            <a:off x="1691640" y="4251960"/>
            <a:ext cx="4206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E70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“왜냐하면 …이기 때문입니다.”</a:t>
            </a:r>
            <a:endParaRPr lang="en-US" sz="1350" dirty="0"/>
          </a:p>
        </p:txBody>
      </p:sp>
      <p:sp>
        <p:nvSpPr>
          <p:cNvPr id="17" name="Shape 15"/>
          <p:cNvSpPr/>
          <p:nvPr/>
        </p:nvSpPr>
        <p:spPr>
          <a:xfrm>
            <a:off x="1161288" y="4526280"/>
            <a:ext cx="0" cy="502920"/>
          </a:xfrm>
          <a:prstGeom prst="line">
            <a:avLst/>
          </a:prstGeom>
          <a:noFill/>
          <a:ln w="25400">
            <a:solidFill>
              <a:srgbClr val="BFD8D0"/>
            </a:solidFill>
            <a:prstDash val="dash"/>
          </a:ln>
        </p:spPr>
      </p:sp>
      <p:sp>
        <p:nvSpPr>
          <p:cNvPr id="18" name="Shape 16"/>
          <p:cNvSpPr/>
          <p:nvPr/>
        </p:nvSpPr>
        <p:spPr>
          <a:xfrm>
            <a:off x="868680" y="5074920"/>
            <a:ext cx="603504" cy="603504"/>
          </a:xfrm>
          <a:prstGeom prst="ellipse">
            <a:avLst/>
          </a:prstGeom>
          <a:solidFill>
            <a:srgbClr val="2C8A5B"/>
          </a:solidFill>
          <a:ln/>
        </p:spPr>
      </p:sp>
      <p:sp>
        <p:nvSpPr>
          <p:cNvPr id="19" name="Text 17"/>
          <p:cNvSpPr/>
          <p:nvPr/>
        </p:nvSpPr>
        <p:spPr>
          <a:xfrm>
            <a:off x="868680" y="5074920"/>
            <a:ext cx="6035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1691640" y="5029200"/>
            <a:ext cx="4206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2634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제안이나 질문</a:t>
            </a:r>
            <a:endParaRPr lang="en-US" sz="1650" dirty="0"/>
          </a:p>
        </p:txBody>
      </p:sp>
      <p:sp>
        <p:nvSpPr>
          <p:cNvPr id="21" name="Text 19"/>
          <p:cNvSpPr/>
          <p:nvPr/>
        </p:nvSpPr>
        <p:spPr>
          <a:xfrm>
            <a:off x="1691640" y="5440680"/>
            <a:ext cx="4206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E70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“…하면 어떨까요?” 로 마무리해요.</a:t>
            </a:r>
            <a:endParaRPr lang="en-US" sz="1350" dirty="0"/>
          </a:p>
        </p:txBody>
      </p:sp>
      <p:sp>
        <p:nvSpPr>
          <p:cNvPr id="22" name="Shape 20"/>
          <p:cNvSpPr/>
          <p:nvPr/>
        </p:nvSpPr>
        <p:spPr>
          <a:xfrm>
            <a:off x="6309360" y="1463040"/>
            <a:ext cx="5029200" cy="4754880"/>
          </a:xfrm>
          <a:prstGeom prst="roundRect">
            <a:avLst>
              <a:gd name="adj" fmla="val 2692"/>
            </a:avLst>
          </a:prstGeom>
          <a:solidFill>
            <a:srgbClr val="F6FAF9"/>
          </a:solidFill>
          <a:ln w="12700">
            <a:solidFill>
              <a:srgbClr val="D5E6E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629400" y="1783080"/>
            <a:ext cx="4389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C8A5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예시 글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6629400" y="2286000"/>
            <a:ext cx="4389120" cy="3749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50" b="1" dirty="0">
                <a:solidFill>
                  <a:srgbClr val="2C8A5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① </a:t>
            </a:r>
            <a:pPr indent="0" marL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2634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학교 앞 어린이 교통사고가 늘었다는 기사를 읽었습니다.
</a:t>
            </a:r>
            <a:pPr indent="0" marL="0">
              <a:lnSpc>
                <a:spcPct val="130000"/>
              </a:lnSpc>
              <a:buNone/>
            </a:pPr>
            <a:r>
              <a:rPr lang="en-US" sz="1350" b="1" dirty="0">
                <a:solidFill>
                  <a:srgbClr val="2C8A5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② </a:t>
            </a:r>
            <a:pPr indent="0" marL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2634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나는 학교 앞에 신호등과 안전 표지판이 더 필요하다고 생각합니다.
</a:t>
            </a:r>
            <a:pPr indent="0" marL="0">
              <a:lnSpc>
                <a:spcPct val="130000"/>
              </a:lnSpc>
              <a:buNone/>
            </a:pPr>
            <a:r>
              <a:rPr lang="en-US" sz="1350" b="1" dirty="0">
                <a:solidFill>
                  <a:srgbClr val="2C8A5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③ </a:t>
            </a:r>
            <a:pPr indent="0" marL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2634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왜냐하면 기사에서 사고가 작년보다 늘었다고 했고, 나도 등굣길에 차가 빨리 달려서 놀란 적이 있기 때문입니다.
</a:t>
            </a:r>
            <a:pPr indent="0" marL="0">
              <a:lnSpc>
                <a:spcPct val="130000"/>
              </a:lnSpc>
              <a:buNone/>
            </a:pPr>
            <a:r>
              <a:rPr lang="en-US" sz="1350" b="1" dirty="0">
                <a:solidFill>
                  <a:srgbClr val="2C8A5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④ </a:t>
            </a:r>
            <a:pPr indent="0" marL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2634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우리 반부터 등굣길 안전 지도를 만들어 보면 어떨까요?</a:t>
            </a:r>
            <a:endParaRPr lang="en-US" sz="13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02920"/>
            <a:ext cx="10515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65A6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우리 글은 이렇게 평가해요 — 수행평가 기준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822960" y="1143000"/>
            <a:ext cx="10515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E70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세 영역을 각각 0~5점으로 봐요. 모두 더하면 15점!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822960" y="1783080"/>
            <a:ext cx="3291840" cy="3291840"/>
          </a:xfrm>
          <a:prstGeom prst="roundRect">
            <a:avLst>
              <a:gd name="adj" fmla="val 3889"/>
            </a:avLst>
          </a:prstGeom>
          <a:solidFill>
            <a:srgbClr val="E6F3EC"/>
          </a:solidFill>
          <a:ln/>
        </p:spPr>
      </p:sp>
      <p:sp>
        <p:nvSpPr>
          <p:cNvPr id="5" name="Shape 3"/>
          <p:cNvSpPr/>
          <p:nvPr/>
        </p:nvSpPr>
        <p:spPr>
          <a:xfrm>
            <a:off x="1097280" y="2029968"/>
            <a:ext cx="566928" cy="566928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44681" y="2177369"/>
            <a:ext cx="272125" cy="272125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783080" y="210312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65A6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기사 이해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3154680" y="2139696"/>
            <a:ext cx="777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2C8A5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0~5점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1115568" y="2788920"/>
            <a:ext cx="270662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2634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기사의 핵심 내용을 바르게 이해하고 내 말로 썼나요?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1078992" y="3703320"/>
            <a:ext cx="2779776" cy="1170432"/>
          </a:xfrm>
          <a:prstGeom prst="roundRect">
            <a:avLst>
              <a:gd name="adj" fmla="val 7813"/>
            </a:avLst>
          </a:prstGeom>
          <a:solidFill>
            <a:srgbClr val="FFFFFF"/>
          </a:solidFill>
          <a:ln/>
        </p:spPr>
      </p:sp>
      <p:sp>
        <p:nvSpPr>
          <p:cNvPr id="11" name="Text 8"/>
          <p:cNvSpPr/>
          <p:nvPr/>
        </p:nvSpPr>
        <p:spPr>
          <a:xfrm>
            <a:off x="1225296" y="3803904"/>
            <a:ext cx="248716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B8860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⭐ 5점의 모습  </a:t>
            </a:r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2634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기사 속 중요한 사실을 내 말로 설명하고, 서로 다른 입장까지 짚으면 최고!</a:t>
            </a:r>
            <a:endParaRPr lang="en-US" sz="1150" dirty="0"/>
          </a:p>
        </p:txBody>
      </p:sp>
      <p:sp>
        <p:nvSpPr>
          <p:cNvPr id="12" name="Shape 9"/>
          <p:cNvSpPr/>
          <p:nvPr/>
        </p:nvSpPr>
        <p:spPr>
          <a:xfrm>
            <a:off x="4434840" y="1783080"/>
            <a:ext cx="3291840" cy="3291840"/>
          </a:xfrm>
          <a:prstGeom prst="roundRect">
            <a:avLst>
              <a:gd name="adj" fmla="val 3889"/>
            </a:avLst>
          </a:prstGeom>
          <a:solidFill>
            <a:srgbClr val="E6F3EC"/>
          </a:solidFill>
          <a:ln/>
        </p:spPr>
      </p:sp>
      <p:sp>
        <p:nvSpPr>
          <p:cNvPr id="13" name="Shape 10"/>
          <p:cNvSpPr/>
          <p:nvPr/>
        </p:nvSpPr>
        <p:spPr>
          <a:xfrm>
            <a:off x="4709160" y="2029968"/>
            <a:ext cx="566928" cy="566928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56561" y="2177369"/>
            <a:ext cx="272125" cy="272125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5394960" y="210312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65A6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생각 연결</a:t>
            </a:r>
            <a:endParaRPr lang="en-US" sz="1700" dirty="0"/>
          </a:p>
        </p:txBody>
      </p:sp>
      <p:sp>
        <p:nvSpPr>
          <p:cNvPr id="16" name="Text 12"/>
          <p:cNvSpPr/>
          <p:nvPr/>
        </p:nvSpPr>
        <p:spPr>
          <a:xfrm>
            <a:off x="6766560" y="2139696"/>
            <a:ext cx="777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2C8A5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0~5점</a:t>
            </a:r>
            <a:endParaRPr lang="en-US" sz="1200" dirty="0"/>
          </a:p>
        </p:txBody>
      </p:sp>
      <p:sp>
        <p:nvSpPr>
          <p:cNvPr id="17" name="Text 13"/>
          <p:cNvSpPr/>
          <p:nvPr/>
        </p:nvSpPr>
        <p:spPr>
          <a:xfrm>
            <a:off x="4727448" y="2788920"/>
            <a:ext cx="270662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2634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의견과 까닭을 기사 내용과 연결했나요?</a:t>
            </a:r>
            <a:endParaRPr lang="en-US" sz="1300" dirty="0"/>
          </a:p>
        </p:txBody>
      </p:sp>
      <p:sp>
        <p:nvSpPr>
          <p:cNvPr id="18" name="Shape 14"/>
          <p:cNvSpPr/>
          <p:nvPr/>
        </p:nvSpPr>
        <p:spPr>
          <a:xfrm>
            <a:off x="4690872" y="3703320"/>
            <a:ext cx="2779776" cy="1170432"/>
          </a:xfrm>
          <a:prstGeom prst="roundRect">
            <a:avLst>
              <a:gd name="adj" fmla="val 7813"/>
            </a:avLst>
          </a:prstGeom>
          <a:solidFill>
            <a:srgbClr val="FFFFFF"/>
          </a:solidFill>
          <a:ln/>
        </p:spPr>
      </p:sp>
      <p:sp>
        <p:nvSpPr>
          <p:cNvPr id="19" name="Text 15"/>
          <p:cNvSpPr/>
          <p:nvPr/>
        </p:nvSpPr>
        <p:spPr>
          <a:xfrm>
            <a:off x="4837176" y="3803904"/>
            <a:ext cx="248716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B8860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⭐ 5점의 모습  </a:t>
            </a:r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2634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내 경험·근거·예시로 까닭을 뒷받침하고, 다른 가능성까지 생각하면 최고!</a:t>
            </a:r>
            <a:endParaRPr lang="en-US" sz="1150" dirty="0"/>
          </a:p>
        </p:txBody>
      </p:sp>
      <p:sp>
        <p:nvSpPr>
          <p:cNvPr id="20" name="Shape 16"/>
          <p:cNvSpPr/>
          <p:nvPr/>
        </p:nvSpPr>
        <p:spPr>
          <a:xfrm>
            <a:off x="8046720" y="1783080"/>
            <a:ext cx="3291840" cy="3291840"/>
          </a:xfrm>
          <a:prstGeom prst="roundRect">
            <a:avLst>
              <a:gd name="adj" fmla="val 3889"/>
            </a:avLst>
          </a:prstGeom>
          <a:solidFill>
            <a:srgbClr val="E6F3EC"/>
          </a:solidFill>
          <a:ln/>
        </p:spPr>
      </p:sp>
      <p:sp>
        <p:nvSpPr>
          <p:cNvPr id="21" name="Shape 17"/>
          <p:cNvSpPr/>
          <p:nvPr/>
        </p:nvSpPr>
        <p:spPr>
          <a:xfrm>
            <a:off x="8321040" y="2029968"/>
            <a:ext cx="566928" cy="566928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2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68441" y="2177369"/>
            <a:ext cx="272125" cy="272125"/>
          </a:xfrm>
          <a:prstGeom prst="rect">
            <a:avLst/>
          </a:prstGeom>
        </p:spPr>
      </p:pic>
      <p:sp>
        <p:nvSpPr>
          <p:cNvPr id="23" name="Text 18"/>
          <p:cNvSpPr/>
          <p:nvPr/>
        </p:nvSpPr>
        <p:spPr>
          <a:xfrm>
            <a:off x="9006840" y="210312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65A6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생각 표현</a:t>
            </a:r>
            <a:endParaRPr lang="en-US" sz="1700" dirty="0"/>
          </a:p>
        </p:txBody>
      </p:sp>
      <p:sp>
        <p:nvSpPr>
          <p:cNvPr id="24" name="Text 19"/>
          <p:cNvSpPr/>
          <p:nvPr/>
        </p:nvSpPr>
        <p:spPr>
          <a:xfrm>
            <a:off x="10378440" y="2139696"/>
            <a:ext cx="777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2C8A5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0~5점</a:t>
            </a:r>
            <a:endParaRPr lang="en-US" sz="1200" dirty="0"/>
          </a:p>
        </p:txBody>
      </p:sp>
      <p:sp>
        <p:nvSpPr>
          <p:cNvPr id="25" name="Text 20"/>
          <p:cNvSpPr/>
          <p:nvPr/>
        </p:nvSpPr>
        <p:spPr>
          <a:xfrm>
            <a:off x="8339328" y="2788920"/>
            <a:ext cx="270662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2634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이해하기 쉽고 존중하는 말로 표현했나요?</a:t>
            </a:r>
            <a:endParaRPr lang="en-US" sz="1300" dirty="0"/>
          </a:p>
        </p:txBody>
      </p:sp>
      <p:sp>
        <p:nvSpPr>
          <p:cNvPr id="26" name="Shape 21"/>
          <p:cNvSpPr/>
          <p:nvPr/>
        </p:nvSpPr>
        <p:spPr>
          <a:xfrm>
            <a:off x="8302752" y="3703320"/>
            <a:ext cx="2779776" cy="1170432"/>
          </a:xfrm>
          <a:prstGeom prst="roundRect">
            <a:avLst>
              <a:gd name="adj" fmla="val 7813"/>
            </a:avLst>
          </a:prstGeom>
          <a:solidFill>
            <a:srgbClr val="FFFFFF"/>
          </a:solidFill>
          <a:ln/>
        </p:spPr>
      </p:sp>
      <p:sp>
        <p:nvSpPr>
          <p:cNvPr id="27" name="Text 22"/>
          <p:cNvSpPr/>
          <p:nvPr/>
        </p:nvSpPr>
        <p:spPr>
          <a:xfrm>
            <a:off x="8449056" y="3803904"/>
            <a:ext cx="248716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B8860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⭐ 5점의 모습  </a:t>
            </a:r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2634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주장이 분명하고, 질문이나 대안으로 읽는 사람의 생각을 넓히면 최고!</a:t>
            </a:r>
            <a:endParaRPr lang="en-US" sz="1150" dirty="0"/>
          </a:p>
        </p:txBody>
      </p:sp>
      <p:sp>
        <p:nvSpPr>
          <p:cNvPr id="28" name="Shape 23"/>
          <p:cNvSpPr/>
          <p:nvPr/>
        </p:nvSpPr>
        <p:spPr>
          <a:xfrm>
            <a:off x="822960" y="5349240"/>
            <a:ext cx="10515600" cy="1051560"/>
          </a:xfrm>
          <a:prstGeom prst="roundRect">
            <a:avLst>
              <a:gd name="adj" fmla="val 10435"/>
            </a:avLst>
          </a:prstGeom>
          <a:solidFill>
            <a:srgbClr val="E3F4F2"/>
          </a:solidFill>
          <a:ln/>
        </p:spPr>
      </p:sp>
      <p:sp>
        <p:nvSpPr>
          <p:cNvPr id="29" name="Text 24"/>
          <p:cNvSpPr/>
          <p:nvPr/>
        </p:nvSpPr>
        <p:spPr>
          <a:xfrm>
            <a:off x="1143000" y="5669280"/>
            <a:ext cx="9875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2809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점수가 끝이 아니에요.  </a:t>
            </a:r>
            <a:pPr indent="0" marL="0">
              <a:buNone/>
            </a:pPr>
            <a:r>
              <a:rPr lang="en-US" sz="1450" dirty="0">
                <a:solidFill>
                  <a:srgbClr val="2634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선생님이 강점과 피드백, 그리고 다음 글에서 도전할 한 가지(평가 포워드)를 알려 줘요. 다음 글에서 꼭 시도해 봐요!</a:t>
            </a:r>
            <a:endParaRPr lang="en-US" sz="14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02920"/>
            <a:ext cx="10515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65A6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4단계 · 노션 폼으로 제출해요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822960" y="1554480"/>
            <a:ext cx="2468880" cy="2834640"/>
          </a:xfrm>
          <a:prstGeom prst="roundRect">
            <a:avLst>
              <a:gd name="adj" fmla="val 5185"/>
            </a:avLst>
          </a:prstGeom>
          <a:solidFill>
            <a:srgbClr val="E3F4F2"/>
          </a:solidFill>
          <a:ln/>
        </p:spPr>
      </p:sp>
      <p:sp>
        <p:nvSpPr>
          <p:cNvPr id="4" name="Shape 2"/>
          <p:cNvSpPr/>
          <p:nvPr/>
        </p:nvSpPr>
        <p:spPr>
          <a:xfrm>
            <a:off x="1691640" y="1783080"/>
            <a:ext cx="731520" cy="73152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67205" y="1958645"/>
            <a:ext cx="380390" cy="38039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005840" y="2697480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065A6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1. 폼 열기</a:t>
            </a:r>
            <a:endParaRPr lang="en-US" sz="1550" dirty="0"/>
          </a:p>
        </p:txBody>
      </p:sp>
      <p:sp>
        <p:nvSpPr>
          <p:cNvPr id="7" name="Text 4"/>
          <p:cNvSpPr/>
          <p:nvPr/>
        </p:nvSpPr>
        <p:spPr>
          <a:xfrm>
            <a:off x="1042416" y="3154680"/>
            <a:ext cx="202996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634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기사 페이지에 있는 ‘의견쓰기’ 폼을 열어요.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3218688" y="2743200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5E70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2000" dirty="0"/>
          </a:p>
        </p:txBody>
      </p:sp>
      <p:sp>
        <p:nvSpPr>
          <p:cNvPr id="9" name="Shape 6"/>
          <p:cNvSpPr/>
          <p:nvPr/>
        </p:nvSpPr>
        <p:spPr>
          <a:xfrm>
            <a:off x="3520440" y="1554480"/>
            <a:ext cx="2468880" cy="2834640"/>
          </a:xfrm>
          <a:prstGeom prst="roundRect">
            <a:avLst>
              <a:gd name="adj" fmla="val 5185"/>
            </a:avLst>
          </a:prstGeom>
          <a:solidFill>
            <a:srgbClr val="E3F4F2"/>
          </a:solidFill>
          <a:ln/>
        </p:spPr>
      </p:sp>
      <p:sp>
        <p:nvSpPr>
          <p:cNvPr id="10" name="Shape 7"/>
          <p:cNvSpPr/>
          <p:nvPr/>
        </p:nvSpPr>
        <p:spPr>
          <a:xfrm>
            <a:off x="4389120" y="1783080"/>
            <a:ext cx="731520" cy="73152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64685" y="1958645"/>
            <a:ext cx="380390" cy="38039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703320" y="2697480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065A6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2. 내 번호 선택</a:t>
            </a:r>
            <a:endParaRPr lang="en-US" sz="1550" dirty="0"/>
          </a:p>
        </p:txBody>
      </p:sp>
      <p:sp>
        <p:nvSpPr>
          <p:cNvPr id="13" name="Text 9"/>
          <p:cNvSpPr/>
          <p:nvPr/>
        </p:nvSpPr>
        <p:spPr>
          <a:xfrm>
            <a:off x="3739896" y="3154680"/>
            <a:ext cx="202996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634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목록에서 내 학생 번호를 ‘선택’해요. 직접 쓰지 않아요!</a:t>
            </a:r>
            <a:endParaRPr lang="en-US" sz="1200" dirty="0"/>
          </a:p>
        </p:txBody>
      </p:sp>
      <p:sp>
        <p:nvSpPr>
          <p:cNvPr id="14" name="Text 10"/>
          <p:cNvSpPr/>
          <p:nvPr/>
        </p:nvSpPr>
        <p:spPr>
          <a:xfrm>
            <a:off x="5916168" y="2743200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5E70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2000" dirty="0"/>
          </a:p>
        </p:txBody>
      </p:sp>
      <p:sp>
        <p:nvSpPr>
          <p:cNvPr id="15" name="Shape 11"/>
          <p:cNvSpPr/>
          <p:nvPr/>
        </p:nvSpPr>
        <p:spPr>
          <a:xfrm>
            <a:off x="6217920" y="1554480"/>
            <a:ext cx="2468880" cy="2834640"/>
          </a:xfrm>
          <a:prstGeom prst="roundRect">
            <a:avLst>
              <a:gd name="adj" fmla="val 5185"/>
            </a:avLst>
          </a:prstGeom>
          <a:solidFill>
            <a:srgbClr val="E3F4F2"/>
          </a:solidFill>
          <a:ln/>
        </p:spPr>
      </p:sp>
      <p:sp>
        <p:nvSpPr>
          <p:cNvPr id="16" name="Shape 12"/>
          <p:cNvSpPr/>
          <p:nvPr/>
        </p:nvSpPr>
        <p:spPr>
          <a:xfrm>
            <a:off x="7086600" y="1783080"/>
            <a:ext cx="731520" cy="73152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62165" y="1958645"/>
            <a:ext cx="380390" cy="38039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6400800" y="2697480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065A6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3. 기사 선택</a:t>
            </a:r>
            <a:endParaRPr lang="en-US" sz="1550" dirty="0"/>
          </a:p>
        </p:txBody>
      </p:sp>
      <p:sp>
        <p:nvSpPr>
          <p:cNvPr id="19" name="Text 14"/>
          <p:cNvSpPr/>
          <p:nvPr/>
        </p:nvSpPr>
        <p:spPr>
          <a:xfrm>
            <a:off x="6437376" y="3154680"/>
            <a:ext cx="202996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634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내가 읽은 기사를 목록에서 골라요.</a:t>
            </a:r>
            <a:endParaRPr lang="en-US" sz="1200" dirty="0"/>
          </a:p>
        </p:txBody>
      </p:sp>
      <p:sp>
        <p:nvSpPr>
          <p:cNvPr id="20" name="Text 15"/>
          <p:cNvSpPr/>
          <p:nvPr/>
        </p:nvSpPr>
        <p:spPr>
          <a:xfrm>
            <a:off x="8613648" y="2743200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5E70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2000" dirty="0"/>
          </a:p>
        </p:txBody>
      </p:sp>
      <p:sp>
        <p:nvSpPr>
          <p:cNvPr id="21" name="Shape 16"/>
          <p:cNvSpPr/>
          <p:nvPr/>
        </p:nvSpPr>
        <p:spPr>
          <a:xfrm>
            <a:off x="8915400" y="1554480"/>
            <a:ext cx="2468880" cy="2834640"/>
          </a:xfrm>
          <a:prstGeom prst="roundRect">
            <a:avLst>
              <a:gd name="adj" fmla="val 5185"/>
            </a:avLst>
          </a:prstGeom>
          <a:solidFill>
            <a:srgbClr val="E3F4F2"/>
          </a:solidFill>
          <a:ln/>
        </p:spPr>
      </p:sp>
      <p:sp>
        <p:nvSpPr>
          <p:cNvPr id="22" name="Shape 17"/>
          <p:cNvSpPr/>
          <p:nvPr/>
        </p:nvSpPr>
        <p:spPr>
          <a:xfrm>
            <a:off x="9784080" y="1783080"/>
            <a:ext cx="731520" cy="73152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2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59645" y="1958645"/>
            <a:ext cx="380390" cy="380390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9098280" y="2697480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065A6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4. 의견 쓰고 제출</a:t>
            </a:r>
            <a:endParaRPr lang="en-US" sz="1550" dirty="0"/>
          </a:p>
        </p:txBody>
      </p:sp>
      <p:sp>
        <p:nvSpPr>
          <p:cNvPr id="25" name="Text 19"/>
          <p:cNvSpPr/>
          <p:nvPr/>
        </p:nvSpPr>
        <p:spPr>
          <a:xfrm>
            <a:off x="9134856" y="3154680"/>
            <a:ext cx="202996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634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완성한 의견 글을 붙여 넣고 제출 버튼을 눌러요.</a:t>
            </a:r>
            <a:endParaRPr lang="en-US" sz="1200" dirty="0"/>
          </a:p>
        </p:txBody>
      </p:sp>
      <p:sp>
        <p:nvSpPr>
          <p:cNvPr id="26" name="Shape 20"/>
          <p:cNvSpPr/>
          <p:nvPr/>
        </p:nvSpPr>
        <p:spPr>
          <a:xfrm>
            <a:off x="822960" y="4754880"/>
            <a:ext cx="10515600" cy="1371600"/>
          </a:xfrm>
          <a:prstGeom prst="roundRect">
            <a:avLst>
              <a:gd name="adj" fmla="val 8000"/>
            </a:avLst>
          </a:prstGeom>
          <a:solidFill>
            <a:srgbClr val="FFF6DE"/>
          </a:solidFill>
          <a:ln/>
        </p:spPr>
      </p:sp>
      <p:sp>
        <p:nvSpPr>
          <p:cNvPr id="27" name="Shape 21"/>
          <p:cNvSpPr/>
          <p:nvPr/>
        </p:nvSpPr>
        <p:spPr>
          <a:xfrm>
            <a:off x="1051560" y="5029200"/>
            <a:ext cx="566928" cy="566928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2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98961" y="5176601"/>
            <a:ext cx="272125" cy="272125"/>
          </a:xfrm>
          <a:prstGeom prst="rect">
            <a:avLst/>
          </a:prstGeom>
        </p:spPr>
      </p:pic>
      <p:sp>
        <p:nvSpPr>
          <p:cNvPr id="29" name="Text 22"/>
          <p:cNvSpPr/>
          <p:nvPr/>
        </p:nvSpPr>
        <p:spPr>
          <a:xfrm>
            <a:off x="1828800" y="4956048"/>
            <a:ext cx="9326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8A61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제출 전에 꼭 확인!</a:t>
            </a:r>
            <a:endParaRPr lang="en-US" sz="1550" dirty="0"/>
          </a:p>
        </p:txBody>
      </p:sp>
      <p:sp>
        <p:nvSpPr>
          <p:cNvPr id="30" name="Text 23"/>
          <p:cNvSpPr/>
          <p:nvPr/>
        </p:nvSpPr>
        <p:spPr>
          <a:xfrm>
            <a:off x="1828800" y="5394960"/>
            <a:ext cx="9326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634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① 자기점검 다섯 가지를 통과했나요?   ② 내 번호와 기사를 바르게 골랐나요?  (잘못 고르면 제출해도 ‘미제출’로 보여요)</a:t>
            </a:r>
            <a:endParaRPr lang="en-US" sz="13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65A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64008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선생님은 이렇게 읽어요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822960" y="1325880"/>
            <a:ext cx="10515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BD8D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점수보다 여러분의 ‘생각’을 봐요.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822960" y="2011680"/>
            <a:ext cx="3291840" cy="2377440"/>
          </a:xfrm>
          <a:prstGeom prst="roundRect">
            <a:avLst>
              <a:gd name="adj" fmla="val 5385"/>
            </a:avLst>
          </a:prstGeom>
          <a:solidFill>
            <a:srgbClr val="0E7487"/>
          </a:solidFill>
          <a:ln/>
        </p:spPr>
      </p:sp>
      <p:sp>
        <p:nvSpPr>
          <p:cNvPr id="5" name="Shape 3"/>
          <p:cNvSpPr/>
          <p:nvPr/>
        </p:nvSpPr>
        <p:spPr>
          <a:xfrm>
            <a:off x="2139696" y="2286000"/>
            <a:ext cx="658368" cy="658368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310872" y="2457176"/>
            <a:ext cx="316017" cy="316017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005840" y="3063240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기사 이해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1097280" y="3520440"/>
            <a:ext cx="2743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D7EFE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기사의 핵심 내용을 내 말로 말했나요?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4434840" y="2011680"/>
            <a:ext cx="3291840" cy="2377440"/>
          </a:xfrm>
          <a:prstGeom prst="roundRect">
            <a:avLst>
              <a:gd name="adj" fmla="val 5385"/>
            </a:avLst>
          </a:prstGeom>
          <a:solidFill>
            <a:srgbClr val="0E7487"/>
          </a:solidFill>
          <a:ln/>
        </p:spPr>
      </p:sp>
      <p:sp>
        <p:nvSpPr>
          <p:cNvPr id="10" name="Shape 7"/>
          <p:cNvSpPr/>
          <p:nvPr/>
        </p:nvSpPr>
        <p:spPr>
          <a:xfrm>
            <a:off x="5751576" y="2286000"/>
            <a:ext cx="658368" cy="658368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22752" y="2457176"/>
            <a:ext cx="316017" cy="316017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617720" y="3063240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생각 연결</a:t>
            </a:r>
            <a:endParaRPr lang="en-US" sz="1700" dirty="0"/>
          </a:p>
        </p:txBody>
      </p:sp>
      <p:sp>
        <p:nvSpPr>
          <p:cNvPr id="13" name="Text 9"/>
          <p:cNvSpPr/>
          <p:nvPr/>
        </p:nvSpPr>
        <p:spPr>
          <a:xfrm>
            <a:off x="4709160" y="3520440"/>
            <a:ext cx="2743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D7EFE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기사와 내 경험·생각을 까닭으로 연결했나요?</a:t>
            </a:r>
            <a:endParaRPr lang="en-US" sz="1250" dirty="0"/>
          </a:p>
        </p:txBody>
      </p:sp>
      <p:sp>
        <p:nvSpPr>
          <p:cNvPr id="14" name="Shape 10"/>
          <p:cNvSpPr/>
          <p:nvPr/>
        </p:nvSpPr>
        <p:spPr>
          <a:xfrm>
            <a:off x="8046720" y="2011680"/>
            <a:ext cx="3291840" cy="2377440"/>
          </a:xfrm>
          <a:prstGeom prst="roundRect">
            <a:avLst>
              <a:gd name="adj" fmla="val 5385"/>
            </a:avLst>
          </a:prstGeom>
          <a:solidFill>
            <a:srgbClr val="0E7487"/>
          </a:solidFill>
          <a:ln/>
        </p:spPr>
      </p:sp>
      <p:sp>
        <p:nvSpPr>
          <p:cNvPr id="15" name="Shape 11"/>
          <p:cNvSpPr/>
          <p:nvPr/>
        </p:nvSpPr>
        <p:spPr>
          <a:xfrm>
            <a:off x="9363456" y="2286000"/>
            <a:ext cx="658368" cy="658368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34632" y="2457176"/>
            <a:ext cx="316017" cy="316017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229600" y="3063240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생각 표현</a:t>
            </a:r>
            <a:endParaRPr lang="en-US" sz="1700" dirty="0"/>
          </a:p>
        </p:txBody>
      </p:sp>
      <p:sp>
        <p:nvSpPr>
          <p:cNvPr id="18" name="Text 13"/>
          <p:cNvSpPr/>
          <p:nvPr/>
        </p:nvSpPr>
        <p:spPr>
          <a:xfrm>
            <a:off x="8321040" y="3520440"/>
            <a:ext cx="2743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D7EFE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존중하는 말로, 알기 쉽게 표현했나요?</a:t>
            </a:r>
            <a:endParaRPr lang="en-US" sz="1250" dirty="0"/>
          </a:p>
        </p:txBody>
      </p:sp>
      <p:sp>
        <p:nvSpPr>
          <p:cNvPr id="19" name="Shape 14"/>
          <p:cNvSpPr/>
          <p:nvPr/>
        </p:nvSpPr>
        <p:spPr>
          <a:xfrm>
            <a:off x="822960" y="4846320"/>
            <a:ext cx="10515600" cy="1234440"/>
          </a:xfrm>
          <a:prstGeom prst="roundRect">
            <a:avLst>
              <a:gd name="adj" fmla="val 10370"/>
            </a:avLst>
          </a:prstGeom>
          <a:solidFill>
            <a:srgbClr val="F9C846"/>
          </a:solidFill>
          <a:ln/>
        </p:spPr>
      </p:sp>
      <p:pic>
        <p:nvPicPr>
          <p:cNvPr id="20" name="Image 3" descr="/root/.claude/skills/synced/edu-live-workshop/assets/gomgom-bear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43000" y="4983480"/>
            <a:ext cx="960120" cy="960120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2286000" y="5193792"/>
            <a:ext cx="8778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2634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오늘의 다짐:  “나는 존중하는 말로, 까닭 있는 의견을 씁니다.”</a:t>
            </a:r>
            <a:endParaRPr lang="en-US" sz="1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2026-08-22T00:59:21Z</dcterms:created>
  <dcterms:modified xsi:type="dcterms:W3CDTF">2026-08-22T00:59:21Z</dcterms:modified>
</cp:coreProperties>
</file>