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999d8b590e4ead" /><Relationship Type="http://schemas.openxmlformats.org/officeDocument/2006/relationships/extended-properties" Target="/docProps/app.xml" Id="Rf0d0f65b151f4763" /><Relationship Type="http://schemas.openxmlformats.org/officeDocument/2006/relationships/officeDocument" Target="/ppt/presentation.xml" Id="R7e1b7fb1dfad43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fee1f502ee4b77"/>
  </p:sldMasterIdLst>
  <p:notesMasterIdLst>
    <p:notesMasterId xmlns:r="http://schemas.openxmlformats.org/officeDocument/2006/relationships" r:id="Ra6ad01b7333940f4"/>
  </p:notesMasterIdLst>
  <p:sldIdLst>
    <p:sldId xmlns:r="http://schemas.openxmlformats.org/officeDocument/2006/relationships" id="256" r:id="R177404641e3f44ff"/>
    <p:sldId xmlns:r="http://schemas.openxmlformats.org/officeDocument/2006/relationships" id="257" r:id="R46a05f90587e459e"/>
    <p:sldId xmlns:r="http://schemas.openxmlformats.org/officeDocument/2006/relationships" id="258" r:id="R121927b782b646e4"/>
    <p:sldId xmlns:r="http://schemas.openxmlformats.org/officeDocument/2006/relationships" id="259" r:id="R10b2a87f48384b76"/>
    <p:sldId xmlns:r="http://schemas.openxmlformats.org/officeDocument/2006/relationships" id="260" r:id="Rfd30658455844771"/>
    <p:sldId xmlns:r="http://schemas.openxmlformats.org/officeDocument/2006/relationships" id="261" r:id="R9d5463ba7285430e"/>
    <p:sldId xmlns:r="http://schemas.openxmlformats.org/officeDocument/2006/relationships" id="262" r:id="Re32322bee73c4bd7"/>
    <p:sldId xmlns:r="http://schemas.openxmlformats.org/officeDocument/2006/relationships" id="263" r:id="R3fe32b2337f6485d"/>
    <p:sldId xmlns:r="http://schemas.openxmlformats.org/officeDocument/2006/relationships" id="264" r:id="R1ec0da0e097144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a76482f0554094" /><Relationship Type="http://schemas.openxmlformats.org/officeDocument/2006/relationships/slideMaster" Target="/ppt/slideMasters/slideMaster1.xml" Id="R30fee1f502ee4b77" /><Relationship Type="http://schemas.openxmlformats.org/officeDocument/2006/relationships/notesMaster" Target="/ppt/notesMasters/notesMaster1.xml" Id="Ra6ad01b7333940f4" /><Relationship Type="http://schemas.openxmlformats.org/officeDocument/2006/relationships/presProps" Target="/ppt/presProps.xml" Id="R7ebee9b7227141b2" /><Relationship Type="http://schemas.openxmlformats.org/officeDocument/2006/relationships/tableStyles" Target="/ppt/tableStyles.xml" Id="R0158511364de46dd" /><Relationship Type="http://schemas.openxmlformats.org/officeDocument/2006/relationships/slide" Target="/ppt/slides/slide1.xml" Id="R177404641e3f44ff" /><Relationship Type="http://schemas.openxmlformats.org/officeDocument/2006/relationships/slide" Target="/ppt/slides/slide2.xml" Id="R46a05f90587e459e" /><Relationship Type="http://schemas.openxmlformats.org/officeDocument/2006/relationships/slide" Target="/ppt/slides/slide3.xml" Id="R121927b782b646e4" /><Relationship Type="http://schemas.openxmlformats.org/officeDocument/2006/relationships/slide" Target="/ppt/slides/slide4.xml" Id="R10b2a87f48384b76" /><Relationship Type="http://schemas.openxmlformats.org/officeDocument/2006/relationships/slide" Target="/ppt/slides/slide5.xml" Id="Rfd30658455844771" /><Relationship Type="http://schemas.openxmlformats.org/officeDocument/2006/relationships/slide" Target="/ppt/slides/slide6.xml" Id="R9d5463ba7285430e" /><Relationship Type="http://schemas.openxmlformats.org/officeDocument/2006/relationships/slide" Target="/ppt/slides/slide7.xml" Id="Re32322bee73c4bd7" /><Relationship Type="http://schemas.openxmlformats.org/officeDocument/2006/relationships/slide" Target="/ppt/slides/slide8.xml" Id="R3fe32b2337f6485d" /><Relationship Type="http://schemas.openxmlformats.org/officeDocument/2006/relationships/slide" Target="/ppt/slides/slide9.xml" Id="R1ec0da0e097144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80337e04dd4f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2edf1809bd4dfd" /><Relationship Type="http://schemas.openxmlformats.org/officeDocument/2006/relationships/notesMaster" Target="/ppt/notesMasters/notesMaster1.xml" Id="R749d8c07299843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e5b10f89354e2a" /><Relationship Type="http://schemas.openxmlformats.org/officeDocument/2006/relationships/notesMaster" Target="/ppt/notesMasters/notesMaster1.xml" Id="R549d27c0252b45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3dbb01f46949e6" /><Relationship Type="http://schemas.openxmlformats.org/officeDocument/2006/relationships/notesMaster" Target="/ppt/notesMasters/notesMaster1.xml" Id="Rbfacab56dc1e43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cf96c841144a83" /><Relationship Type="http://schemas.openxmlformats.org/officeDocument/2006/relationships/notesMaster" Target="/ppt/notesMasters/notesMaster1.xml" Id="Raa0d5314f4384e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15abd28af4475e" /><Relationship Type="http://schemas.openxmlformats.org/officeDocument/2006/relationships/notesMaster" Target="/ppt/notesMasters/notesMaster1.xml" Id="R7ab5deda956b4b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5d9378c24d4c3a" /><Relationship Type="http://schemas.openxmlformats.org/officeDocument/2006/relationships/notesMaster" Target="/ppt/notesMasters/notesMaster1.xml" Id="R07464c003cbb4b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ed73a0579649d6" /><Relationship Type="http://schemas.openxmlformats.org/officeDocument/2006/relationships/notesMaster" Target="/ppt/notesMasters/notesMaster1.xml" Id="R9693f506051844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cecfbbee794d4f" /><Relationship Type="http://schemas.openxmlformats.org/officeDocument/2006/relationships/notesMaster" Target="/ppt/notesMasters/notesMaster1.xml" Id="Rf08ee3ec4ac746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480a8ccbe24f24" /><Relationship Type="http://schemas.openxmlformats.org/officeDocument/2006/relationships/notesMaster" Target="/ppt/notesMasters/notesMaster1.xml" Id="R9bb5ecd4586d4c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중고등학생에게 댓글을 단순 반응이 아닌 짧은 논증 글로 소개합니다.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매체 자료 비판적 읽기, 논증 타당성 평가, 사회적 쟁점에 대한 견해 쓰기 관련 성취기준을 중고등학생용 표현으로 재구성.</a:t>
            </a:r>
          </a:p>
          <a:p xmlns:a="http://schemas.openxmlformats.org/drawingml/2006/main">
            <a:r>
              <a:t>2022 개정 사회과 교육과정: 미디어 비판적 분석, 사회문제 조사와 시민적 태도 관련 성취기준을 반영.</a:t>
            </a:r>
          </a:p>
          <a:p xmlns:a="http://schemas.openxmlformats.org/drawingml/2006/main">
            <a:r>
              <a:t>Visual asset: original anime-inspired educational illustration generated for this deck; no copyrighted character reference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기사 읽기 단계에서 사실, 쟁점, 영향 대상을 분리하도록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매체 자료 비판적 읽기, 논증 타당성 평가, 사회적 쟁점에 대한 견해 쓰기 관련 성취기준을 중고등학생용 표현으로 재구성.</a:t>
            </a:r>
          </a:p>
          <a:p xmlns:a="http://schemas.openxmlformats.org/drawingml/2006/main">
            <a:r>
              <a:t>2022 개정 사회과 교육과정: 미디어 비판적 분석, 사회문제 조사와 시민적 태도 관련 성취기준을 반영.</a:t>
            </a:r>
          </a:p>
          <a:p xmlns:a="http://schemas.openxmlformats.org/drawingml/2006/main">
            <a:r>
              <a:t>Visual asset: original anime-inspired educational illustration generated for this deck; no copyrighted character reference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댓글 본문을 쓰기 전에 세 줄 메모로 사고를 정리하게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매체 자료 비판적 읽기, 논증 타당성 평가, 사회적 쟁점에 대한 견해 쓰기 관련 성취기준을 중고등학생용 표현으로 재구성.</a:t>
            </a:r>
          </a:p>
          <a:p xmlns:a="http://schemas.openxmlformats.org/drawingml/2006/main">
            <a:r>
              <a:t>2022 개정 사회과 교육과정: 미디어 비판적 분석, 사회문제 조사와 시민적 태도 관련 성취기준을 반영.</a:t>
            </a:r>
          </a:p>
          <a:p xmlns:a="http://schemas.openxmlformats.org/drawingml/2006/main">
            <a:r>
              <a:t>Visual asset: original anime-inspired educational illustration generated for this deck; no copyrighted character reference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근거로 사용할 수 있는 자료와 사용할 수 없는 표현을 대비시킵니다.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매체 자료 비판적 읽기, 논증 타당성 평가, 사회적 쟁점에 대한 견해 쓰기 관련 성취기준을 중고등학생용 표현으로 재구성.</a:t>
            </a:r>
          </a:p>
          <a:p xmlns:a="http://schemas.openxmlformats.org/drawingml/2006/main">
            <a:r>
              <a:t>2022 개정 사회과 교육과정: 미디어 비판적 분석, 사회문제 조사와 시민적 태도 관련 성취기준을 반영.</a:t>
            </a:r>
          </a:p>
          <a:p xmlns:a="http://schemas.openxmlformats.org/drawingml/2006/main">
            <a:r>
              <a:t>Visual asset: original anime-inspired educational illustration generated for this deck; no copyrighted character reference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짧은 댓글이라도 주장, 근거, 태도가 함께 드러나야 함을 강조합니다.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매체 자료 비판적 읽기, 논증 타당성 평가, 사회적 쟁점에 대한 견해 쓰기 관련 성취기준을 중고등학생용 표현으로 재구성.</a:t>
            </a:r>
          </a:p>
          <a:p xmlns:a="http://schemas.openxmlformats.org/drawingml/2006/main">
            <a:r>
              <a:t>2022 개정 사회과 교육과정: 미디어 비판적 분석, 사회문제 조사와 시민적 태도 관련 성취기준을 반영.</a:t>
            </a:r>
          </a:p>
          <a:p xmlns:a="http://schemas.openxmlformats.org/drawingml/2006/main">
            <a:r>
              <a:t>Visual asset: original anime-inspired educational illustration generated for this deck; no copyrighted character reference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학생들이 자신의 댓글을 Before에서 After로 바꾸는 활동을 하도록 안내할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매체 자료 비판적 읽기, 논증 타당성 평가, 사회적 쟁점에 대한 견해 쓰기 관련 성취기준을 중고등학생용 표현으로 재구성.</a:t>
            </a:r>
          </a:p>
          <a:p xmlns:a="http://schemas.openxmlformats.org/drawingml/2006/main">
            <a:r>
              <a:t>2022 개정 사회과 교육과정: 미디어 비판적 분석, 사회문제 조사와 시민적 태도 관련 성취기준을 반영.</a:t>
            </a:r>
          </a:p>
          <a:p xmlns:a="http://schemas.openxmlformats.org/drawingml/2006/main">
            <a:r>
              <a:t>Visual asset: original anime-inspired educational illustration generated for this deck; no copyrighted character reference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중고등학생용 평가 요소를 네 가지 체크포인트로 압축했습니다.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매체 자료 비판적 읽기, 논증 타당성 평가, 사회적 쟁점에 대한 견해 쓰기 관련 성취기준을 중고등학생용 표현으로 재구성.</a:t>
            </a:r>
          </a:p>
          <a:p xmlns:a="http://schemas.openxmlformats.org/drawingml/2006/main">
            <a:r>
              <a:t>2022 개정 사회과 교육과정: 미디어 비판적 분석, 사회문제 조사와 시민적 태도 관련 성취기준을 반영.</a:t>
            </a:r>
          </a:p>
          <a:p xmlns:a="http://schemas.openxmlformats.org/drawingml/2006/main">
            <a:r>
              <a:t>Visual asset: original anime-inspired educational illustration generated for this deck; no copyrighted character reference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제출 전 자기 점검 슬라이드입니다. 실제 LMS나 Notion 체크박스 문항으로 옮길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매체 자료 비판적 읽기, 논증 타당성 평가, 사회적 쟁점에 대한 견해 쓰기 관련 성취기준을 중고등학생용 표현으로 재구성.</a:t>
            </a:r>
          </a:p>
          <a:p xmlns:a="http://schemas.openxmlformats.org/drawingml/2006/main">
            <a:r>
              <a:t>2022 개정 사회과 교육과정: 미디어 비판적 분석, 사회문제 조사와 시민적 태도 관련 성취기준을 반영.</a:t>
            </a:r>
          </a:p>
          <a:p xmlns:a="http://schemas.openxmlformats.org/drawingml/2006/main">
            <a:r>
              <a:t>Visual asset: original anime-inspired educational illustration generated for this deck; no copyrighted character reference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미션을 제시합니다. 학생들이 실제 기사 하나를 골라 댓글을 완성하게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매체 자료 비판적 읽기, 논증 타당성 평가, 사회적 쟁점에 대한 견해 쓰기 관련 성취기준을 중고등학생용 표현으로 재구성.</a:t>
            </a:r>
          </a:p>
          <a:p xmlns:a="http://schemas.openxmlformats.org/drawingml/2006/main">
            <a:r>
              <a:t>2022 개정 사회과 교육과정: 미디어 비판적 분석, 사회문제 조사와 시민적 태도 관련 성취기준을 반영.</a:t>
            </a:r>
          </a:p>
          <a:p xmlns:a="http://schemas.openxmlformats.org/drawingml/2006/main">
            <a:r>
              <a:t>Visual asset: original anime-inspired educational illustration generated for this deck; no copyrighted character reference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9839ae1824e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349edeaccf4a6d" /><Relationship Type="http://schemas.openxmlformats.org/officeDocument/2006/relationships/slideLayout" Target="/ppt/slideLayouts/slideLayout1.xml" Id="R50204dde914542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204dde914542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9110e6f2548f9" /><Relationship Type="http://schemas.openxmlformats.org/officeDocument/2006/relationships/image" Target="/ppt/media/image.png" Id="R77a88bd99529477f" /><Relationship Type="http://schemas.openxmlformats.org/officeDocument/2006/relationships/notesSlide" Target="/ppt/notesSlides/notesSlide1.xml" Id="R9c02e584fc2140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5a50b4bef4898" /><Relationship Type="http://schemas.openxmlformats.org/officeDocument/2006/relationships/notesSlide" Target="/ppt/notesSlides/notesSlide2.xml" Id="R70f25c9f795c43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1c79000444b49" /><Relationship Type="http://schemas.openxmlformats.org/officeDocument/2006/relationships/notesSlide" Target="/ppt/notesSlides/notesSlide3.xml" Id="Rcf85e3bd233248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12c9c89e84107" /><Relationship Type="http://schemas.openxmlformats.org/officeDocument/2006/relationships/notesSlide" Target="/ppt/notesSlides/notesSlide4.xml" Id="R8b7e29c541f842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9fd1761a146d5" /><Relationship Type="http://schemas.openxmlformats.org/officeDocument/2006/relationships/notesSlide" Target="/ppt/notesSlides/notesSlide5.xml" Id="R4b6f90f2ee974f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7b3c82f3746b4" /><Relationship Type="http://schemas.openxmlformats.org/officeDocument/2006/relationships/notesSlide" Target="/ppt/notesSlides/notesSlide6.xml" Id="R5aabf21c144549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7e04970a34221" /><Relationship Type="http://schemas.openxmlformats.org/officeDocument/2006/relationships/notesSlide" Target="/ppt/notesSlides/notesSlide7.xml" Id="Rf7147eecb7e346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2eb89f76c495a" /><Relationship Type="http://schemas.openxmlformats.org/officeDocument/2006/relationships/notesSlide" Target="/ppt/notesSlides/notesSlide8.xml" Id="R46c1f91f87e644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6f226be304ca0" /><Relationship Type="http://schemas.openxmlformats.org/officeDocument/2006/relationships/notesSlide" Target="/ppt/notesSlides/notesSlide9.xml" Id="Re045ec46c9a140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88bd99529477f"/>
          <a:srcRect xmlns:a="http://schemas.openxmlformats.org/drawingml/2006/main" l="1224" t="0" r="12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6A7D3-B150-4225-A8BD-08E240EC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>
              <a:alpha val="86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95CF2-2ED6-4BE1-BAFE-F5184F82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4333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뉴스 댓글,</a:t>
            </a:r>
          </a:p>
          <a:p xmlns:a="http://schemas.openxmlformats.org/drawingml/2006/main">
            <a:pPr>
              <a:defRPr sz="3675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반응 말고 관점으로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8E19B-7584-48E7-A002-900FAE59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읽기 · 팩트체크 · 논증 · 표현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76BF6-6C1B-4064-98BD-B4D83348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오늘의 미션: 기사 속 쟁점을 잡고, 내 주장을 근거 있게 남기기</a:t>
            </a:r>
          </a:p>
        </p:txBody>
      </p:sp>
    </p:spTree>
    <p:extLst>
      <p:ext uri="{BB962C8B-B14F-4D97-AF65-F5344CB8AC3E}">
        <p14:creationId xmlns:p14="http://schemas.microsoft.com/office/powerpoint/2010/main" val="1731970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8A28D-AF6D-49BC-A4F9-BA0C708B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LEVEL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54A3E-E64B-4E36-9138-DB9BABC6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먼저, 기사에서 쟁점을 잡습니다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92A36-0CC4-44A0-B271-1A575E2E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84699-EC7E-449A-A47C-3488FDD5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DE741-BAC1-436C-AD60-BF0AFD45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19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19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7D453-142D-410C-A4B8-10FF980F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81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무슨 일이 일어났나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D5C55-EE3E-49F2-A62D-F4016483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66950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C8FC9-2980-498D-AC14-DB6F627B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19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19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BEC66-7FAA-4DB1-BFCD-391F5346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81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무엇이 논란인가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7DAEC-4BEC-465A-A3EC-8B4839D9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E84B1-F25B-4A3C-8358-6784E8C8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19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19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STAKE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B0D38-EBF3-4695-911A-C8861AC4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81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35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누구에게 영향을 주나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A8D56-2C47-40C4-AAF8-4AE02D49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626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쟁점을 못 잡으면 댓글은 감상문이 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562B4-78FE-4624-928C-831B5F99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4748B"/>
                </a:solidFill>
                <a:latin typeface="Arial"/>
                <a:ea typeface="Arial"/>
                <a:cs typeface="Arial"/>
              </a:rPr>
              <a:t>중고등용 뉴스 댓글 쓰기 | 2</a:t>
            </a:r>
          </a:p>
        </p:txBody>
      </p:sp>
    </p:spTree>
    <p:extLst>
      <p:ext uri="{BB962C8B-B14F-4D97-AF65-F5344CB8AC3E}">
        <p14:creationId xmlns:p14="http://schemas.microsoft.com/office/powerpoint/2010/main" val="7467107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1E636-10F0-48D6-BE19-06F823D7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3C5F3-CEA7-4021-97F1-1B8B5D5C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댓글 쓰기 전, 세 줄 메모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D9949-0235-468C-84E1-5734DAA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B9892-86F2-4824-B52D-63FC98D9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1. 기사 요약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4BDC6-DE46-4408-94AE-B69F2C4D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742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4BD5A-912B-407E-9E64-C6267080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574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이 기사는 ______ 문제를 다룬다.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67E03-B7EB-498F-95D8-64F9BE3E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2. 내 입장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074D5-C435-4C35-92E0-18DE5939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742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2FBCC-C4DA-4C80-9B92-4CF51F33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004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나는 ______ 쪽에 더 가깝다.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815EA-374C-4E36-99E7-6FA9EDAA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3. 근거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4211E-5272-4D84-9111-03449B05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00550"/>
            <a:ext cx="742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40287-88FD-4042-979F-A622D511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434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그 이유는 기사에서 ______ 라고 했기 때문이다.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7B71A-B021-45A8-A39B-FA7DF83F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4748B"/>
                </a:solidFill>
                <a:latin typeface="Arial"/>
                <a:ea typeface="Arial"/>
                <a:cs typeface="Arial"/>
              </a:rPr>
              <a:t>중고등용 뉴스 댓글 쓰기 | 3</a:t>
            </a:r>
          </a:p>
        </p:txBody>
      </p:sp>
    </p:spTree>
    <p:extLst>
      <p:ext uri="{BB962C8B-B14F-4D97-AF65-F5344CB8AC3E}">
        <p14:creationId xmlns:p14="http://schemas.microsoft.com/office/powerpoint/2010/main" val="8404326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109FF-8124-4757-A2C0-C580FB96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LEVEL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C69C4-68C3-4031-BB5D-3D9DF993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근거는 아무 말이나 붙이는 게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BB027-F3B1-4E83-B725-F18636BB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12252-00F4-480B-912E-C8213B14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43125"/>
            <a:ext cx="4476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0E8BC-C4A6-4C84-8327-EF092A8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476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4A0D1-B9A1-4F25-9F12-A13EF3C1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쓸 수 있는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A3642-9D0B-49A9-95EA-47890325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✓ 기사 속 사실</a:t>
            </a:r>
          </a:p>
          <a:p xmlns:a="http://schemas.openxmlformats.org/drawingml/2006/main">
            <a:pPr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✓ 통계·자료</a:t>
            </a:r>
          </a:p>
          <a:p xmlns:a="http://schemas.openxmlformats.org/drawingml/2006/main">
            <a:pPr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✓ 전문가 의견</a:t>
            </a:r>
          </a:p>
          <a:p xmlns:a="http://schemas.openxmlformats.org/drawingml/2006/main">
            <a:pPr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✓ 관련 사례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288E1-F45B-4631-AC2D-55C2E7DE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765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근거처럼 보이지만 약한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5824A-5007-4DE8-940B-6012B48D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× 그냥 느낌</a:t>
            </a:r>
          </a:p>
          <a:p xmlns:a="http://schemas.openxmlformats.org/drawingml/2006/main">
            <a:pPr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× 확인 안 된 소문</a:t>
            </a:r>
          </a:p>
          <a:p xmlns:a="http://schemas.openxmlformats.org/drawingml/2006/main">
            <a:pPr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× 비난과 조롱</a:t>
            </a:r>
          </a:p>
          <a:p xmlns:a="http://schemas.openxmlformats.org/drawingml/2006/main">
            <a:pPr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× 주제와 상관없는 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3FEBA-8ABC-4D60-9EC5-171E6619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좋은 근거는 주장과 바로 연결됩니다.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49790-2627-440E-A4BB-10F1DBA4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4748B"/>
                </a:solidFill>
                <a:latin typeface="Arial"/>
                <a:ea typeface="Arial"/>
                <a:cs typeface="Arial"/>
              </a:rPr>
              <a:t>중고등용 뉴스 댓글 쓰기 | 4</a:t>
            </a:r>
          </a:p>
        </p:txBody>
      </p:sp>
    </p:spTree>
    <p:extLst>
      <p:ext uri="{BB962C8B-B14F-4D97-AF65-F5344CB8AC3E}">
        <p14:creationId xmlns:p14="http://schemas.microsoft.com/office/powerpoint/2010/main" val="11193289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C0B38-F320-41BD-B740-B9CFE860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LEVEL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73CEE-34A6-4936-AB81-77E4115B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한 문장 댓글 공식: 주장 + 근거 + 태도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82D28-3E6E-4B1B-9BDE-16B88231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7A000-666A-440B-8096-0979073F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103632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0E63F-9011-4AF0-ADB2-0E5425E6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14625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919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나는 ______ 라고 본다. 기사에서 ______ 라는 점이 드러났기 때문이다.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87BD5-DC58-41C8-B400-3C730577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주장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CEB19-CB3C-4AE7-B291-2334D9B3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내 입장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44165-4458-4DC2-867B-D85B3904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근거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DF2B3-9590-4312-8E0A-44993213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기사 속 자료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D1377-0459-49C0-A221-480FCB11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태도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7E7A0-5283-4813-8429-3CC2CF39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958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존중하는 표현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6E48C-634E-4357-A4D3-31789D9A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4748B"/>
                </a:solidFill>
                <a:latin typeface="Arial"/>
                <a:ea typeface="Arial"/>
                <a:cs typeface="Arial"/>
              </a:rPr>
              <a:t>중고등용 뉴스 댓글 쓰기 | 5</a:t>
            </a:r>
          </a:p>
        </p:txBody>
      </p:sp>
    </p:spTree>
    <p:extLst>
      <p:ext uri="{BB962C8B-B14F-4D97-AF65-F5344CB8AC3E}">
        <p14:creationId xmlns:p14="http://schemas.microsoft.com/office/powerpoint/2010/main" val="1069383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E8D63-C56E-453C-BD22-65B96D9F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BEFORE / AFTER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AB316-2FE9-426E-8BCC-EF9DA99D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반응 댓글을 관점 댓글로 업그레이드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F037A-BFA0-494F-95DA-BAC10E89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2E4C4-FD8C-48D1-B58C-75D1B8A1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857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33C91-60FE-4D0F-9CCF-2A704AD2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90750"/>
            <a:ext cx="4857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3A0BC-8391-4442-9B04-D1DDC4EB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8942E-BD52-49C8-93E7-330FA57B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이건 진짜 별로다.</a:t>
            </a:r>
          </a:p>
          <a:p xmlns:a="http://schemas.openxmlformats.org/drawingml/2006/main">
            <a:pPr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왜 이런 걸 하는지 모르겠다.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5C4DD-2380-45A6-835F-2E52B985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문제: 쟁점과 근거가 보이지 않음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B11D5-A56D-44C7-BB57-442B0EA8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146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3DD29-15D8-4B5E-B6C9-9E11BF98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6705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나는 이 정책을 단계적으로 시행해야 한다고 본다.</a:t>
            </a:r>
          </a:p>
          <a:p xmlns:a="http://schemas.openxmlformats.org/drawingml/2006/main">
            <a:pPr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기사에서 비용 부담과 이용자 불편이 함께 제기되었기 때문이다.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27D6B-F492-4BEA-91F2-676062A6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48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강점: 주장과 기사 근거가 연결됨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6F22D-A92B-46DB-9982-E1FB8E39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4748B"/>
                </a:solidFill>
                <a:latin typeface="Arial"/>
                <a:ea typeface="Arial"/>
                <a:cs typeface="Arial"/>
              </a:rPr>
              <a:t>중고등용 뉴스 댓글 쓰기 | 6</a:t>
            </a:r>
          </a:p>
        </p:txBody>
      </p:sp>
    </p:spTree>
    <p:extLst>
      <p:ext uri="{BB962C8B-B14F-4D97-AF65-F5344CB8AC3E}">
        <p14:creationId xmlns:p14="http://schemas.microsoft.com/office/powerpoint/2010/main" val="8194188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C8A5A-B64C-4F9D-BE5F-47D91932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RUBRIC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B088B-5FEA-4F64-8063-9BEC5571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평가는 이 네 가지로 결정됩니다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11DAF-96D5-4B18-9252-9B255A7C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F3F6C-037D-4116-BD75-F1795F4B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CEE75-F438-4360-A3DF-FD665141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955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356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쟁점 이해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1FAE4-ACE1-43B5-87DE-32334A20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기사 핵심과 논란 지점을 잡았는가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4FB64-2A56-49A7-9CC4-79610DED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93EA2-1C55-472E-BA89-89DBBD57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33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356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근거 활용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94D66-087B-407D-8EB7-C81C7504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기사 속 사실·자료를 근거로 삼았는가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3F618-DEC7-48B6-9C47-6879958B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7CC32-AF92-458E-9F3D-4B5C82D7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719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356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논리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4505C-A0DC-4D1D-B833-AC7BF70A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909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주장과 이유가 자연스럽게 이어지는가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761A1-E3AA-4C24-A498-49187D68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31318-4D95-454C-8F34-9A197D83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101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356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표현 태도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44FEA-910E-4E92-81C4-F09A14FC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비난 대신 정확하고 존중하는 표현인가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08CCA-FAB4-4BCF-829F-FB6F6B9E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점수는 길이가 아니라 사고의 밀도에서 나옵니다.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EC879-AF15-4C84-84EF-C8C9FFF7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4748B"/>
                </a:solidFill>
                <a:latin typeface="Arial"/>
                <a:ea typeface="Arial"/>
                <a:cs typeface="Arial"/>
              </a:rPr>
              <a:t>중고등용 뉴스 댓글 쓰기 | 7</a:t>
            </a:r>
          </a:p>
        </p:txBody>
      </p:sp>
    </p:spTree>
    <p:extLst>
      <p:ext uri="{BB962C8B-B14F-4D97-AF65-F5344CB8AC3E}">
        <p14:creationId xmlns:p14="http://schemas.microsoft.com/office/powerpoint/2010/main" val="13465264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84A09-5FE8-41FB-8BC7-4CAB0332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FINAL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BAFAE-8F6C-4C2D-8D77-BE5400B6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올리기 전 10초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15E21-B761-467C-B08D-5FD5FF6A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76444-D118-43DD-8148-5692F006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4E069-B287-4149-992E-8FE73D48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193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기사 내용과 다른 말을 사실처럼 쓰지 않았나?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5F2D3-C274-4C93-90B8-7E23EA8E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9D114-5D79-48DE-AFD2-DB1A7FCE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860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내 입장이 한 문장으로 보이나?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3A695-A066-474B-B42B-295A89FF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ADD94-4C81-4FBC-9324-7B95F1D8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528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근거가 주장 바로 뒤에 붙어 있나?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C357C-C211-4055-871E-4F686A8F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DD9A3-28A2-4160-BFFC-C8D9B3EB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195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비난·조롱·단정 표현은 줄였나?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22E8E-2FE4-44DE-93BA-B36435F1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2E6BA-FC18-46E2-A1FD-1D7B5068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863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다른 관점의 사람도 읽을 수 있는 표현인가?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59A12-FCA0-4DE6-874A-8B2055B0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4748B"/>
                </a:solidFill>
                <a:latin typeface="Arial"/>
                <a:ea typeface="Arial"/>
                <a:cs typeface="Arial"/>
              </a:rPr>
              <a:t>중고등용 뉴스 댓글 쓰기 | 8</a:t>
            </a:r>
          </a:p>
        </p:txBody>
      </p:sp>
    </p:spTree>
    <p:extLst>
      <p:ext uri="{BB962C8B-B14F-4D97-AF65-F5344CB8AC3E}">
        <p14:creationId xmlns:p14="http://schemas.microsoft.com/office/powerpoint/2010/main" val="14964941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25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DCC7F-EC9A-471E-ABE1-C9F03B14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620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오늘의 최종 미션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594FB-3333-4DF2-90E6-9C2E21BE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반응을 남기지 말고,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관점을 남기자.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8C722-4133-4646-82DD-50A1AC4B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933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E0024-93D5-4276-AC6A-BB09F087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957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기사 1개 선택 → 쟁점 1개 찾기 → 주장 1문장 → 근거 1개 → 댓글 완성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B7CA3-5958-4DA8-86F7-614FF742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좋은 댓글은 내 생각을 더 선명하게 보여주는 작은 비평입니다.</a:t>
            </a:r>
          </a:p>
        </p:txBody>
      </p:sp>
    </p:spTree>
    <p:extLst>
      <p:ext uri="{BB962C8B-B14F-4D97-AF65-F5344CB8AC3E}">
        <p14:creationId xmlns:p14="http://schemas.microsoft.com/office/powerpoint/2010/main" val="1582309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2026-08-20T22:39:37.4590000Z</dcterms:created>
  <dcterms:modified xsi:type="dcterms:W3CDTF">2026-08-20T22:39:37.4590000Z</dcterms:modified>
</coreProperties>
</file>